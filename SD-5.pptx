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Raleway"/>
      <p:regular r:id="rId41"/>
      <p:bold r:id="rId42"/>
      <p:italic r:id="rId43"/>
      <p:boldItalic r:id="rId44"/>
    </p:embeddedFont>
    <p:embeddedFont>
      <p:font typeface="La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9" roundtripDataSignature="AMtx7mjMxplgMrjvMl+sbZ+tEERP9H6R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2E0BBD-EE60-45B1-9FE5-41F6836EB5AA}">
  <a:tblStyle styleId="{262E0BBD-EE60-45B1-9FE5-41F6836EB5A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font" Target="fonts/Raleway-regular.fntdata"/><Relationship Id="rId42" Type="http://schemas.openxmlformats.org/officeDocument/2006/relationships/font" Target="fonts/Raleway-bold.fntdata"/><Relationship Id="rId43" Type="http://schemas.openxmlformats.org/officeDocument/2006/relationships/font" Target="fonts/Raleway-italic.fntdata"/><Relationship Id="rId44" Type="http://schemas.openxmlformats.org/officeDocument/2006/relationships/font" Target="fonts/Raleway-boldItalic.fntdata"/><Relationship Id="rId45" Type="http://schemas.openxmlformats.org/officeDocument/2006/relationships/font" Target="fonts/Lato-regular.fntdata"/><Relationship Id="rId46" Type="http://schemas.openxmlformats.org/officeDocument/2006/relationships/font" Target="fonts/Lato-bold.fntdata"/><Relationship Id="rId47" Type="http://schemas.openxmlformats.org/officeDocument/2006/relationships/font" Target="fonts/Lato-italic.fntdata"/><Relationship Id="rId48" Type="http://schemas.openxmlformats.org/officeDocument/2006/relationships/font" Target="fonts/Lato-boldItalic.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ccf8c6441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9ccf8c6441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ab28b571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aab28b571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8e3b8d10d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98e3b8d10d_4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71b2c4d25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71b2c4d255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1b2c4d255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71b2c4d255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77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770"/>
              <a:buFont typeface="Arial"/>
              <a:buNone/>
            </a:pPr>
            <a:r>
              <a:rPr lang="ja" sz="1600">
                <a:solidFill>
                  <a:schemeClr val="dk1"/>
                </a:solidFill>
              </a:rPr>
              <a:t>　</a:t>
            </a:r>
            <a:endParaRPr sz="16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1b2c4d255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71b2c4d255_2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8e3b8d10d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98e3b8d10d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dcb7c9b5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6dcb7c9b5f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ded9f09c7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8ded9f09c7_2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4f1a9a3d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94f1a9a3dc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b037d6f7e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39b037d6f7e_4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5e11747a1_3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85e11747a1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ab28b571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aab28b5710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a6b16614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aa6b16614f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85f7ff001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385f7ff001b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ab28b5710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aab28b5710_1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ab28b5710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aab28b5710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8e3b8d10d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398e3b8d10d_3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98e3b8d10d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98e3b8d10d_1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98e3b8d10d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398e3b8d10d_1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8f931dcef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3a8f931dcef_2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8f931dcef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a8f931dcef_2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93dd1a1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a93dd1a12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42b4b55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42b4b55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e1ca26884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ae1ca26884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98e3b8d10d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398e3b8d10d_3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6f8e1de706_4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6f8e1de706_4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a8f931dce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3a8f931dcef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e7dff236a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3ae7dff236a_3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a9844eb2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g3a9844eb2a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ae7dff236a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3ae7dff236a_3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e7dff236a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3ae7dff236a_3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ae7dff236a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3ae7dff236a_3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g3739facb878_0_9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g3739facb878_0_94"/>
          <p:cNvGrpSpPr/>
          <p:nvPr/>
        </p:nvGrpSpPr>
        <p:grpSpPr>
          <a:xfrm>
            <a:off x="830392" y="1191256"/>
            <a:ext cx="745763" cy="45826"/>
            <a:chOff x="4580561" y="2589004"/>
            <a:chExt cx="1064464" cy="25200"/>
          </a:xfrm>
        </p:grpSpPr>
        <p:sp>
          <p:nvSpPr>
            <p:cNvPr id="12" name="Google Shape;12;g3739facb878_0_9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3739facb878_0_9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g3739facb878_0_94"/>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g3739facb878_0_94"/>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g3739facb878_0_9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g3739facb878_0_1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g3739facb878_0_116"/>
          <p:cNvGrpSpPr/>
          <p:nvPr/>
        </p:nvGrpSpPr>
        <p:grpSpPr>
          <a:xfrm>
            <a:off x="830392" y="1191256"/>
            <a:ext cx="745763" cy="45826"/>
            <a:chOff x="4580561" y="2589004"/>
            <a:chExt cx="1064464" cy="25200"/>
          </a:xfrm>
        </p:grpSpPr>
        <p:sp>
          <p:nvSpPr>
            <p:cNvPr id="20" name="Google Shape;20;g3739facb878_0_1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g3739facb878_0_1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g3739facb878_0_116"/>
          <p:cNvSpPr txBox="1"/>
          <p:nvPr>
            <p:ph type="title"/>
          </p:nvPr>
        </p:nvSpPr>
        <p:spPr>
          <a:xfrm>
            <a:off x="729450" y="1318650"/>
            <a:ext cx="37743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g3739facb878_0_116"/>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g3739facb878_0_116"/>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 name="Google Shape;25;g3739facb878_0_1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grpSp>
        <p:nvGrpSpPr>
          <p:cNvPr id="26" name="Google Shape;26;g3739facb878_0_116"/>
          <p:cNvGrpSpPr/>
          <p:nvPr/>
        </p:nvGrpSpPr>
        <p:grpSpPr>
          <a:xfrm>
            <a:off x="4744542" y="1191256"/>
            <a:ext cx="745763" cy="45826"/>
            <a:chOff x="4580561" y="2589004"/>
            <a:chExt cx="1064464" cy="25200"/>
          </a:xfrm>
        </p:grpSpPr>
        <p:sp>
          <p:nvSpPr>
            <p:cNvPr id="27" name="Google Shape;27;g3739facb878_0_1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g3739facb878_0_1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g3739facb878_0_116"/>
          <p:cNvSpPr txBox="1"/>
          <p:nvPr>
            <p:ph idx="3" type="title"/>
          </p:nvPr>
        </p:nvSpPr>
        <p:spPr>
          <a:xfrm>
            <a:off x="4643600" y="1318650"/>
            <a:ext cx="37743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g3739facb878_0_10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 name="Google Shape;32;g3739facb878_0_108"/>
          <p:cNvGrpSpPr/>
          <p:nvPr/>
        </p:nvGrpSpPr>
        <p:grpSpPr>
          <a:xfrm>
            <a:off x="830392" y="1191256"/>
            <a:ext cx="745763" cy="45826"/>
            <a:chOff x="4580561" y="2589004"/>
            <a:chExt cx="1064464" cy="25200"/>
          </a:xfrm>
        </p:grpSpPr>
        <p:sp>
          <p:nvSpPr>
            <p:cNvPr id="33" name="Google Shape;33;g3739facb878_0_10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g3739facb878_0_10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 name="Google Shape;35;g3739facb878_0_10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6" name="Google Shape;36;g3739facb878_0_10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7" name="Google Shape;37;g3739facb878_0_10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g3739facb878_0_155"/>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40" name="Google Shape;40;g3739facb878_0_1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1" name="Shape 41"/>
        <p:cNvGrpSpPr/>
        <p:nvPr/>
      </p:nvGrpSpPr>
      <p:grpSpPr>
        <a:xfrm>
          <a:off x="0" y="0"/>
          <a:ext cx="0" cy="0"/>
          <a:chOff x="0" y="0"/>
          <a:chExt cx="0" cy="0"/>
        </a:xfrm>
      </p:grpSpPr>
      <p:grpSp>
        <p:nvGrpSpPr>
          <p:cNvPr id="42" name="Google Shape;42;g3739facb878_0_102"/>
          <p:cNvGrpSpPr/>
          <p:nvPr/>
        </p:nvGrpSpPr>
        <p:grpSpPr>
          <a:xfrm>
            <a:off x="830392" y="1191256"/>
            <a:ext cx="745763" cy="45826"/>
            <a:chOff x="4580561" y="2589004"/>
            <a:chExt cx="1064464" cy="25200"/>
          </a:xfrm>
        </p:grpSpPr>
        <p:sp>
          <p:nvSpPr>
            <p:cNvPr id="43" name="Google Shape;43;g3739facb878_0_10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g3739facb878_0_10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g3739facb878_0_102"/>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46" name="Google Shape;46;g3739facb878_0_10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g3739facb878_0_12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g3739facb878_0_125"/>
          <p:cNvGrpSpPr/>
          <p:nvPr/>
        </p:nvGrpSpPr>
        <p:grpSpPr>
          <a:xfrm>
            <a:off x="830392" y="1191256"/>
            <a:ext cx="745763" cy="45826"/>
            <a:chOff x="4580561" y="2589004"/>
            <a:chExt cx="1064464" cy="25200"/>
          </a:xfrm>
        </p:grpSpPr>
        <p:sp>
          <p:nvSpPr>
            <p:cNvPr id="50" name="Google Shape;50;g3739facb878_0_12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3739facb878_0_12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g3739facb878_0_12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g3739facb878_0_1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 name="Shape 54"/>
        <p:cNvGrpSpPr/>
        <p:nvPr/>
      </p:nvGrpSpPr>
      <p:grpSpPr>
        <a:xfrm>
          <a:off x="0" y="0"/>
          <a:ext cx="0" cy="0"/>
          <a:chOff x="0" y="0"/>
          <a:chExt cx="0" cy="0"/>
        </a:xfrm>
      </p:grpSpPr>
      <p:sp>
        <p:nvSpPr>
          <p:cNvPr id="55" name="Google Shape;55;g3739facb878_0_13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 name="Google Shape;56;g3739facb878_0_132"/>
          <p:cNvGrpSpPr/>
          <p:nvPr/>
        </p:nvGrpSpPr>
        <p:grpSpPr>
          <a:xfrm>
            <a:off x="830392" y="1191256"/>
            <a:ext cx="745763" cy="45826"/>
            <a:chOff x="4580561" y="2589004"/>
            <a:chExt cx="1064464" cy="25200"/>
          </a:xfrm>
        </p:grpSpPr>
        <p:sp>
          <p:nvSpPr>
            <p:cNvPr id="57" name="Google Shape;57;g3739facb878_0_13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739facb878_0_13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g3739facb878_0_132"/>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0" name="Google Shape;60;g3739facb878_0_132"/>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1" name="Google Shape;61;g3739facb878_0_1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2" name="Shape 62"/>
        <p:cNvGrpSpPr/>
        <p:nvPr/>
      </p:nvGrpSpPr>
      <p:grpSpPr>
        <a:xfrm>
          <a:off x="0" y="0"/>
          <a:ext cx="0" cy="0"/>
          <a:chOff x="0" y="0"/>
          <a:chExt cx="0" cy="0"/>
        </a:xfrm>
      </p:grpSpPr>
      <p:grpSp>
        <p:nvGrpSpPr>
          <p:cNvPr id="63" name="Google Shape;63;g3739facb878_0_140"/>
          <p:cNvGrpSpPr/>
          <p:nvPr/>
        </p:nvGrpSpPr>
        <p:grpSpPr>
          <a:xfrm>
            <a:off x="830392" y="4169130"/>
            <a:ext cx="745763" cy="45826"/>
            <a:chOff x="4580561" y="2589004"/>
            <a:chExt cx="1064464" cy="25200"/>
          </a:xfrm>
        </p:grpSpPr>
        <p:sp>
          <p:nvSpPr>
            <p:cNvPr id="64" name="Google Shape;64;g3739facb878_0_14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g3739facb878_0_14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g3739facb878_0_140"/>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7" name="Google Shape;67;g3739facb878_0_1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 name="Shape 68"/>
        <p:cNvGrpSpPr/>
        <p:nvPr/>
      </p:nvGrpSpPr>
      <p:grpSpPr>
        <a:xfrm>
          <a:off x="0" y="0"/>
          <a:ext cx="0" cy="0"/>
          <a:chOff x="0" y="0"/>
          <a:chExt cx="0" cy="0"/>
        </a:xfrm>
      </p:grpSpPr>
      <p:sp>
        <p:nvSpPr>
          <p:cNvPr id="69" name="Google Shape;69;g3739facb878_0_146"/>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0" name="Google Shape;70;g3739facb878_0_146"/>
          <p:cNvGrpSpPr/>
          <p:nvPr/>
        </p:nvGrpSpPr>
        <p:grpSpPr>
          <a:xfrm>
            <a:off x="830392" y="1191256"/>
            <a:ext cx="745763" cy="45826"/>
            <a:chOff x="4580561" y="2589004"/>
            <a:chExt cx="1064464" cy="25200"/>
          </a:xfrm>
        </p:grpSpPr>
        <p:sp>
          <p:nvSpPr>
            <p:cNvPr id="71" name="Google Shape;71;g3739facb878_0_14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g3739facb878_0_14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 name="Google Shape;73;g3739facb878_0_146"/>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4" name="Google Shape;74;g3739facb878_0_146"/>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5" name="Google Shape;75;g3739facb878_0_146"/>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6" name="Google Shape;76;g3739facb878_0_1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g3739facb878_0_158"/>
          <p:cNvGrpSpPr/>
          <p:nvPr/>
        </p:nvGrpSpPr>
        <p:grpSpPr>
          <a:xfrm>
            <a:off x="830392" y="4169130"/>
            <a:ext cx="745763" cy="45826"/>
            <a:chOff x="4580561" y="2589004"/>
            <a:chExt cx="1064464" cy="25200"/>
          </a:xfrm>
        </p:grpSpPr>
        <p:sp>
          <p:nvSpPr>
            <p:cNvPr id="79" name="Google Shape;79;g3739facb878_0_15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g3739facb878_0_15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1" name="Google Shape;81;g3739facb878_0_158"/>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2" name="Google Shape;82;g3739facb878_0_158"/>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3" name="Google Shape;83;g3739facb878_0_1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g3739facb878_0_1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g3739facb878_0_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g3739facb878_0_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g3739facb878_0_9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city.chigasaki.kanagawa.jp/_res/projects/default_project/_page_/001/010/988/120312.pdf" TargetMode="External"/><Relationship Id="rId4" Type="http://schemas.openxmlformats.org/officeDocument/2006/relationships/hyperlink" Target="https://www.mhlw.go.jp/file/06-Seisakujouhou-12600000-Seisakutoukatsukan/0000035310.pdf" TargetMode="External"/><Relationship Id="rId5" Type="http://schemas.openxmlformats.org/officeDocument/2006/relationships/hyperlink" Target="https://www.tyojyu.or.jp/kankoubutsu/gyoseki/pdf/h30-5-3.pdf" TargetMode="External"/><Relationship Id="rId6" Type="http://schemas.openxmlformats.org/officeDocument/2006/relationships/hyperlink" Target="https://www.city.chigasaki.kanagawa.jp/_res/projects/default_project/_page_/001/057/442/dai9kikeikaku.pdf" TargetMode="External"/><Relationship Id="rId7" Type="http://schemas.openxmlformats.org/officeDocument/2006/relationships/hyperlink" Target="https://www.mhlw.go.jp/file/06-Seisakujouhou-12600000-Seisakutoukatsukan/0000035310.pdf" TargetMode="External"/><Relationship Id="rId8" Type="http://schemas.openxmlformats.org/officeDocument/2006/relationships/hyperlink" Target="https://www.city.chigasaki.kanagawa.jp/_res/projects/default_project/_page_/001/010/988/120312.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www.city.chigasaki.kanagawa.jp/_res/projects/default_project/_page_/001/010/988/120312.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asc.jp/wp-content/uploads/2014/05/b22f358c9eaab1027fe1769620109c71.pdf" TargetMode="External"/><Relationship Id="rId4" Type="http://schemas.openxmlformats.org/officeDocument/2006/relationships/hyperlink" Target="https://dasc.jp/about" TargetMode="External"/><Relationship Id="rId5" Type="http://schemas.openxmlformats.org/officeDocument/2006/relationships/hyperlink" Target="https://www.mhlw.go.jp/content/12301000/001242315.docx" TargetMode="External"/><Relationship Id="rId6" Type="http://schemas.openxmlformats.org/officeDocument/2006/relationships/hyperlink" Target="https://rehab.cloud/mag/1566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city.hakodate.hokkaido.jp/docs/2014030500056/file_contents/2014030500056_hk_docs_2014030500056_files_4youshiki23-42.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city.hakodate.hokkaido.jp/docs/2020110600011/file_contents/2020110600011_hk_docs_2020110600011_files_ikkatsu.pd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pref.kanagawa.jp/documents/25830/syokisyuutyuujireisyuu.pdf" TargetMode="External"/><Relationship Id="rId4" Type="http://schemas.openxmlformats.org/officeDocument/2006/relationships/hyperlink" Target="https://www.ncgg.go.jp/ncgg-kenkyu/documents/R3_Casestudies2.pdf" TargetMode="External"/><Relationship Id="rId5" Type="http://schemas.openxmlformats.org/officeDocument/2006/relationships/hyperlink" Target="https://www.city.saitama.lg.jp/002/003/003/002/005/p044208_d/fil/jirei-shu.pdf" TargetMode="External"/><Relationship Id="rId6" Type="http://schemas.openxmlformats.org/officeDocument/2006/relationships/hyperlink" Target="https://www.med.osaka-u.ac.jp/pub/psy/news/ea998a7fa25280ed6946db5d03e64df7456bf9ed.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89" name="Shape 89"/>
        <p:cNvGrpSpPr/>
        <p:nvPr/>
      </p:nvGrpSpPr>
      <p:grpSpPr>
        <a:xfrm>
          <a:off x="0" y="0"/>
          <a:ext cx="0" cy="0"/>
          <a:chOff x="0" y="0"/>
          <a:chExt cx="0" cy="0"/>
        </a:xfrm>
      </p:grpSpPr>
      <p:sp>
        <p:nvSpPr>
          <p:cNvPr id="90" name="Google Shape;90;p1"/>
          <p:cNvSpPr txBox="1"/>
          <p:nvPr/>
        </p:nvSpPr>
        <p:spPr>
          <a:xfrm>
            <a:off x="505200" y="3384125"/>
            <a:ext cx="82611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1A1A1A"/>
                </a:solidFill>
                <a:latin typeface="Arial"/>
                <a:ea typeface="Arial"/>
                <a:cs typeface="Arial"/>
                <a:sym typeface="Arial"/>
              </a:rPr>
              <a:t>SD-5：石山広翔　伊藤慧　岩佐圭悟　梅澤暖　砂原虎太朗　高梨元路</a:t>
            </a:r>
            <a:endParaRPr b="0" i="0" sz="20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2"/>
              </a:solidFill>
              <a:latin typeface="Arial"/>
              <a:ea typeface="Arial"/>
              <a:cs typeface="Arial"/>
              <a:sym typeface="Arial"/>
            </a:endParaRPr>
          </a:p>
        </p:txBody>
      </p:sp>
      <p:sp>
        <p:nvSpPr>
          <p:cNvPr id="91" name="Google Shape;91;p1"/>
          <p:cNvSpPr txBox="1"/>
          <p:nvPr/>
        </p:nvSpPr>
        <p:spPr>
          <a:xfrm>
            <a:off x="819000" y="1853075"/>
            <a:ext cx="7506000" cy="80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1" i="0" lang="ja" sz="2500" u="none" cap="none" strike="noStrike">
                <a:solidFill>
                  <a:srgbClr val="1A1A1A"/>
                </a:solidFill>
                <a:latin typeface="Lato"/>
                <a:ea typeface="Lato"/>
                <a:cs typeface="Lato"/>
                <a:sym typeface="Lato"/>
              </a:rPr>
              <a:t>茅ヶ崎市基幹型地域包括支援センター向け</a:t>
            </a:r>
            <a:endParaRPr b="1" i="0" sz="2500" u="none" cap="none" strike="noStrike">
              <a:solidFill>
                <a:srgbClr val="1A1A1A"/>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3600"/>
              <a:buFont typeface="Arial"/>
              <a:buNone/>
            </a:pPr>
            <a:r>
              <a:rPr b="1" i="0" lang="ja" sz="2500" u="none" cap="none" strike="noStrike">
                <a:solidFill>
                  <a:srgbClr val="1A1A1A"/>
                </a:solidFill>
                <a:latin typeface="Lato"/>
                <a:ea typeface="Lato"/>
                <a:cs typeface="Lato"/>
                <a:sym typeface="Lato"/>
              </a:rPr>
              <a:t>認知症初期支援業務管理システム開発プロジェクト</a:t>
            </a:r>
            <a:endParaRPr b="1" i="0" sz="2500" u="none" cap="none" strike="noStrike">
              <a:solidFill>
                <a:srgbClr val="1A1A1A"/>
              </a:solidFill>
              <a:latin typeface="Lato"/>
              <a:ea typeface="Lato"/>
              <a:cs typeface="Lato"/>
              <a:sym typeface="Lato"/>
            </a:endParaRPr>
          </a:p>
        </p:txBody>
      </p:sp>
      <p:sp>
        <p:nvSpPr>
          <p:cNvPr id="92" name="Google Shape;92;p1"/>
          <p:cNvSpPr txBox="1"/>
          <p:nvPr/>
        </p:nvSpPr>
        <p:spPr>
          <a:xfrm>
            <a:off x="8766300" y="4632900"/>
            <a:ext cx="3777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1</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ccf8c6441_4_0"/>
          <p:cNvSpPr txBox="1"/>
          <p:nvPr>
            <p:ph type="title"/>
          </p:nvPr>
        </p:nvSpPr>
        <p:spPr>
          <a:xfrm>
            <a:off x="519350" y="682075"/>
            <a:ext cx="1418400" cy="51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ja" sz="2400"/>
              <a:t>対応状況</a:t>
            </a:r>
            <a:endParaRPr sz="2400"/>
          </a:p>
        </p:txBody>
      </p:sp>
      <p:sp>
        <p:nvSpPr>
          <p:cNvPr id="98" name="Google Shape;98;g39ccf8c6441_4_0"/>
          <p:cNvSpPr txBox="1"/>
          <p:nvPr/>
        </p:nvSpPr>
        <p:spPr>
          <a:xfrm>
            <a:off x="8742300" y="4632900"/>
            <a:ext cx="4017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2</a:t>
            </a:r>
            <a:endParaRPr b="0" i="0" sz="2100" u="none" cap="none" strike="noStrike">
              <a:solidFill>
                <a:schemeClr val="accent1"/>
              </a:solidFill>
              <a:latin typeface="Lato"/>
              <a:ea typeface="Lato"/>
              <a:cs typeface="Lato"/>
              <a:sym typeface="Lato"/>
            </a:endParaRPr>
          </a:p>
        </p:txBody>
      </p:sp>
      <p:sp>
        <p:nvSpPr>
          <p:cNvPr id="99" name="Google Shape;99;g39ccf8c6441_4_0"/>
          <p:cNvSpPr txBox="1"/>
          <p:nvPr/>
        </p:nvSpPr>
        <p:spPr>
          <a:xfrm>
            <a:off x="0" y="1197175"/>
            <a:ext cx="9144000" cy="3782400"/>
          </a:xfrm>
          <a:prstGeom prst="rect">
            <a:avLst/>
          </a:prstGeom>
          <a:noFill/>
          <a:ln>
            <a:noFill/>
          </a:ln>
        </p:spPr>
        <p:txBody>
          <a:bodyPr anchorCtr="0" anchor="t" bIns="91425" lIns="91425" spcFirstLastPara="1" rIns="91425" wrap="square" tIns="91425">
            <a:noAutofit/>
          </a:bodyPr>
          <a:lstStyle/>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目標において，同一入力に対する再現性というのが，入力に対して同じ答えを出すようにするということを指すのであれば，</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それは目標としては，適切ではないと思います</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lang="ja" sz="1100"/>
              <a:t>→目標を改善し対応しました。</a:t>
            </a:r>
            <a:endParaRPr sz="1100"/>
          </a:p>
          <a:p>
            <a:pPr indent="0" lvl="0" marL="914400" marR="0" rtl="0" algn="l">
              <a:lnSpc>
                <a:spcPct val="115000"/>
              </a:lnSpc>
              <a:spcBef>
                <a:spcPts val="0"/>
              </a:spcBef>
              <a:spcAft>
                <a:spcPts val="0"/>
              </a:spcAft>
              <a:buClr>
                <a:srgbClr val="000000"/>
              </a:buClr>
              <a:buSzPts val="1100"/>
              <a:buFont typeface="Arial"/>
              <a:buNone/>
            </a:pPr>
            <a:r>
              <a:t/>
            </a:r>
            <a:endParaRPr sz="1100"/>
          </a:p>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目標の2個目の記載（類似ケース～～）が，何を言いたいのかがよく分かりません</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None/>
            </a:pPr>
            <a:r>
              <a:rPr lang="ja" sz="1100"/>
              <a:t>→目標を改善し対応しました。</a:t>
            </a:r>
            <a:endParaRPr sz="1100"/>
          </a:p>
          <a:p>
            <a:pPr indent="0" lvl="0" marL="914400" marR="0" rtl="0" algn="l">
              <a:lnSpc>
                <a:spcPct val="115000"/>
              </a:lnSpc>
              <a:spcBef>
                <a:spcPts val="0"/>
              </a:spcBef>
              <a:spcAft>
                <a:spcPts val="0"/>
              </a:spcAft>
              <a:buNone/>
            </a:pPr>
            <a:r>
              <a:t/>
            </a:r>
            <a:endParaRPr sz="1100"/>
          </a:p>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目的を見れば，効率性についての数値を出すか，作成された支援方針についての品質の測定かと思います</a:t>
            </a:r>
            <a:endParaRPr b="0" i="0" sz="1100" u="none" cap="none" strike="noStrike">
              <a:solidFill>
                <a:srgbClr val="000000"/>
              </a:solidFill>
              <a:latin typeface="Arial"/>
              <a:ea typeface="Arial"/>
              <a:cs typeface="Arial"/>
              <a:sym typeface="Arial"/>
            </a:endParaRPr>
          </a:p>
          <a:p>
            <a:pPr indent="-298450" lvl="2" marL="13716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良い支援方針とは何か？という点を考えてみましょう</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lang="ja" sz="1100"/>
              <a:t>　　　　　     →支援方針の提案機能ではなく、類似事例の検索機能であるため、類似度に関する目標を定義しました。</a:t>
            </a:r>
            <a:endParaRPr sz="1100"/>
          </a:p>
          <a:p>
            <a:pPr indent="0" lvl="0" marL="0" marR="0" rtl="0" algn="l">
              <a:lnSpc>
                <a:spcPct val="115000"/>
              </a:lnSpc>
              <a:spcBef>
                <a:spcPts val="0"/>
              </a:spcBef>
              <a:spcAft>
                <a:spcPts val="0"/>
              </a:spcAft>
              <a:buClr>
                <a:srgbClr val="000000"/>
              </a:buClr>
              <a:buSzPts val="1100"/>
              <a:buFont typeface="Arial"/>
              <a:buNone/>
            </a:pPr>
            <a:r>
              <a:rPr lang="ja" sz="1100"/>
              <a:t>　　　　　</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システム利用のためのストーリーとして，認定前の高齢者を対象ということだと思いますが，</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実際のシステム利用の流れを具体的に示してください</a:t>
            </a:r>
            <a:endParaRPr b="0" i="0" sz="1100" u="none" cap="none" strike="noStrike">
              <a:solidFill>
                <a:srgbClr val="000000"/>
              </a:solidFill>
              <a:latin typeface="Arial"/>
              <a:ea typeface="Arial"/>
              <a:cs typeface="Arial"/>
              <a:sym typeface="Arial"/>
            </a:endParaRPr>
          </a:p>
          <a:p>
            <a:pPr indent="-298450" lvl="2" marL="13716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何のきっかけで対象者を誰が訪問して，どういったデータを取ることを想定しているのかを具体的に示してください</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lang="ja" sz="1100"/>
              <a:t>                       →p28に記載しました。</a:t>
            </a:r>
            <a:endParaRPr b="0" i="0" sz="1100" u="none" cap="none" strike="noStrike">
              <a:solidFill>
                <a:srgbClr val="000000"/>
              </a:solidFill>
              <a:latin typeface="Arial"/>
              <a:ea typeface="Arial"/>
              <a:cs typeface="Arial"/>
              <a:sym typeface="Arial"/>
            </a:endParaRPr>
          </a:p>
          <a:p>
            <a:pPr indent="-298450" lvl="2" marL="13716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情報の入力まではなんとなく見えるのですが，処理の中身（入力をどのように処理するのか）や</a:t>
            </a:r>
            <a:endParaRPr b="0" i="0" sz="1100" u="none" cap="none" strike="noStrike">
              <a:solidFill>
                <a:srgbClr val="000000"/>
              </a:solidFill>
              <a:latin typeface="Arial"/>
              <a:ea typeface="Arial"/>
              <a:cs typeface="Arial"/>
              <a:sym typeface="Arial"/>
            </a:endParaRPr>
          </a:p>
          <a:p>
            <a:pPr indent="0" lvl="0" marL="1371600" marR="0" rtl="0" algn="l">
              <a:lnSpc>
                <a:spcPct val="115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最終的な出力についてが見えてきませんので，具体的な内容を早期に示してください</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lang="ja" sz="1100"/>
              <a:t>                       →処理の流れ：</a:t>
            </a:r>
            <a:endParaRPr sz="1100"/>
          </a:p>
          <a:p>
            <a:pPr indent="0" lvl="0" marL="914400" marR="0" rtl="0" algn="l">
              <a:lnSpc>
                <a:spcPct val="115000"/>
              </a:lnSpc>
              <a:spcBef>
                <a:spcPts val="0"/>
              </a:spcBef>
              <a:spcAft>
                <a:spcPts val="0"/>
              </a:spcAft>
              <a:buClr>
                <a:srgbClr val="000000"/>
              </a:buClr>
              <a:buSzPts val="1100"/>
              <a:buFont typeface="Arial"/>
              <a:buNone/>
            </a:pPr>
            <a:r>
              <a:rPr lang="ja" sz="1100"/>
              <a:t>   入力テキスト→TF-IDF（文字n-gram 2〜4）→コサイン類似度計算→上位10件の類似事例と支援方針を出力。</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aab28b5710_1_0"/>
          <p:cNvSpPr txBox="1"/>
          <p:nvPr>
            <p:ph type="title"/>
          </p:nvPr>
        </p:nvSpPr>
        <p:spPr>
          <a:xfrm>
            <a:off x="519350" y="682075"/>
            <a:ext cx="1418400" cy="51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ja" sz="2400"/>
              <a:t>対応状況</a:t>
            </a:r>
            <a:endParaRPr sz="2400"/>
          </a:p>
        </p:txBody>
      </p:sp>
      <p:sp>
        <p:nvSpPr>
          <p:cNvPr id="105" name="Google Shape;105;g3aab28b5710_1_0"/>
          <p:cNvSpPr txBox="1"/>
          <p:nvPr/>
        </p:nvSpPr>
        <p:spPr>
          <a:xfrm>
            <a:off x="8758500" y="4635600"/>
            <a:ext cx="385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3</a:t>
            </a:r>
            <a:endParaRPr b="0" i="0" sz="2100" u="none" cap="none" strike="noStrike">
              <a:solidFill>
                <a:schemeClr val="accent1"/>
              </a:solidFill>
              <a:latin typeface="Lato"/>
              <a:ea typeface="Lato"/>
              <a:cs typeface="Lato"/>
              <a:sym typeface="Lato"/>
            </a:endParaRPr>
          </a:p>
        </p:txBody>
      </p:sp>
      <p:sp>
        <p:nvSpPr>
          <p:cNvPr id="106" name="Google Shape;106;g3aab28b5710_1_0"/>
          <p:cNvSpPr txBox="1"/>
          <p:nvPr/>
        </p:nvSpPr>
        <p:spPr>
          <a:xfrm>
            <a:off x="2942050" y="2110150"/>
            <a:ext cx="6219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accent1"/>
              </a:solidFill>
              <a:latin typeface="Lato"/>
              <a:ea typeface="Lato"/>
              <a:cs typeface="Lato"/>
              <a:sym typeface="Lato"/>
            </a:endParaRPr>
          </a:p>
        </p:txBody>
      </p:sp>
      <p:sp>
        <p:nvSpPr>
          <p:cNvPr id="107" name="Google Shape;107;g3aab28b5710_1_0"/>
          <p:cNvSpPr txBox="1"/>
          <p:nvPr/>
        </p:nvSpPr>
        <p:spPr>
          <a:xfrm>
            <a:off x="-8400" y="1843601"/>
            <a:ext cx="9160800" cy="3300000"/>
          </a:xfrm>
          <a:prstGeom prst="rect">
            <a:avLst/>
          </a:prstGeom>
          <a:noFill/>
          <a:ln>
            <a:noFill/>
          </a:ln>
        </p:spPr>
        <p:txBody>
          <a:bodyPr anchorCtr="0" anchor="t" bIns="91425" lIns="91425" spcFirstLastPara="1" rIns="91425" wrap="square" tIns="91425">
            <a:noAutofit/>
          </a:bodyPr>
          <a:lstStyle/>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形態素を利用したTF-IDFという記載がある点から統計的手法によるテキストの意味を把握するようなものかと思いますが，</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None/>
            </a:pPr>
            <a:r>
              <a:rPr b="0" i="0" lang="ja" sz="1100" u="none" cap="none" strike="noStrike">
                <a:solidFill>
                  <a:srgbClr val="000000"/>
                </a:solidFill>
                <a:latin typeface="Arial"/>
                <a:ea typeface="Arial"/>
                <a:cs typeface="Arial"/>
                <a:sym typeface="Arial"/>
              </a:rPr>
              <a:t>高齢者の会話のみで個人レベルで差異が出るほどの細かな違いが判定できそうですか？</a:t>
            </a:r>
            <a:endParaRPr b="0" i="0" sz="1100" u="none" cap="none" strike="noStrike">
              <a:solidFill>
                <a:srgbClr val="000000"/>
              </a:solidFill>
              <a:latin typeface="Arial"/>
              <a:ea typeface="Arial"/>
              <a:cs typeface="Arial"/>
              <a:sym typeface="Arial"/>
            </a:endParaRPr>
          </a:p>
          <a:p>
            <a:pPr indent="-298450" lvl="2" marL="13716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どのあたりの違いなら判定でき，どのあたりは判定できないのかを事例等から分かりやすく</a:t>
            </a:r>
            <a:endParaRPr b="0" i="0" sz="1100" u="none" cap="none" strike="noStrike">
              <a:solidFill>
                <a:srgbClr val="000000"/>
              </a:solidFill>
              <a:latin typeface="Arial"/>
              <a:ea typeface="Arial"/>
              <a:cs typeface="Arial"/>
              <a:sym typeface="Arial"/>
            </a:endParaRPr>
          </a:p>
          <a:p>
            <a:pPr indent="0" lvl="0" marL="1371600" marR="0" rtl="0" algn="l">
              <a:lnSpc>
                <a:spcPct val="115000"/>
              </a:lnSpc>
              <a:spcBef>
                <a:spcPts val="0"/>
              </a:spcBef>
              <a:spcAft>
                <a:spcPts val="0"/>
              </a:spcAft>
              <a:buNone/>
            </a:pPr>
            <a:r>
              <a:rPr b="0" i="0" lang="ja" sz="1100" u="none" cap="none" strike="noStrike">
                <a:solidFill>
                  <a:srgbClr val="000000"/>
                </a:solidFill>
                <a:latin typeface="Arial"/>
                <a:ea typeface="Arial"/>
                <a:cs typeface="Arial"/>
                <a:sym typeface="Arial"/>
              </a:rPr>
              <a:t>説明できるようにしてください</a:t>
            </a:r>
            <a:endParaRPr sz="1100"/>
          </a:p>
          <a:p>
            <a:pPr indent="0" lvl="0" marL="0" marR="0" rtl="0" algn="l">
              <a:lnSpc>
                <a:spcPct val="115000"/>
              </a:lnSpc>
              <a:spcBef>
                <a:spcPts val="0"/>
              </a:spcBef>
              <a:spcAft>
                <a:spcPts val="0"/>
              </a:spcAft>
              <a:buNone/>
            </a:pPr>
            <a:r>
              <a:rPr lang="ja" sz="1100"/>
              <a:t>                        →判定しやすい点：キーワードレベルで明確に書かれている症状（妄想、徘徊等）、生活状況（独居、老老介護等</a:t>
            </a:r>
            <a:r>
              <a:rPr lang="ja" sz="1100"/>
              <a:t>）</a:t>
            </a:r>
            <a:br>
              <a:rPr lang="ja" sz="1100"/>
            </a:br>
            <a:r>
              <a:rPr lang="ja" sz="1100"/>
              <a:t>　		    </a:t>
            </a:r>
            <a:r>
              <a:rPr lang="ja" sz="1100"/>
              <a:t>判定しにくい点：心理的ニュアンス、文脈に依存する意味、暗黙の前提</a:t>
            </a:r>
            <a:br>
              <a:rPr lang="ja" sz="1100"/>
            </a:br>
            <a:r>
              <a:rPr lang="ja" sz="1100"/>
              <a:t>　 		    TF-IDF＋コサイン類似度は「単語の出現パターンの類似性」を測るため、明示的なキーワードの一致に強い。</a:t>
            </a:r>
            <a:endParaRPr sz="1100"/>
          </a:p>
          <a:p>
            <a:pPr indent="0" lvl="0" marL="13716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提示されている事例集のみでは学習量は少ないように思いますが，それでどの程度の判定ができるのかを確認してください</a:t>
            </a:r>
            <a:endParaRPr b="0" i="0" sz="1100" u="none" cap="none" strike="noStrike">
              <a:solidFill>
                <a:srgbClr val="000000"/>
              </a:solidFill>
              <a:latin typeface="Arial"/>
              <a:ea typeface="Arial"/>
              <a:cs typeface="Arial"/>
              <a:sym typeface="Arial"/>
            </a:endParaRPr>
          </a:p>
          <a:p>
            <a:pPr indent="-298450" lvl="2" marL="13716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実際に動かした上で，精度の見込みを示してください</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2" marL="13716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TF-IDFの場合は，パラメータの計算のために，どのように文章等を分割するのかという点も示してください</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lang="ja" sz="1100"/>
              <a:t>		→文字n-gram（2〜4文字）を使用。各事例の「訪問記録」「認知機能」「精神症状」</a:t>
            </a:r>
            <a:endParaRPr sz="1100"/>
          </a:p>
          <a:p>
            <a:pPr indent="0" lvl="0" marL="0" marR="0" rtl="0" algn="l">
              <a:lnSpc>
                <a:spcPct val="115000"/>
              </a:lnSpc>
              <a:spcBef>
                <a:spcPts val="0"/>
              </a:spcBef>
              <a:spcAft>
                <a:spcPts val="0"/>
              </a:spcAft>
              <a:buNone/>
            </a:pPr>
            <a:r>
              <a:rPr lang="ja" sz="1100"/>
              <a:t>　　　　　　　「身体状況」「生活状況」「本人/介護者の</a:t>
            </a:r>
            <a:r>
              <a:rPr lang="ja" sz="1100"/>
              <a:t>意向」</a:t>
            </a:r>
            <a:r>
              <a:rPr lang="ja" sz="1100"/>
              <a:t>「判断・支援内容」を結合し、1つの文書として扱います。</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98e3b8d10d_4_11"/>
          <p:cNvSpPr txBox="1"/>
          <p:nvPr>
            <p:ph type="title"/>
          </p:nvPr>
        </p:nvSpPr>
        <p:spPr>
          <a:xfrm>
            <a:off x="519350" y="682075"/>
            <a:ext cx="1418400" cy="51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ja" sz="2400"/>
              <a:t>対応状況</a:t>
            </a:r>
            <a:endParaRPr sz="2400"/>
          </a:p>
        </p:txBody>
      </p:sp>
      <p:sp>
        <p:nvSpPr>
          <p:cNvPr id="113" name="Google Shape;113;g398e3b8d10d_4_11"/>
          <p:cNvSpPr txBox="1"/>
          <p:nvPr/>
        </p:nvSpPr>
        <p:spPr>
          <a:xfrm>
            <a:off x="8766300" y="4632900"/>
            <a:ext cx="4017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4</a:t>
            </a:r>
            <a:endParaRPr b="0" i="0" sz="2100" u="none" cap="none" strike="noStrike">
              <a:solidFill>
                <a:schemeClr val="accent1"/>
              </a:solidFill>
              <a:latin typeface="Lato"/>
              <a:ea typeface="Lato"/>
              <a:cs typeface="Lato"/>
              <a:sym typeface="Lato"/>
            </a:endParaRPr>
          </a:p>
        </p:txBody>
      </p:sp>
      <p:sp>
        <p:nvSpPr>
          <p:cNvPr id="114" name="Google Shape;114;g398e3b8d10d_4_11"/>
          <p:cNvSpPr txBox="1"/>
          <p:nvPr/>
        </p:nvSpPr>
        <p:spPr>
          <a:xfrm>
            <a:off x="0" y="1389050"/>
            <a:ext cx="9144000" cy="3274800"/>
          </a:xfrm>
          <a:prstGeom prst="rect">
            <a:avLst/>
          </a:prstGeom>
          <a:noFill/>
          <a:ln>
            <a:noFill/>
          </a:ln>
        </p:spPr>
        <p:txBody>
          <a:bodyPr anchorCtr="0" anchor="t" bIns="91425" lIns="91425" spcFirstLastPara="1" rIns="91425" wrap="square" tIns="91425">
            <a:spAutoFit/>
          </a:bodyPr>
          <a:lstStyle/>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学習データの出典をそのまま記載するのではなく、元データをどのように加工し、</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どのように学習しているかがわかるように説明してください。</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lang="ja" sz="1100"/>
              <a:t>→データ加工の流れ：</a:t>
            </a:r>
            <a:endParaRPr sz="1100"/>
          </a:p>
          <a:p>
            <a:pPr indent="0" lvl="0" marL="914400" marR="0" rtl="0" algn="l">
              <a:lnSpc>
                <a:spcPct val="115000"/>
              </a:lnSpc>
              <a:spcBef>
                <a:spcPts val="0"/>
              </a:spcBef>
              <a:spcAft>
                <a:spcPts val="0"/>
              </a:spcAft>
              <a:buClr>
                <a:srgbClr val="000000"/>
              </a:buClr>
              <a:buSzPts val="1100"/>
              <a:buFont typeface="Arial"/>
              <a:buNone/>
            </a:pPr>
            <a:r>
              <a:rPr lang="ja" sz="1100"/>
              <a:t>　PDF事例集→pdfplumberでテキスト抽出→正規表現で困難キーワード・支援キーワード</a:t>
            </a:r>
            <a:r>
              <a:rPr lang="ja" sz="1100"/>
              <a:t>・</a:t>
            </a:r>
            <a:r>
              <a:rPr lang="ja" sz="1100"/>
              <a:t>事例内容を抽出→</a:t>
            </a:r>
            <a:endParaRPr sz="1100"/>
          </a:p>
          <a:p>
            <a:pPr indent="0" lvl="0" marL="914400" marR="0" rtl="0" algn="l">
              <a:lnSpc>
                <a:spcPct val="115000"/>
              </a:lnSpc>
              <a:spcBef>
                <a:spcPts val="0"/>
              </a:spcBef>
              <a:spcAft>
                <a:spcPts val="0"/>
              </a:spcAft>
              <a:buClr>
                <a:srgbClr val="000000"/>
              </a:buClr>
              <a:buSzPts val="1100"/>
              <a:buFont typeface="Arial"/>
              <a:buNone/>
            </a:pPr>
            <a:r>
              <a:rPr lang="ja" sz="1100"/>
              <a:t>　JSON形式に構造化→TF-IDF（文字n-gram 2〜4）でベクトル化→類似検索用に使用。</a:t>
            </a:r>
            <a:endParaRPr sz="1100"/>
          </a:p>
          <a:p>
            <a:pPr indent="0" lvl="0" marL="914400" marR="0" rtl="0" algn="l">
              <a:lnSpc>
                <a:spcPct val="115000"/>
              </a:lnSpc>
              <a:spcBef>
                <a:spcPts val="0"/>
              </a:spcBef>
              <a:spcAft>
                <a:spcPts val="0"/>
              </a:spcAft>
              <a:buClr>
                <a:srgbClr val="000000"/>
              </a:buClr>
              <a:buSzPts val="1100"/>
              <a:buFont typeface="Arial"/>
              <a:buNone/>
            </a:pPr>
            <a:r>
              <a:t/>
            </a:r>
            <a:endParaRPr sz="1100"/>
          </a:p>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機能を開発した後、目標に対する評価を実施したスライドを含めてください。</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lang="ja" sz="1100"/>
              <a:t>→現状では事例数が少なく、類似度80%を超えるケースが少ない状態にある</a:t>
            </a:r>
            <a:r>
              <a:rPr lang="ja" sz="1100"/>
              <a:t>。これ公開されている事例が</a:t>
            </a:r>
            <a:endParaRPr sz="1100"/>
          </a:p>
          <a:p>
            <a:pPr indent="0" lvl="0" marL="914400" marR="0" rtl="0" algn="l">
              <a:lnSpc>
                <a:spcPct val="115000"/>
              </a:lnSpc>
              <a:spcBef>
                <a:spcPts val="0"/>
              </a:spcBef>
              <a:spcAft>
                <a:spcPts val="0"/>
              </a:spcAft>
              <a:buClr>
                <a:srgbClr val="000000"/>
              </a:buClr>
              <a:buSzPts val="1100"/>
              <a:buFont typeface="Arial"/>
              <a:buNone/>
            </a:pPr>
            <a:r>
              <a:t/>
            </a:r>
            <a:endParaRPr sz="1100"/>
          </a:p>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目標に関して、目的を達成するための、技術要素に関する内容を含めてください。</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lang="ja" sz="1100"/>
              <a:t>→scikit-learn TF-IDF（類似検索）、Flask（Webアプリ）、MySQL（データ管理）、</a:t>
            </a:r>
            <a:endParaRPr sz="1100"/>
          </a:p>
          <a:p>
            <a:pPr indent="0" lvl="0" marL="914400" marR="0" rtl="0" algn="l">
              <a:lnSpc>
                <a:spcPct val="115000"/>
              </a:lnSpc>
              <a:spcBef>
                <a:spcPts val="0"/>
              </a:spcBef>
              <a:spcAft>
                <a:spcPts val="0"/>
              </a:spcAft>
              <a:buClr>
                <a:srgbClr val="000000"/>
              </a:buClr>
              <a:buSzPts val="1100"/>
              <a:buFont typeface="Arial"/>
              <a:buNone/>
            </a:pPr>
            <a:r>
              <a:rPr lang="ja" sz="1100"/>
              <a:t>　pdfplumber（PDF解析）、openpyxl（Excel出力）。(P.23)</a:t>
            </a:r>
            <a:endParaRPr sz="1100"/>
          </a:p>
          <a:p>
            <a:pPr indent="0" lvl="0" marL="914400" marR="0" rtl="0" algn="l">
              <a:lnSpc>
                <a:spcPct val="115000"/>
              </a:lnSpc>
              <a:spcBef>
                <a:spcPts val="0"/>
              </a:spcBef>
              <a:spcAft>
                <a:spcPts val="0"/>
              </a:spcAft>
              <a:buClr>
                <a:srgbClr val="000000"/>
              </a:buClr>
              <a:buSzPts val="1100"/>
              <a:buFont typeface="Arial"/>
              <a:buNone/>
            </a:pPr>
            <a:r>
              <a:t/>
            </a:r>
            <a:endParaRPr sz="1100"/>
          </a:p>
          <a:p>
            <a:pPr indent="-298450" lvl="1" marL="914400" marR="0" rtl="0" algn="l">
              <a:lnSpc>
                <a:spcPct val="115000"/>
              </a:lnSpc>
              <a:spcBef>
                <a:spcPts val="0"/>
              </a:spcBef>
              <a:spcAft>
                <a:spcPts val="0"/>
              </a:spcAft>
              <a:buClr>
                <a:srgbClr val="000000"/>
              </a:buClr>
              <a:buSzPts val="1100"/>
              <a:buFont typeface="Arial"/>
              <a:buChar char="○"/>
            </a:pPr>
            <a:r>
              <a:rPr b="0" i="0" lang="ja" sz="1100" u="none" cap="none" strike="noStrike">
                <a:solidFill>
                  <a:srgbClr val="000000"/>
                </a:solidFill>
                <a:latin typeface="Arial"/>
                <a:ea typeface="Arial"/>
                <a:cs typeface="Arial"/>
                <a:sym typeface="Arial"/>
              </a:rPr>
              <a:t>実際のデータを用いて、テキストマイニングの入力データ、処理内容、</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出力データの一連の流れを説明するスライドを追加してください。そのうえで、デモ等で開発状況を示してください。</a:t>
            </a:r>
            <a:endParaRPr b="0" i="0" sz="1100" u="none" cap="none" strike="noStrike">
              <a:solidFill>
                <a:srgbClr val="00000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100"/>
              <a:buFont typeface="Arial"/>
              <a:buNone/>
            </a:pPr>
            <a:r>
              <a:rPr lang="ja" sz="1100"/>
              <a:t>→P.21で入出力例を示しています。動作デモは共有フォルダにアップロードしました。</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71b2c4d255_2_0"/>
          <p:cNvSpPr txBox="1"/>
          <p:nvPr/>
        </p:nvSpPr>
        <p:spPr>
          <a:xfrm>
            <a:off x="4341150" y="1877413"/>
            <a:ext cx="45765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300"/>
              <a:buFont typeface="Arial"/>
              <a:buNone/>
            </a:pPr>
            <a:r>
              <a:rPr b="0" i="0" lang="ja" sz="1000" u="none" cap="none" strike="noStrike">
                <a:solidFill>
                  <a:srgbClr val="000000"/>
                </a:solidFill>
                <a:latin typeface="Arial"/>
                <a:ea typeface="Arial"/>
                <a:cs typeface="Arial"/>
                <a:sym typeface="Arial"/>
              </a:rPr>
              <a:t>第9期茅ヶ崎市高齢者福祉計画・介護保険事業計画にて、認知症の早期発見と認知症高齢者を支える体制作りを目指して支援体制作りを行うことが明記されており、それに向けた取り組みとして「認知症初期集中支援推進事業</a:t>
            </a:r>
            <a:r>
              <a:rPr lang="ja" sz="1000"/>
              <a:t>」</a:t>
            </a:r>
            <a:r>
              <a:rPr b="0" i="0" lang="ja" sz="1000" u="none" cap="none" strike="noStrike">
                <a:solidFill>
                  <a:srgbClr val="000000"/>
                </a:solidFill>
                <a:latin typeface="Arial"/>
                <a:ea typeface="Arial"/>
                <a:cs typeface="Arial"/>
                <a:sym typeface="Arial"/>
              </a:rPr>
              <a:t>が実施されている。</a:t>
            </a:r>
            <a:endParaRPr b="0" i="0" sz="1000" u="none" cap="none" strike="noStrike">
              <a:solidFill>
                <a:srgbClr val="1A1A1A"/>
              </a:solidFill>
              <a:latin typeface="Lato"/>
              <a:ea typeface="Lato"/>
              <a:cs typeface="Lato"/>
              <a:sym typeface="Lato"/>
            </a:endParaRPr>
          </a:p>
        </p:txBody>
      </p:sp>
      <p:sp>
        <p:nvSpPr>
          <p:cNvPr id="120" name="Google Shape;120;g371b2c4d255_2_0"/>
          <p:cNvSpPr txBox="1"/>
          <p:nvPr>
            <p:ph type="title"/>
          </p:nvPr>
        </p:nvSpPr>
        <p:spPr>
          <a:xfrm>
            <a:off x="4688775" y="728300"/>
            <a:ext cx="933600" cy="42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891"/>
              <a:buNone/>
            </a:pPr>
            <a:r>
              <a:rPr lang="ja" sz="2336"/>
              <a:t>背景</a:t>
            </a:r>
            <a:endParaRPr sz="2336"/>
          </a:p>
        </p:txBody>
      </p:sp>
      <p:sp>
        <p:nvSpPr>
          <p:cNvPr id="121" name="Google Shape;121;g371b2c4d255_2_0"/>
          <p:cNvSpPr txBox="1"/>
          <p:nvPr>
            <p:ph idx="2" type="body"/>
          </p:nvPr>
        </p:nvSpPr>
        <p:spPr>
          <a:xfrm>
            <a:off x="191400" y="1274700"/>
            <a:ext cx="3774300" cy="4230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ctr">
              <a:lnSpc>
                <a:spcPct val="115000"/>
              </a:lnSpc>
              <a:spcBef>
                <a:spcPts val="1200"/>
              </a:spcBef>
              <a:spcAft>
                <a:spcPts val="0"/>
              </a:spcAft>
              <a:buSzPct val="50429"/>
              <a:buNone/>
            </a:pPr>
            <a:r>
              <a:rPr b="1" lang="ja" sz="6443" u="sng">
                <a:solidFill>
                  <a:schemeClr val="dk2"/>
                </a:solidFill>
              </a:rPr>
              <a:t>茅ヶ崎市 基幹型地域包括支援センター</a:t>
            </a:r>
            <a:endParaRPr sz="5743" u="sng">
              <a:solidFill>
                <a:schemeClr val="dk2"/>
              </a:solidFill>
            </a:endParaRPr>
          </a:p>
          <a:p>
            <a:pPr indent="0" lvl="0" marL="0" rtl="0" algn="l">
              <a:lnSpc>
                <a:spcPct val="115000"/>
              </a:lnSpc>
              <a:spcBef>
                <a:spcPts val="0"/>
              </a:spcBef>
              <a:spcAft>
                <a:spcPts val="1200"/>
              </a:spcAft>
              <a:buSzPct val="250000"/>
              <a:buNone/>
            </a:pPr>
            <a:r>
              <a:t/>
            </a:r>
            <a:endParaRPr u="sng"/>
          </a:p>
        </p:txBody>
      </p:sp>
      <p:sp>
        <p:nvSpPr>
          <p:cNvPr id="122" name="Google Shape;122;g371b2c4d255_2_0"/>
          <p:cNvSpPr txBox="1"/>
          <p:nvPr>
            <p:ph idx="3" type="title"/>
          </p:nvPr>
        </p:nvSpPr>
        <p:spPr>
          <a:xfrm>
            <a:off x="234575" y="728300"/>
            <a:ext cx="2076300" cy="42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ja" sz="2340"/>
              <a:t>クライアント</a:t>
            </a:r>
            <a:endParaRPr sz="2340"/>
          </a:p>
        </p:txBody>
      </p:sp>
      <p:sp>
        <p:nvSpPr>
          <p:cNvPr id="123" name="Google Shape;123;g371b2c4d255_2_0"/>
          <p:cNvSpPr txBox="1"/>
          <p:nvPr/>
        </p:nvSpPr>
        <p:spPr>
          <a:xfrm>
            <a:off x="521400" y="3492175"/>
            <a:ext cx="33876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50000"/>
              </a:lnSpc>
              <a:spcBef>
                <a:spcPts val="1200"/>
              </a:spcBef>
              <a:spcAft>
                <a:spcPts val="0"/>
              </a:spcAft>
              <a:buClr>
                <a:srgbClr val="000000"/>
              </a:buClr>
              <a:buSzPts val="1000"/>
              <a:buFont typeface="Arial"/>
              <a:buNone/>
            </a:pPr>
            <a:r>
              <a:rPr b="0" i="0" lang="ja" sz="1000" u="none" cap="none" strike="noStrike">
                <a:solidFill>
                  <a:schemeClr val="dk2"/>
                </a:solidFill>
                <a:latin typeface="Lato"/>
                <a:ea typeface="Lato"/>
                <a:cs typeface="Lato"/>
                <a:sym typeface="Lato"/>
              </a:rPr>
              <a:t>なぜクライアントが認知症初期集中支援チームではなく</a:t>
            </a:r>
            <a:endParaRPr b="0" i="0" sz="1000" u="none" cap="none" strike="noStrike">
              <a:solidFill>
                <a:schemeClr val="dk2"/>
              </a:solidFill>
              <a:latin typeface="Lato"/>
              <a:ea typeface="Lato"/>
              <a:cs typeface="Lato"/>
              <a:sym typeface="Lato"/>
            </a:endParaRPr>
          </a:p>
          <a:p>
            <a:pPr indent="0" lvl="0" marL="0" marR="0" rtl="0" algn="ctr">
              <a:lnSpc>
                <a:spcPct val="50000"/>
              </a:lnSpc>
              <a:spcBef>
                <a:spcPts val="1200"/>
              </a:spcBef>
              <a:spcAft>
                <a:spcPts val="0"/>
              </a:spcAft>
              <a:buClr>
                <a:srgbClr val="000000"/>
              </a:buClr>
              <a:buSzPts val="1000"/>
              <a:buFont typeface="Arial"/>
              <a:buNone/>
            </a:pPr>
            <a:r>
              <a:rPr b="1" i="0" lang="ja" sz="1000" u="none" cap="none" strike="noStrike">
                <a:solidFill>
                  <a:schemeClr val="dk2"/>
                </a:solidFill>
                <a:latin typeface="Lato"/>
                <a:ea typeface="Lato"/>
                <a:cs typeface="Lato"/>
                <a:sym typeface="Lato"/>
              </a:rPr>
              <a:t>基幹型地域包括支援センター</a:t>
            </a:r>
            <a:r>
              <a:rPr b="0" i="0" lang="ja" sz="1000" u="none" cap="none" strike="noStrike">
                <a:solidFill>
                  <a:schemeClr val="dk2"/>
                </a:solidFill>
                <a:latin typeface="Lato"/>
                <a:ea typeface="Lato"/>
                <a:cs typeface="Lato"/>
                <a:sym typeface="Lato"/>
              </a:rPr>
              <a:t>なのか</a:t>
            </a:r>
            <a:endParaRPr b="0" i="0" sz="1000" u="none" cap="none" strike="noStrike">
              <a:solidFill>
                <a:schemeClr val="dk2"/>
              </a:solidFill>
              <a:latin typeface="Lato"/>
              <a:ea typeface="Lato"/>
              <a:cs typeface="Lato"/>
              <a:sym typeface="Lato"/>
            </a:endParaRPr>
          </a:p>
        </p:txBody>
      </p:sp>
      <p:sp>
        <p:nvSpPr>
          <p:cNvPr id="124" name="Google Shape;124;g371b2c4d255_2_0"/>
          <p:cNvSpPr txBox="1"/>
          <p:nvPr/>
        </p:nvSpPr>
        <p:spPr>
          <a:xfrm>
            <a:off x="191400" y="3984775"/>
            <a:ext cx="4047600" cy="892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1200"/>
              </a:spcBef>
              <a:spcAft>
                <a:spcPts val="0"/>
              </a:spcAft>
              <a:buClr>
                <a:srgbClr val="000000"/>
              </a:buClr>
              <a:buSzPts val="1000"/>
              <a:buFont typeface="Arial"/>
              <a:buNone/>
            </a:pPr>
            <a:r>
              <a:t/>
            </a:r>
            <a:endParaRPr b="0" i="0" sz="1000" u="none" cap="none" strike="noStrike">
              <a:solidFill>
                <a:schemeClr val="dk2"/>
              </a:solidFill>
              <a:latin typeface="Lato"/>
              <a:ea typeface="Lato"/>
              <a:cs typeface="Lato"/>
              <a:sym typeface="Lato"/>
            </a:endParaRPr>
          </a:p>
          <a:p>
            <a:pPr indent="0" lvl="0" marL="0" marR="0" rtl="0" algn="ctr">
              <a:lnSpc>
                <a:spcPct val="50000"/>
              </a:lnSpc>
              <a:spcBef>
                <a:spcPts val="1200"/>
              </a:spcBef>
              <a:spcAft>
                <a:spcPts val="0"/>
              </a:spcAft>
              <a:buClr>
                <a:srgbClr val="000000"/>
              </a:buClr>
              <a:buSzPts val="1000"/>
              <a:buFont typeface="Arial"/>
              <a:buNone/>
            </a:pPr>
            <a:r>
              <a:rPr b="0" i="0" lang="ja" sz="1000" u="none" cap="none" strike="noStrike">
                <a:solidFill>
                  <a:schemeClr val="dk2"/>
                </a:solidFill>
                <a:latin typeface="Lato"/>
                <a:ea typeface="Lato"/>
                <a:cs typeface="Lato"/>
                <a:sym typeface="Lato"/>
              </a:rPr>
              <a:t>認知症初期集中支援チームは</a:t>
            </a:r>
            <a:endParaRPr b="0" i="0" sz="1000" u="none" cap="none" strike="noStrike">
              <a:solidFill>
                <a:schemeClr val="dk2"/>
              </a:solidFill>
              <a:latin typeface="Lato"/>
              <a:ea typeface="Lato"/>
              <a:cs typeface="Lato"/>
              <a:sym typeface="Lato"/>
            </a:endParaRPr>
          </a:p>
          <a:p>
            <a:pPr indent="0" lvl="0" marL="0" marR="0" rtl="0" algn="ctr">
              <a:lnSpc>
                <a:spcPct val="50000"/>
              </a:lnSpc>
              <a:spcBef>
                <a:spcPts val="1200"/>
              </a:spcBef>
              <a:spcAft>
                <a:spcPts val="0"/>
              </a:spcAft>
              <a:buClr>
                <a:srgbClr val="000000"/>
              </a:buClr>
              <a:buSzPts val="1000"/>
              <a:buFont typeface="Arial"/>
              <a:buNone/>
            </a:pPr>
            <a:r>
              <a:rPr b="1" i="0" lang="ja" sz="1000" u="none" cap="none" strike="noStrike">
                <a:solidFill>
                  <a:schemeClr val="dk2"/>
                </a:solidFill>
                <a:latin typeface="Lato"/>
                <a:ea typeface="Lato"/>
                <a:cs typeface="Lato"/>
                <a:sym typeface="Lato"/>
              </a:rPr>
              <a:t>基幹型地域包括支援センターの業務に位置付けられている為</a:t>
            </a:r>
            <a:endParaRPr b="1" i="0" sz="1000" u="none" cap="none" strike="noStrike">
              <a:solidFill>
                <a:schemeClr val="dk2"/>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600"/>
              <a:buFont typeface="Arial"/>
              <a:buNone/>
            </a:pPr>
            <a:r>
              <a:t/>
            </a:r>
            <a:endParaRPr b="0" i="0" sz="6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rPr b="0" i="0" lang="ja" sz="600" u="none" cap="none" strike="noStrike">
                <a:solidFill>
                  <a:schemeClr val="dk2"/>
                </a:solidFill>
                <a:latin typeface="Arial"/>
                <a:ea typeface="Arial"/>
                <a:cs typeface="Arial"/>
                <a:sym typeface="Arial"/>
              </a:rPr>
              <a:t>参考 : </a:t>
            </a:r>
            <a:r>
              <a:rPr b="0" i="0" lang="ja" sz="600" u="sng" cap="none" strike="noStrike">
                <a:solidFill>
                  <a:schemeClr val="accent5"/>
                </a:solidFill>
                <a:latin typeface="Arial"/>
                <a:ea typeface="Arial"/>
                <a:cs typeface="Arial"/>
                <a:sym typeface="Arial"/>
                <a:hlinkClick r:id="rId3">
                  <a:extLst>
                    <a:ext uri="{A12FA001-AC4F-418D-AE19-62706E023703}">
                      <ahyp:hlinkClr val="tx"/>
                    </a:ext>
                  </a:extLst>
                </a:hlinkClick>
              </a:rPr>
              <a:t>https://www.city.chigasaki.kanagawa.jp/_res/projects/default_project/_page_/001/010/988/120312.pdf</a:t>
            </a:r>
            <a:endParaRPr b="0" i="0" sz="600" u="none" cap="none" strike="noStrike">
              <a:solidFill>
                <a:schemeClr val="accent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accent1"/>
              </a:solidFill>
              <a:latin typeface="Lato"/>
              <a:ea typeface="Lato"/>
              <a:cs typeface="Lato"/>
              <a:sym typeface="Lato"/>
            </a:endParaRPr>
          </a:p>
        </p:txBody>
      </p:sp>
      <p:sp>
        <p:nvSpPr>
          <p:cNvPr id="125" name="Google Shape;125;g371b2c4d255_2_0"/>
          <p:cNvSpPr/>
          <p:nvPr/>
        </p:nvSpPr>
        <p:spPr>
          <a:xfrm>
            <a:off x="2115750" y="4016600"/>
            <a:ext cx="198900" cy="211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Lato"/>
              <a:ea typeface="Lato"/>
              <a:cs typeface="Lato"/>
              <a:sym typeface="Lato"/>
            </a:endParaRPr>
          </a:p>
        </p:txBody>
      </p:sp>
      <p:sp>
        <p:nvSpPr>
          <p:cNvPr id="126" name="Google Shape;126;g371b2c4d255_2_0"/>
          <p:cNvSpPr txBox="1"/>
          <p:nvPr/>
        </p:nvSpPr>
        <p:spPr>
          <a:xfrm>
            <a:off x="4213500" y="1302475"/>
            <a:ext cx="1408800" cy="30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600" u="none" cap="none" strike="noStrike">
                <a:solidFill>
                  <a:srgbClr val="1A1A1A"/>
                </a:solidFill>
                <a:latin typeface="Lato"/>
                <a:ea typeface="Lato"/>
                <a:cs typeface="Lato"/>
                <a:sym typeface="Lato"/>
              </a:rPr>
              <a:t>茅ヶ崎市では</a:t>
            </a:r>
            <a:endParaRPr b="0" i="0" sz="1600" u="none" cap="none" strike="noStrike">
              <a:solidFill>
                <a:srgbClr val="1A1A1A"/>
              </a:solidFill>
              <a:latin typeface="Lato"/>
              <a:ea typeface="Lato"/>
              <a:cs typeface="Lato"/>
              <a:sym typeface="Lato"/>
            </a:endParaRPr>
          </a:p>
        </p:txBody>
      </p:sp>
      <p:sp>
        <p:nvSpPr>
          <p:cNvPr id="127" name="Google Shape;127;g371b2c4d255_2_0"/>
          <p:cNvSpPr txBox="1"/>
          <p:nvPr/>
        </p:nvSpPr>
        <p:spPr>
          <a:xfrm>
            <a:off x="63750" y="1802188"/>
            <a:ext cx="4178700" cy="1585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ja" sz="1400" u="none" cap="none" strike="noStrike">
                <a:solidFill>
                  <a:srgbClr val="1A1A1A"/>
                </a:solidFill>
                <a:latin typeface="Lato"/>
                <a:ea typeface="Lato"/>
                <a:cs typeface="Lato"/>
                <a:sym typeface="Lato"/>
              </a:rPr>
              <a:t>認知症初期集中支援チームとは</a:t>
            </a:r>
            <a:endParaRPr b="1" i="0" sz="1400" u="none" cap="none" strike="noStrike">
              <a:solidFill>
                <a:srgbClr val="1A1A1A"/>
              </a:solidFill>
              <a:latin typeface="Lato"/>
              <a:ea typeface="Lato"/>
              <a:cs typeface="Lato"/>
              <a:sym typeface="Lato"/>
            </a:endParaRPr>
          </a:p>
          <a:p>
            <a:pPr indent="0" lvl="0" marL="0" marR="0" rtl="0" algn="l">
              <a:lnSpc>
                <a:spcPct val="150000"/>
              </a:lnSpc>
              <a:spcBef>
                <a:spcPts val="0"/>
              </a:spcBef>
              <a:spcAft>
                <a:spcPts val="0"/>
              </a:spcAft>
              <a:buClr>
                <a:srgbClr val="000000"/>
              </a:buClr>
              <a:buSzPts val="1000"/>
              <a:buFont typeface="Arial"/>
              <a:buNone/>
            </a:pPr>
            <a:r>
              <a:rPr b="0" i="0" lang="ja" sz="1000" u="none" cap="none" strike="noStrike">
                <a:solidFill>
                  <a:srgbClr val="1A1A1A"/>
                </a:solidFill>
                <a:latin typeface="Lato"/>
                <a:ea typeface="Lato"/>
                <a:cs typeface="Lato"/>
                <a:sym typeface="Lato"/>
              </a:rPr>
              <a:t>支援センター職員が認知症の疑いがある人やその家族を訪問し、</a:t>
            </a:r>
            <a:endParaRPr b="0" i="0" sz="1000" u="none" cap="none" strike="noStrike">
              <a:solidFill>
                <a:srgbClr val="1A1A1A"/>
              </a:solidFill>
              <a:latin typeface="Lato"/>
              <a:ea typeface="Lato"/>
              <a:cs typeface="Lato"/>
              <a:sym typeface="Lato"/>
            </a:endParaRPr>
          </a:p>
          <a:p>
            <a:pPr indent="0" lvl="0" marL="0" marR="0" rtl="0" algn="l">
              <a:lnSpc>
                <a:spcPct val="150000"/>
              </a:lnSpc>
              <a:spcBef>
                <a:spcPts val="0"/>
              </a:spcBef>
              <a:spcAft>
                <a:spcPts val="0"/>
              </a:spcAft>
              <a:buClr>
                <a:srgbClr val="000000"/>
              </a:buClr>
              <a:buSzPts val="1000"/>
              <a:buFont typeface="Arial"/>
              <a:buNone/>
            </a:pPr>
            <a:r>
              <a:rPr b="0" i="0" lang="ja" sz="1000" u="none" cap="none" strike="noStrike">
                <a:solidFill>
                  <a:srgbClr val="1A1A1A"/>
                </a:solidFill>
                <a:latin typeface="Lato"/>
                <a:ea typeface="Lato"/>
                <a:cs typeface="Lato"/>
                <a:sym typeface="Lato"/>
              </a:rPr>
              <a:t>対象者の状態を把握した後、適切な支援・サポートを行うチーム。</a:t>
            </a:r>
            <a:endParaRPr b="0" i="0" sz="1000" u="none" cap="none" strike="noStrike">
              <a:solidFill>
                <a:srgbClr val="1A1A1A"/>
              </a:solidFill>
              <a:latin typeface="Lato"/>
              <a:ea typeface="Lato"/>
              <a:cs typeface="Lato"/>
              <a:sym typeface="Lato"/>
            </a:endParaRPr>
          </a:p>
          <a:p>
            <a:pPr indent="0" lvl="0" marL="0" marR="0" rtl="0" algn="l">
              <a:lnSpc>
                <a:spcPct val="150000"/>
              </a:lnSpc>
              <a:spcBef>
                <a:spcPts val="0"/>
              </a:spcBef>
              <a:spcAft>
                <a:spcPts val="0"/>
              </a:spcAft>
              <a:buClr>
                <a:srgbClr val="000000"/>
              </a:buClr>
              <a:buSzPts val="1000"/>
              <a:buFont typeface="Arial"/>
              <a:buNone/>
            </a:pPr>
            <a:r>
              <a:rPr b="0" i="0" lang="ja" sz="1000" u="none" cap="none" strike="noStrike">
                <a:solidFill>
                  <a:srgbClr val="1A1A1A"/>
                </a:solidFill>
                <a:latin typeface="Lato"/>
                <a:ea typeface="Lato"/>
                <a:cs typeface="Lato"/>
                <a:sym typeface="Lato"/>
              </a:rPr>
              <a:t>・</a:t>
            </a:r>
            <a:r>
              <a:rPr b="1" i="0" lang="ja" sz="1000" u="none" cap="none" strike="noStrike">
                <a:solidFill>
                  <a:srgbClr val="1A1A1A"/>
                </a:solidFill>
                <a:latin typeface="Lato"/>
                <a:ea typeface="Lato"/>
                <a:cs typeface="Lato"/>
                <a:sym typeface="Lato"/>
              </a:rPr>
              <a:t>地域包括支援センター</a:t>
            </a:r>
            <a:r>
              <a:rPr b="0" i="0" lang="ja" sz="1000" u="none" cap="none" strike="noStrike">
                <a:solidFill>
                  <a:srgbClr val="1A1A1A"/>
                </a:solidFill>
                <a:latin typeface="Lato"/>
                <a:ea typeface="Lato"/>
                <a:cs typeface="Lato"/>
                <a:sym typeface="Lato"/>
              </a:rPr>
              <a:t>等に設置</a:t>
            </a:r>
            <a:endParaRPr b="0" i="0" sz="1000" u="none" cap="none" strike="noStrike">
              <a:solidFill>
                <a:srgbClr val="1A1A1A"/>
              </a:solidFill>
              <a:latin typeface="Lato"/>
              <a:ea typeface="Lato"/>
              <a:cs typeface="Lato"/>
              <a:sym typeface="Lato"/>
            </a:endParaRPr>
          </a:p>
          <a:p>
            <a:pPr indent="0" lvl="0" marL="0" marR="0" rtl="0" algn="l">
              <a:lnSpc>
                <a:spcPct val="150000"/>
              </a:lnSpc>
              <a:spcBef>
                <a:spcPts val="0"/>
              </a:spcBef>
              <a:spcAft>
                <a:spcPts val="0"/>
              </a:spcAft>
              <a:buClr>
                <a:srgbClr val="000000"/>
              </a:buClr>
              <a:buSzPts val="1000"/>
              <a:buFont typeface="Arial"/>
              <a:buNone/>
            </a:pPr>
            <a:r>
              <a:rPr b="0" i="0" lang="ja" sz="1000" u="none" cap="none" strike="noStrike">
                <a:solidFill>
                  <a:srgbClr val="1A1A1A"/>
                </a:solidFill>
                <a:latin typeface="Lato"/>
                <a:ea typeface="Lato"/>
                <a:cs typeface="Lato"/>
                <a:sym typeface="Lato"/>
              </a:rPr>
              <a:t>・</a:t>
            </a:r>
            <a:r>
              <a:rPr b="1" i="0" lang="ja" sz="1000" u="none" cap="none" strike="noStrike">
                <a:solidFill>
                  <a:srgbClr val="1A1A1A"/>
                </a:solidFill>
                <a:latin typeface="Lato"/>
                <a:ea typeface="Lato"/>
                <a:cs typeface="Lato"/>
                <a:sym typeface="Lato"/>
              </a:rPr>
              <a:t>厚生労働省</a:t>
            </a:r>
            <a:r>
              <a:rPr b="0" i="0" lang="ja" sz="1000" u="none" cap="none" strike="noStrike">
                <a:solidFill>
                  <a:srgbClr val="1A1A1A"/>
                </a:solidFill>
                <a:latin typeface="Lato"/>
                <a:ea typeface="Lato"/>
                <a:cs typeface="Lato"/>
                <a:sym typeface="Lato"/>
              </a:rPr>
              <a:t>が提唱</a:t>
            </a:r>
            <a:endParaRPr b="0" i="0" sz="1000" u="none" cap="none" strike="noStrike">
              <a:solidFill>
                <a:srgbClr val="1A1A1A"/>
              </a:solidFill>
              <a:latin typeface="Lato"/>
              <a:ea typeface="Lato"/>
              <a:cs typeface="Lato"/>
              <a:sym typeface="Lato"/>
            </a:endParaRPr>
          </a:p>
          <a:p>
            <a:pPr indent="0" lvl="0" marL="0" marR="0" rtl="0" algn="l">
              <a:lnSpc>
                <a:spcPct val="150000"/>
              </a:lnSpc>
              <a:spcBef>
                <a:spcPts val="0"/>
              </a:spcBef>
              <a:spcAft>
                <a:spcPts val="0"/>
              </a:spcAft>
              <a:buClr>
                <a:srgbClr val="000000"/>
              </a:buClr>
              <a:buSzPts val="1000"/>
              <a:buFont typeface="Arial"/>
              <a:buNone/>
            </a:pPr>
            <a:r>
              <a:rPr b="0" i="0" lang="ja" sz="1000" u="none" cap="none" strike="noStrike">
                <a:solidFill>
                  <a:srgbClr val="1A1A1A"/>
                </a:solidFill>
                <a:latin typeface="Lato"/>
                <a:ea typeface="Lato"/>
                <a:cs typeface="Lato"/>
                <a:sym typeface="Lato"/>
              </a:rPr>
              <a:t>・</a:t>
            </a:r>
            <a:r>
              <a:rPr b="1" i="0" lang="ja" sz="1000" u="none" cap="none" strike="noStrike">
                <a:solidFill>
                  <a:srgbClr val="1A1A1A"/>
                </a:solidFill>
                <a:latin typeface="Lato"/>
                <a:ea typeface="Lato"/>
                <a:cs typeface="Lato"/>
                <a:sym typeface="Lato"/>
              </a:rPr>
              <a:t>各市町村</a:t>
            </a:r>
            <a:r>
              <a:rPr b="0" i="0" lang="ja" sz="1000" u="none" cap="none" strike="noStrike">
                <a:solidFill>
                  <a:srgbClr val="1A1A1A"/>
                </a:solidFill>
                <a:latin typeface="Lato"/>
                <a:ea typeface="Lato"/>
                <a:cs typeface="Lato"/>
                <a:sym typeface="Lato"/>
              </a:rPr>
              <a:t>に設置を義務付け</a:t>
            </a:r>
            <a:endParaRPr b="0" i="0" sz="1000" u="none" cap="none" strike="noStrike">
              <a:solidFill>
                <a:srgbClr val="1A1A1A"/>
              </a:solidFill>
              <a:latin typeface="Lato"/>
              <a:ea typeface="Lato"/>
              <a:cs typeface="Lato"/>
              <a:sym typeface="Lato"/>
            </a:endParaRPr>
          </a:p>
        </p:txBody>
      </p:sp>
      <p:sp>
        <p:nvSpPr>
          <p:cNvPr id="128" name="Google Shape;128;g371b2c4d255_2_0"/>
          <p:cNvSpPr txBox="1"/>
          <p:nvPr/>
        </p:nvSpPr>
        <p:spPr>
          <a:xfrm>
            <a:off x="1879200" y="2746325"/>
            <a:ext cx="2359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ja" sz="700" u="none" cap="none" strike="noStrike">
                <a:solidFill>
                  <a:srgbClr val="000000"/>
                </a:solidFill>
                <a:latin typeface="Arial"/>
                <a:ea typeface="Arial"/>
                <a:cs typeface="Arial"/>
                <a:sym typeface="Arial"/>
              </a:rPr>
              <a:t>参考元：</a:t>
            </a:r>
            <a:r>
              <a:rPr b="0" i="0" lang="ja" sz="600" u="sng" cap="none" strike="noStrike">
                <a:solidFill>
                  <a:schemeClr val="accent5"/>
                </a:solidFill>
                <a:latin typeface="Arial"/>
                <a:ea typeface="Arial"/>
                <a:cs typeface="Arial"/>
                <a:sym typeface="Arial"/>
                <a:hlinkClick r:id="rId4">
                  <a:extLst>
                    <a:ext uri="{A12FA001-AC4F-418D-AE19-62706E023703}">
                      <ahyp:hlinkClr val="tx"/>
                    </a:ext>
                  </a:extLst>
                </a:hlinkClick>
              </a:rPr>
              <a:t>https://www.mhlw.go.jp/file/06-Seisakujouhou-12600000-Seisakutoukatsukan/0000035310.pdf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ja" sz="600" u="sng" cap="none" strike="noStrike">
                <a:solidFill>
                  <a:schemeClr val="accent5"/>
                </a:solidFill>
                <a:latin typeface="Arial"/>
                <a:ea typeface="Arial"/>
                <a:cs typeface="Arial"/>
                <a:sym typeface="Arial"/>
                <a:hlinkClick r:id="rId5">
                  <a:extLst>
                    <a:ext uri="{A12FA001-AC4F-418D-AE19-62706E023703}">
                      <ahyp:hlinkClr val="tx"/>
                    </a:ext>
                  </a:extLst>
                </a:hlinkClick>
              </a:rPr>
              <a:t>https://www.tyojyu.or.jp/kankoubutsu/gyoseki/pdf/h30-5-3.pdf</a:t>
            </a:r>
            <a:endParaRPr b="0" i="0" sz="600" u="none" cap="none" strike="noStrike">
              <a:solidFill>
                <a:srgbClr val="000000"/>
              </a:solidFill>
              <a:latin typeface="Arial"/>
              <a:ea typeface="Arial"/>
              <a:cs typeface="Arial"/>
              <a:sym typeface="Arial"/>
            </a:endParaRPr>
          </a:p>
        </p:txBody>
      </p:sp>
      <p:sp>
        <p:nvSpPr>
          <p:cNvPr id="129" name="Google Shape;129;g371b2c4d255_2_0"/>
          <p:cNvSpPr txBox="1"/>
          <p:nvPr/>
        </p:nvSpPr>
        <p:spPr>
          <a:xfrm>
            <a:off x="4242450" y="4334750"/>
            <a:ext cx="47739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ja" sz="1600" u="none" cap="none" strike="noStrike">
                <a:solidFill>
                  <a:schemeClr val="dk2"/>
                </a:solidFill>
                <a:latin typeface="Lato"/>
                <a:ea typeface="Lato"/>
                <a:cs typeface="Lato"/>
                <a:sym typeface="Lato"/>
              </a:rPr>
              <a:t>そこで</a:t>
            </a:r>
            <a:endParaRPr b="0" i="0" sz="1600" u="none" cap="none" strike="noStrike">
              <a:solidFill>
                <a:schemeClr val="dk2"/>
              </a:solidFill>
              <a:latin typeface="Lato"/>
              <a:ea typeface="Lato"/>
              <a:cs typeface="Lato"/>
              <a:sym typeface="Lato"/>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2"/>
              </a:solidFill>
              <a:latin typeface="Lato"/>
              <a:ea typeface="Lato"/>
              <a:cs typeface="Lato"/>
              <a:sym typeface="Lato"/>
            </a:endParaRPr>
          </a:p>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chemeClr val="dk2"/>
                </a:solidFill>
                <a:latin typeface="Lato"/>
                <a:ea typeface="Lato"/>
                <a:cs typeface="Lato"/>
                <a:sym typeface="Lato"/>
              </a:rPr>
              <a:t>認知症の状態の把握および支援方針の検討業務を援助するシステム</a:t>
            </a:r>
            <a:r>
              <a:rPr b="0" i="0" lang="ja" sz="1000" u="none" cap="none" strike="noStrike">
                <a:solidFill>
                  <a:schemeClr val="dk2"/>
                </a:solidFill>
                <a:latin typeface="Lato"/>
                <a:ea typeface="Lato"/>
                <a:cs typeface="Lato"/>
                <a:sym typeface="Lato"/>
              </a:rPr>
              <a:t>を考案</a:t>
            </a:r>
            <a:endParaRPr b="0" i="0" sz="1400" u="none" cap="none" strike="noStrike">
              <a:solidFill>
                <a:srgbClr val="000000"/>
              </a:solidFill>
              <a:latin typeface="Arial"/>
              <a:ea typeface="Arial"/>
              <a:cs typeface="Arial"/>
              <a:sym typeface="Arial"/>
            </a:endParaRPr>
          </a:p>
        </p:txBody>
      </p:sp>
      <p:sp>
        <p:nvSpPr>
          <p:cNvPr id="130" name="Google Shape;130;g371b2c4d255_2_0"/>
          <p:cNvSpPr txBox="1"/>
          <p:nvPr/>
        </p:nvSpPr>
        <p:spPr>
          <a:xfrm>
            <a:off x="6169200" y="2508250"/>
            <a:ext cx="2876100" cy="68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ja" sz="600" u="none" cap="none" strike="noStrike">
                <a:solidFill>
                  <a:srgbClr val="1A1A1A"/>
                </a:solidFill>
                <a:latin typeface="Lato"/>
                <a:ea typeface="Lato"/>
                <a:cs typeface="Lato"/>
                <a:sym typeface="Lato"/>
              </a:rPr>
              <a:t>参考元：</a:t>
            </a:r>
            <a:r>
              <a:rPr b="0" i="0" lang="ja" sz="650" u="none" cap="none" strike="noStrike">
                <a:solidFill>
                  <a:srgbClr val="333333"/>
                </a:solidFill>
                <a:highlight>
                  <a:srgbClr val="FFFFFF"/>
                </a:highlight>
                <a:latin typeface="Lato"/>
                <a:ea typeface="Lato"/>
                <a:cs typeface="Lato"/>
                <a:sym typeface="Lato"/>
              </a:rPr>
              <a:t>第9期茅ヶ崎市高齢者福祉計画・介護保険事業計画 P71より抜粋</a:t>
            </a:r>
            <a:endParaRPr b="0" i="0" sz="600" u="none" cap="none" strike="noStrike">
              <a:solidFill>
                <a:srgbClr val="1A1A1A"/>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0" i="0" lang="ja" sz="600" u="sng" cap="none" strike="noStrike">
                <a:solidFill>
                  <a:schemeClr val="hlink"/>
                </a:solidFill>
                <a:latin typeface="Lato"/>
                <a:ea typeface="Lato"/>
                <a:cs typeface="Lato"/>
                <a:sym typeface="Lato"/>
                <a:hlinkClick r:id="rId6"/>
              </a:rPr>
              <a:t>https://www.city.chigasaki.kanagawa.jp/_res/projects/default_project/_page_/001/057/442/dai9kikeikaku.pdf</a:t>
            </a:r>
            <a:endParaRPr b="0" i="0" sz="600" u="none" cap="none" strike="noStrike">
              <a:solidFill>
                <a:srgbClr val="1A1A1A"/>
              </a:solidFill>
              <a:latin typeface="Lato"/>
              <a:ea typeface="Lato"/>
              <a:cs typeface="Lato"/>
              <a:sym typeface="Lato"/>
            </a:endParaRPr>
          </a:p>
        </p:txBody>
      </p:sp>
      <p:sp>
        <p:nvSpPr>
          <p:cNvPr id="131" name="Google Shape;131;g371b2c4d255_2_0"/>
          <p:cNvSpPr txBox="1"/>
          <p:nvPr/>
        </p:nvSpPr>
        <p:spPr>
          <a:xfrm>
            <a:off x="4213500" y="3016050"/>
            <a:ext cx="3065400" cy="30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600" u="none" cap="none" strike="noStrike">
                <a:solidFill>
                  <a:srgbClr val="1A1A1A"/>
                </a:solidFill>
                <a:latin typeface="Lato"/>
                <a:ea typeface="Lato"/>
                <a:cs typeface="Lato"/>
                <a:sym typeface="Lato"/>
              </a:rPr>
              <a:t>認知症初期集中支援チームでは</a:t>
            </a:r>
            <a:endParaRPr b="0" i="0" sz="1600" u="none" cap="none" strike="noStrike">
              <a:solidFill>
                <a:srgbClr val="1A1A1A"/>
              </a:solidFill>
              <a:latin typeface="Lato"/>
              <a:ea typeface="Lato"/>
              <a:cs typeface="Lato"/>
              <a:sym typeface="Lato"/>
            </a:endParaRPr>
          </a:p>
        </p:txBody>
      </p:sp>
      <p:sp>
        <p:nvSpPr>
          <p:cNvPr id="132" name="Google Shape;132;g371b2c4d255_2_0"/>
          <p:cNvSpPr txBox="1"/>
          <p:nvPr/>
        </p:nvSpPr>
        <p:spPr>
          <a:xfrm>
            <a:off x="4341150" y="3439100"/>
            <a:ext cx="45765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300"/>
              <a:buFont typeface="Arial"/>
              <a:buNone/>
            </a:pPr>
            <a:r>
              <a:rPr b="0" i="0" lang="ja" sz="1000" u="none" cap="none" strike="noStrike">
                <a:solidFill>
                  <a:srgbClr val="1A1A1A"/>
                </a:solidFill>
                <a:latin typeface="Lato"/>
                <a:ea typeface="Lato"/>
                <a:cs typeface="Lato"/>
                <a:sym typeface="Lato"/>
              </a:rPr>
              <a:t>住み慣れた地域のよい環境で暮らし続けられるために、早期診断・早期対応に向けた支援体制を構築することを目的としている。</a:t>
            </a:r>
            <a:endParaRPr b="0" i="0" sz="1000" u="none" cap="none" strike="noStrike">
              <a:solidFill>
                <a:srgbClr val="1A1A1A"/>
              </a:solidFill>
              <a:latin typeface="Lato"/>
              <a:ea typeface="Lato"/>
              <a:cs typeface="Lato"/>
              <a:sym typeface="Lato"/>
            </a:endParaRPr>
          </a:p>
        </p:txBody>
      </p:sp>
      <p:sp>
        <p:nvSpPr>
          <p:cNvPr id="133" name="Google Shape;133;g371b2c4d255_2_0"/>
          <p:cNvSpPr txBox="1"/>
          <p:nvPr/>
        </p:nvSpPr>
        <p:spPr>
          <a:xfrm>
            <a:off x="6169200" y="3895850"/>
            <a:ext cx="2946000" cy="51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ja" sz="600" u="none" cap="none" strike="noStrike">
                <a:solidFill>
                  <a:srgbClr val="1A1A1A"/>
                </a:solidFill>
                <a:latin typeface="Lato"/>
                <a:ea typeface="Lato"/>
                <a:cs typeface="Lato"/>
                <a:sym typeface="Lato"/>
              </a:rPr>
              <a:t>参考元：</a:t>
            </a:r>
            <a:endParaRPr b="0" i="0" sz="600" u="none" cap="none" strike="noStrike">
              <a:solidFill>
                <a:srgbClr val="1A1A1A"/>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0" i="0" lang="ja" sz="600" u="sng" cap="none" strike="noStrike">
                <a:solidFill>
                  <a:schemeClr val="hlink"/>
                </a:solidFill>
                <a:latin typeface="Lato"/>
                <a:ea typeface="Lato"/>
                <a:cs typeface="Lato"/>
                <a:sym typeface="Lato"/>
                <a:hlinkClick r:id="rId7"/>
              </a:rPr>
              <a:t>https://www.mhlw.go.jp/file/06-Seisakujouhou-12600000-Seisakutoukatsukan/0000035310.pdf</a:t>
            </a:r>
            <a:endParaRPr b="0" i="0" sz="600" u="none" cap="none" strike="noStrike">
              <a:solidFill>
                <a:srgbClr val="1A1A1A"/>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0" i="0" lang="ja" sz="600" u="sng" cap="none" strike="noStrike">
                <a:solidFill>
                  <a:schemeClr val="hlink"/>
                </a:solidFill>
                <a:latin typeface="Lato"/>
                <a:ea typeface="Lato"/>
                <a:cs typeface="Lato"/>
                <a:sym typeface="Lato"/>
                <a:hlinkClick r:id="rId8"/>
              </a:rPr>
              <a:t>https://www.city.chigasaki.kanagawa.jp/_res/projects/default_project/_page_/001/010/988/120312.pdf</a:t>
            </a:r>
            <a:endParaRPr b="0" i="0" sz="600" u="none" cap="none" strike="noStrike">
              <a:solidFill>
                <a:srgbClr val="1A1A1A"/>
              </a:solidFill>
              <a:latin typeface="Lato"/>
              <a:ea typeface="Lato"/>
              <a:cs typeface="Lato"/>
              <a:sym typeface="Lato"/>
            </a:endParaRPr>
          </a:p>
        </p:txBody>
      </p:sp>
      <p:sp>
        <p:nvSpPr>
          <p:cNvPr id="134" name="Google Shape;134;g371b2c4d255_2_0"/>
          <p:cNvSpPr txBox="1"/>
          <p:nvPr/>
        </p:nvSpPr>
        <p:spPr>
          <a:xfrm>
            <a:off x="8766300" y="4632900"/>
            <a:ext cx="4017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5</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71b2c4d255_2_7"/>
          <p:cNvSpPr txBox="1"/>
          <p:nvPr>
            <p:ph type="title"/>
          </p:nvPr>
        </p:nvSpPr>
        <p:spPr>
          <a:xfrm>
            <a:off x="805550" y="709050"/>
            <a:ext cx="8583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目的</a:t>
            </a:r>
            <a:endParaRPr/>
          </a:p>
        </p:txBody>
      </p:sp>
      <p:sp>
        <p:nvSpPr>
          <p:cNvPr id="140" name="Google Shape;140;g371b2c4d255_2_7"/>
          <p:cNvSpPr txBox="1"/>
          <p:nvPr>
            <p:ph type="title"/>
          </p:nvPr>
        </p:nvSpPr>
        <p:spPr>
          <a:xfrm>
            <a:off x="4719800" y="709050"/>
            <a:ext cx="8583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目標</a:t>
            </a:r>
            <a:endParaRPr/>
          </a:p>
        </p:txBody>
      </p:sp>
      <p:sp>
        <p:nvSpPr>
          <p:cNvPr id="141" name="Google Shape;141;g371b2c4d255_2_7"/>
          <p:cNvSpPr txBox="1"/>
          <p:nvPr/>
        </p:nvSpPr>
        <p:spPr>
          <a:xfrm>
            <a:off x="8766300" y="4632900"/>
            <a:ext cx="4017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6</a:t>
            </a:r>
            <a:endParaRPr b="0" i="0" sz="2100" u="none" cap="none" strike="noStrike">
              <a:solidFill>
                <a:schemeClr val="accent1"/>
              </a:solidFill>
              <a:latin typeface="Lato"/>
              <a:ea typeface="Lato"/>
              <a:cs typeface="Lato"/>
              <a:sym typeface="Lato"/>
            </a:endParaRPr>
          </a:p>
        </p:txBody>
      </p:sp>
      <p:sp>
        <p:nvSpPr>
          <p:cNvPr id="142" name="Google Shape;142;g371b2c4d255_2_7"/>
          <p:cNvSpPr txBox="1"/>
          <p:nvPr/>
        </p:nvSpPr>
        <p:spPr>
          <a:xfrm>
            <a:off x="44475" y="2493150"/>
            <a:ext cx="44028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ja" u="none" cap="none" strike="noStrike">
                <a:solidFill>
                  <a:schemeClr val="dk2"/>
                </a:solidFill>
                <a:latin typeface="Lato"/>
                <a:ea typeface="Lato"/>
                <a:cs typeface="Lato"/>
                <a:sym typeface="Lato"/>
              </a:rPr>
              <a:t>関係職員がWEB上で対象者の情報や</a:t>
            </a:r>
            <a:endParaRPr b="0" i="0" u="none" cap="none" strike="noStrike">
              <a:solidFill>
                <a:schemeClr val="dk2"/>
              </a:solidFill>
              <a:latin typeface="Lato"/>
              <a:ea typeface="Lato"/>
              <a:cs typeface="Lato"/>
              <a:sym typeface="Lato"/>
            </a:endParaRPr>
          </a:p>
          <a:p>
            <a:pPr indent="0" lvl="0" marL="0" marR="0" rtl="0" algn="l">
              <a:lnSpc>
                <a:spcPct val="100000"/>
              </a:lnSpc>
              <a:spcBef>
                <a:spcPts val="0"/>
              </a:spcBef>
              <a:spcAft>
                <a:spcPts val="0"/>
              </a:spcAft>
              <a:buClr>
                <a:srgbClr val="000000"/>
              </a:buClr>
              <a:buSzPts val="1500"/>
              <a:buFont typeface="Arial"/>
              <a:buNone/>
            </a:pPr>
            <a:r>
              <a:rPr b="0" i="0" lang="ja" u="none" cap="none" strike="noStrike">
                <a:solidFill>
                  <a:schemeClr val="dk2"/>
                </a:solidFill>
                <a:latin typeface="Lato"/>
                <a:ea typeface="Lato"/>
                <a:cs typeface="Lato"/>
                <a:sym typeface="Lato"/>
              </a:rPr>
              <a:t>支援履歴を記録・共有できる環境の整備および、</a:t>
            </a:r>
            <a:endParaRPr b="0" i="0" u="none" cap="none" strike="noStrike">
              <a:solidFill>
                <a:schemeClr val="dk2"/>
              </a:solidFill>
              <a:latin typeface="Lato"/>
              <a:ea typeface="Lato"/>
              <a:cs typeface="Lato"/>
              <a:sym typeface="Lato"/>
            </a:endParaRPr>
          </a:p>
          <a:p>
            <a:pPr indent="0" lvl="0" marL="0" marR="0" rtl="0" algn="l">
              <a:lnSpc>
                <a:spcPct val="100000"/>
              </a:lnSpc>
              <a:spcBef>
                <a:spcPts val="0"/>
              </a:spcBef>
              <a:spcAft>
                <a:spcPts val="0"/>
              </a:spcAft>
              <a:buClr>
                <a:srgbClr val="000000"/>
              </a:buClr>
              <a:buSzPts val="1500"/>
              <a:buFont typeface="Arial"/>
              <a:buNone/>
            </a:pPr>
            <a:r>
              <a:rPr b="0" i="0" lang="ja" u="none" cap="none" strike="noStrike">
                <a:solidFill>
                  <a:schemeClr val="dk2"/>
                </a:solidFill>
                <a:latin typeface="Lato"/>
                <a:ea typeface="Lato"/>
                <a:cs typeface="Lato"/>
                <a:sym typeface="Lato"/>
              </a:rPr>
              <a:t>効率的な支援方針の立案を援助するシステムの</a:t>
            </a:r>
            <a:endParaRPr b="0" i="0" u="none" cap="none" strike="noStrike">
              <a:solidFill>
                <a:schemeClr val="dk2"/>
              </a:solidFill>
              <a:latin typeface="Lato"/>
              <a:ea typeface="Lato"/>
              <a:cs typeface="Lato"/>
              <a:sym typeface="Lato"/>
            </a:endParaRPr>
          </a:p>
          <a:p>
            <a:pPr indent="0" lvl="0" marL="0" marR="0" rtl="0" algn="l">
              <a:lnSpc>
                <a:spcPct val="100000"/>
              </a:lnSpc>
              <a:spcBef>
                <a:spcPts val="0"/>
              </a:spcBef>
              <a:spcAft>
                <a:spcPts val="0"/>
              </a:spcAft>
              <a:buClr>
                <a:srgbClr val="000000"/>
              </a:buClr>
              <a:buSzPts val="1500"/>
              <a:buFont typeface="Arial"/>
              <a:buNone/>
            </a:pPr>
            <a:r>
              <a:rPr b="0" i="0" lang="ja" u="none" cap="none" strike="noStrike">
                <a:solidFill>
                  <a:schemeClr val="dk2"/>
                </a:solidFill>
                <a:latin typeface="Lato"/>
                <a:ea typeface="Lato"/>
                <a:cs typeface="Lato"/>
                <a:sym typeface="Lato"/>
              </a:rPr>
              <a:t>構築をする。</a:t>
            </a:r>
            <a:endParaRPr b="0" i="0" u="none" cap="none" strike="noStrike">
              <a:solidFill>
                <a:schemeClr val="dk2"/>
              </a:solidFill>
              <a:latin typeface="Lato"/>
              <a:ea typeface="Lato"/>
              <a:cs typeface="Lato"/>
              <a:sym typeface="Lato"/>
            </a:endParaRPr>
          </a:p>
        </p:txBody>
      </p:sp>
      <p:sp>
        <p:nvSpPr>
          <p:cNvPr id="143" name="Google Shape;143;g371b2c4d255_2_7"/>
          <p:cNvSpPr txBox="1"/>
          <p:nvPr/>
        </p:nvSpPr>
        <p:spPr>
          <a:xfrm>
            <a:off x="4365775" y="2500800"/>
            <a:ext cx="4741200" cy="88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500">
                <a:solidFill>
                  <a:schemeClr val="dk2"/>
                </a:solidFill>
                <a:latin typeface="Lato"/>
                <a:ea typeface="Lato"/>
                <a:cs typeface="Lato"/>
                <a:sym typeface="Lato"/>
              </a:rPr>
              <a:t>目標：類似事例検索の妥当性</a:t>
            </a:r>
            <a:br>
              <a:rPr lang="ja" sz="1500">
                <a:solidFill>
                  <a:schemeClr val="dk2"/>
                </a:solidFill>
                <a:latin typeface="Lato"/>
                <a:ea typeface="Lato"/>
                <a:cs typeface="Lato"/>
                <a:sym typeface="Lato"/>
              </a:rPr>
            </a:br>
            <a:r>
              <a:rPr lang="ja" sz="1300"/>
              <a:t>評価用ケース10〜20件を類似事例検索したときに、</a:t>
            </a:r>
            <a:endParaRPr sz="1300"/>
          </a:p>
          <a:p>
            <a:pPr indent="0" lvl="0" marL="0" rtl="0" algn="l">
              <a:lnSpc>
                <a:spcPct val="115000"/>
              </a:lnSpc>
              <a:spcBef>
                <a:spcPts val="0"/>
              </a:spcBef>
              <a:spcAft>
                <a:spcPts val="0"/>
              </a:spcAft>
              <a:buNone/>
            </a:pPr>
            <a:r>
              <a:rPr lang="ja" sz="1300"/>
              <a:t>すべてのケースで類似度80%以上の事例を提示させる。</a:t>
            </a:r>
            <a:endParaRPr sz="17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71b2c4d255_2_81"/>
          <p:cNvSpPr txBox="1"/>
          <p:nvPr>
            <p:ph type="title"/>
          </p:nvPr>
        </p:nvSpPr>
        <p:spPr>
          <a:xfrm>
            <a:off x="117725" y="667075"/>
            <a:ext cx="38610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2070"/>
              <a:buFont typeface="Arial"/>
              <a:buNone/>
            </a:pPr>
            <a:r>
              <a:rPr lang="ja" sz="2400">
                <a:latin typeface="Lato"/>
                <a:ea typeface="Lato"/>
                <a:cs typeface="Lato"/>
                <a:sym typeface="Lato"/>
              </a:rPr>
              <a:t>顧客の現在の顧客分析</a:t>
            </a:r>
            <a:endParaRPr sz="2400"/>
          </a:p>
        </p:txBody>
      </p:sp>
      <p:pic>
        <p:nvPicPr>
          <p:cNvPr id="149" name="Google Shape;149;g371b2c4d255_2_81"/>
          <p:cNvPicPr preferRelativeResize="0"/>
          <p:nvPr/>
        </p:nvPicPr>
        <p:blipFill rotWithShape="1">
          <a:blip r:embed="rId3">
            <a:alphaModFix/>
          </a:blip>
          <a:srcRect b="0" l="0" r="0" t="0"/>
          <a:stretch/>
        </p:blipFill>
        <p:spPr>
          <a:xfrm>
            <a:off x="0" y="1271350"/>
            <a:ext cx="9144001" cy="3872150"/>
          </a:xfrm>
          <a:prstGeom prst="rect">
            <a:avLst/>
          </a:prstGeom>
          <a:noFill/>
          <a:ln>
            <a:noFill/>
          </a:ln>
        </p:spPr>
      </p:pic>
      <p:sp>
        <p:nvSpPr>
          <p:cNvPr id="150" name="Google Shape;150;g371b2c4d255_2_81"/>
          <p:cNvSpPr txBox="1"/>
          <p:nvPr/>
        </p:nvSpPr>
        <p:spPr>
          <a:xfrm>
            <a:off x="8766300" y="4632900"/>
            <a:ext cx="4017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7</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98e3b8d10d_4_0"/>
          <p:cNvSpPr txBox="1"/>
          <p:nvPr>
            <p:ph type="title"/>
          </p:nvPr>
        </p:nvSpPr>
        <p:spPr>
          <a:xfrm>
            <a:off x="117725" y="667075"/>
            <a:ext cx="38610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2070"/>
              <a:buFont typeface="Arial"/>
              <a:buNone/>
            </a:pPr>
            <a:r>
              <a:rPr lang="ja" sz="2400">
                <a:latin typeface="Lato"/>
                <a:ea typeface="Lato"/>
                <a:cs typeface="Lato"/>
                <a:sym typeface="Lato"/>
              </a:rPr>
              <a:t>顧客の現在の顧客分析</a:t>
            </a:r>
            <a:endParaRPr sz="2400"/>
          </a:p>
        </p:txBody>
      </p:sp>
      <p:sp>
        <p:nvSpPr>
          <p:cNvPr id="156" name="Google Shape;156;g398e3b8d10d_4_0"/>
          <p:cNvSpPr txBox="1"/>
          <p:nvPr/>
        </p:nvSpPr>
        <p:spPr>
          <a:xfrm>
            <a:off x="270900" y="2157800"/>
            <a:ext cx="8602200" cy="1411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1A1A1A"/>
                </a:solidFill>
                <a:latin typeface="Lato"/>
                <a:ea typeface="Lato"/>
                <a:cs typeface="Lato"/>
                <a:sym typeface="Lato"/>
              </a:rPr>
              <a:t>現状の課題としては、各アセスメントシートを個々のExcelファイルで記録しており、</a:t>
            </a:r>
            <a:endParaRPr b="0" i="0" sz="1600" u="none" cap="none" strike="noStrike">
              <a:solidFill>
                <a:srgbClr val="1A1A1A"/>
              </a:solidFill>
              <a:latin typeface="Lato"/>
              <a:ea typeface="Lato"/>
              <a:cs typeface="Lato"/>
              <a:sym typeface="Lato"/>
            </a:endParaRPr>
          </a:p>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1A1A1A"/>
                </a:solidFill>
                <a:latin typeface="Lato"/>
                <a:ea typeface="Lato"/>
                <a:cs typeface="Lato"/>
                <a:sym typeface="Lato"/>
              </a:rPr>
              <a:t>担当者間での情報共有や更新履歴の管理が複雑になっている点が挙げられる。</a:t>
            </a:r>
            <a:endParaRPr b="0" i="0" sz="1600" u="none" cap="none" strike="noStrike">
              <a:solidFill>
                <a:srgbClr val="1A1A1A"/>
              </a:solidFill>
              <a:latin typeface="Lato"/>
              <a:ea typeface="Lato"/>
              <a:cs typeface="Lato"/>
              <a:sym typeface="Lato"/>
            </a:endParaRPr>
          </a:p>
          <a:p>
            <a:pPr indent="0" lvl="0" marL="0" marR="0" rtl="0" algn="l">
              <a:lnSpc>
                <a:spcPct val="115000"/>
              </a:lnSpc>
              <a:spcBef>
                <a:spcPts val="0"/>
              </a:spcBef>
              <a:spcAft>
                <a:spcPts val="0"/>
              </a:spcAft>
              <a:buClr>
                <a:srgbClr val="000000"/>
              </a:buClr>
              <a:buSzPts val="700"/>
              <a:buFont typeface="Arial"/>
              <a:buNone/>
            </a:pPr>
            <a:r>
              <a:t/>
            </a:r>
            <a:endParaRPr b="0" i="0" sz="700" u="none" cap="none" strike="noStrike">
              <a:solidFill>
                <a:srgbClr val="1A1A1A"/>
              </a:solidFill>
              <a:latin typeface="Lato"/>
              <a:ea typeface="Lato"/>
              <a:cs typeface="Lato"/>
              <a:sym typeface="Lato"/>
            </a:endParaRPr>
          </a:p>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1A1A1A"/>
                </a:solidFill>
                <a:latin typeface="Lato"/>
                <a:ea typeface="Lato"/>
                <a:cs typeface="Lato"/>
                <a:sym typeface="Lato"/>
              </a:rPr>
              <a:t>また、同一対象者に関する記録が複数のファイルに分散しているため、</a:t>
            </a:r>
            <a:endParaRPr b="0" i="0" sz="1600" u="none" cap="none" strike="noStrike">
              <a:solidFill>
                <a:srgbClr val="1A1A1A"/>
              </a:solidFill>
              <a:latin typeface="Lato"/>
              <a:ea typeface="Lato"/>
              <a:cs typeface="Lato"/>
              <a:sym typeface="Lato"/>
            </a:endParaRPr>
          </a:p>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1A1A1A"/>
                </a:solidFill>
                <a:latin typeface="Lato"/>
                <a:ea typeface="Lato"/>
                <a:cs typeface="Lato"/>
                <a:sym typeface="Lato"/>
              </a:rPr>
              <a:t>支援経過を一目で把握することが難しく、チーム内での支援方針の統一にも手間がかかる。</a:t>
            </a:r>
            <a:endParaRPr b="0" i="0" sz="1600" u="none" cap="none" strike="noStrike">
              <a:solidFill>
                <a:srgbClr val="1A1A1A"/>
              </a:solidFill>
              <a:latin typeface="Lato"/>
              <a:ea typeface="Lato"/>
              <a:cs typeface="Lato"/>
              <a:sym typeface="Lato"/>
            </a:endParaRPr>
          </a:p>
        </p:txBody>
      </p:sp>
      <p:sp>
        <p:nvSpPr>
          <p:cNvPr id="157" name="Google Shape;157;g398e3b8d10d_4_0"/>
          <p:cNvSpPr txBox="1"/>
          <p:nvPr/>
        </p:nvSpPr>
        <p:spPr>
          <a:xfrm>
            <a:off x="8766300" y="4632900"/>
            <a:ext cx="4017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8</a:t>
            </a:r>
            <a:endParaRPr b="0" i="0" sz="2100" u="none" cap="none" strike="noStrike">
              <a:solidFill>
                <a:schemeClr val="accen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6dcb7c9b5f_0_76"/>
          <p:cNvSpPr txBox="1"/>
          <p:nvPr/>
        </p:nvSpPr>
        <p:spPr>
          <a:xfrm>
            <a:off x="343425" y="356475"/>
            <a:ext cx="8878200" cy="4734300"/>
          </a:xfrm>
          <a:prstGeom prst="rect">
            <a:avLst/>
          </a:prstGeom>
          <a:noFill/>
          <a:ln>
            <a:noFill/>
          </a:ln>
        </p:spPr>
        <p:txBody>
          <a:bodyPr anchorCtr="0" anchor="t" bIns="91425" lIns="91425" spcFirstLastPara="1" rIns="91425" wrap="square" tIns="91425">
            <a:noAutofit/>
          </a:bodyPr>
          <a:lstStyle/>
          <a:p>
            <a:pPr indent="0" lvl="0" marL="0" marR="0" rtl="0" algn="l">
              <a:lnSpc>
                <a:spcPct val="95000"/>
              </a:lnSpc>
              <a:spcBef>
                <a:spcPts val="0"/>
              </a:spcBef>
              <a:spcAft>
                <a:spcPts val="0"/>
              </a:spcAft>
              <a:buClr>
                <a:srgbClr val="000000"/>
              </a:buClr>
              <a:buSzPts val="852"/>
              <a:buFont typeface="Arial"/>
              <a:buNone/>
            </a:pPr>
            <a:r>
              <a:t/>
            </a:r>
            <a:endParaRPr b="0" i="0" sz="1107" u="none" cap="none" strike="noStrike">
              <a:solidFill>
                <a:srgbClr val="1A1A1A"/>
              </a:solidFill>
              <a:latin typeface="Lato"/>
              <a:ea typeface="Lato"/>
              <a:cs typeface="Lato"/>
              <a:sym typeface="Lato"/>
            </a:endParaRPr>
          </a:p>
          <a:p>
            <a:pPr indent="0" lvl="0" marL="0" marR="0" rtl="0" algn="l">
              <a:lnSpc>
                <a:spcPct val="95000"/>
              </a:lnSpc>
              <a:spcBef>
                <a:spcPts val="0"/>
              </a:spcBef>
              <a:spcAft>
                <a:spcPts val="0"/>
              </a:spcAft>
              <a:buClr>
                <a:srgbClr val="000000"/>
              </a:buClr>
              <a:buSzPts val="852"/>
              <a:buFont typeface="Arial"/>
              <a:buNone/>
            </a:pPr>
            <a:r>
              <a:rPr b="1" i="0" lang="ja" sz="1107" u="none" cap="none" strike="noStrike">
                <a:solidFill>
                  <a:srgbClr val="1A1A1A"/>
                </a:solidFill>
                <a:latin typeface="Lato"/>
                <a:ea typeface="Lato"/>
                <a:cs typeface="Lato"/>
                <a:sym typeface="Lato"/>
              </a:rPr>
              <a:t>対象者の出現 </a:t>
            </a:r>
            <a:endParaRPr b="1"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1A1A1A"/>
                </a:solidFill>
                <a:latin typeface="Lato"/>
                <a:ea typeface="Lato"/>
                <a:cs typeface="Lato"/>
                <a:sym typeface="Lato"/>
              </a:rPr>
              <a:t>・本人、家族からの相談 </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1A1A1A"/>
                </a:solidFill>
                <a:latin typeface="Lato"/>
                <a:ea typeface="Lato"/>
                <a:cs typeface="Lato"/>
                <a:sym typeface="Lato"/>
              </a:rPr>
              <a:t>・かかりつけ医、薬局、認知症サポーター、民生委員等からの相談 </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t/>
            </a:r>
            <a:endParaRPr b="0" i="0" sz="1107" u="none" cap="none" strike="noStrike">
              <a:solidFill>
                <a:srgbClr val="1A1A1A"/>
              </a:solidFill>
              <a:latin typeface="Lato"/>
              <a:ea typeface="Lato"/>
              <a:cs typeface="Lato"/>
              <a:sym typeface="Lato"/>
            </a:endParaRPr>
          </a:p>
          <a:p>
            <a:pPr indent="0" lvl="0" marL="0" marR="0" rtl="0" algn="l">
              <a:lnSpc>
                <a:spcPct val="95000"/>
              </a:lnSpc>
              <a:spcBef>
                <a:spcPts val="0"/>
              </a:spcBef>
              <a:spcAft>
                <a:spcPts val="0"/>
              </a:spcAft>
              <a:buClr>
                <a:srgbClr val="000000"/>
              </a:buClr>
              <a:buSzPts val="852"/>
              <a:buFont typeface="Arial"/>
              <a:buNone/>
            </a:pPr>
            <a:r>
              <a:rPr b="1" i="0" lang="ja" sz="1107" u="none" cap="none" strike="noStrike">
                <a:solidFill>
                  <a:srgbClr val="1A1A1A"/>
                </a:solidFill>
                <a:latin typeface="Lato"/>
                <a:ea typeface="Lato"/>
                <a:cs typeface="Lato"/>
                <a:sym typeface="Lato"/>
              </a:rPr>
              <a:t>対象者の把握</a:t>
            </a:r>
            <a:r>
              <a:rPr b="0" i="0" lang="ja" sz="1107" u="none" cap="none" strike="noStrike">
                <a:solidFill>
                  <a:srgbClr val="1A1A1A"/>
                </a:solidFill>
                <a:latin typeface="Lato"/>
                <a:ea typeface="Lato"/>
                <a:cs typeface="Lato"/>
                <a:sym typeface="Lato"/>
              </a:rPr>
              <a:t>・・・基幹型地域包括支援センター（高齢福祉介護課） </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1A1A1A"/>
                </a:solidFill>
                <a:latin typeface="Lato"/>
                <a:ea typeface="Lato"/>
                <a:cs typeface="Lato"/>
                <a:sym typeface="Lato"/>
              </a:rPr>
              <a:t>・最初の相談先は地域包括支援センター、民生委員等様々であるが、最終的には上記で把握 </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t/>
            </a:r>
            <a:endParaRPr b="0" i="0" sz="1107" u="none" cap="none" strike="noStrike">
              <a:solidFill>
                <a:srgbClr val="1A1A1A"/>
              </a:solidFill>
              <a:latin typeface="Lato"/>
              <a:ea typeface="Lato"/>
              <a:cs typeface="Lato"/>
              <a:sym typeface="Lato"/>
            </a:endParaRPr>
          </a:p>
          <a:p>
            <a:pPr indent="0" lvl="0" marL="0" marR="0" rtl="0" algn="l">
              <a:lnSpc>
                <a:spcPct val="95000"/>
              </a:lnSpc>
              <a:spcBef>
                <a:spcPts val="0"/>
              </a:spcBef>
              <a:spcAft>
                <a:spcPts val="0"/>
              </a:spcAft>
              <a:buClr>
                <a:srgbClr val="000000"/>
              </a:buClr>
              <a:buSzPts val="852"/>
              <a:buFont typeface="Arial"/>
              <a:buNone/>
            </a:pPr>
            <a:r>
              <a:rPr b="1" i="0" lang="ja" sz="1107" u="none" cap="none" strike="noStrike">
                <a:solidFill>
                  <a:srgbClr val="1A1A1A"/>
                </a:solidFill>
                <a:latin typeface="Lato"/>
                <a:ea typeface="Lato"/>
                <a:cs typeface="Lato"/>
                <a:sym typeface="Lato"/>
              </a:rPr>
              <a:t>対象者の状態把握</a:t>
            </a:r>
            <a:r>
              <a:rPr b="0" i="0" lang="ja" sz="1107" u="none" cap="none" strike="noStrike">
                <a:solidFill>
                  <a:srgbClr val="1A1A1A"/>
                </a:solidFill>
                <a:latin typeface="Lato"/>
                <a:ea typeface="Lato"/>
                <a:cs typeface="Lato"/>
                <a:sym typeface="Lato"/>
              </a:rPr>
              <a:t> </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1A1A1A"/>
                </a:solidFill>
                <a:latin typeface="Lato"/>
                <a:ea typeface="Lato"/>
                <a:cs typeface="Lato"/>
                <a:sym typeface="Lato"/>
              </a:rPr>
              <a:t>・基幹型地域包括支援センター職員、高齢福祉介護課保健師、地域包括支援センター職員 等２名程度で対象</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1A1A1A"/>
                </a:solidFill>
                <a:latin typeface="Lato"/>
                <a:ea typeface="Lato"/>
                <a:cs typeface="Lato"/>
                <a:sym typeface="Lato"/>
              </a:rPr>
              <a:t>     宅を訪問し、状態を把握 </a:t>
            </a:r>
            <a:endParaRPr b="0" i="0" sz="1107" u="none" cap="none" strike="noStrike">
              <a:solidFill>
                <a:srgbClr val="1A1A1A"/>
              </a:solidFill>
              <a:latin typeface="Lato"/>
              <a:ea typeface="Lato"/>
              <a:cs typeface="Lato"/>
              <a:sym typeface="Lato"/>
            </a:endParaRPr>
          </a:p>
          <a:p>
            <a:pPr indent="457200" lvl="0" marL="0" marR="0" rtl="0" algn="l">
              <a:lnSpc>
                <a:spcPct val="95000"/>
              </a:lnSpc>
              <a:spcBef>
                <a:spcPts val="0"/>
              </a:spcBef>
              <a:spcAft>
                <a:spcPts val="0"/>
              </a:spcAft>
              <a:buClr>
                <a:srgbClr val="000000"/>
              </a:buClr>
              <a:buSzPts val="852"/>
              <a:buFont typeface="Arial"/>
              <a:buNone/>
            </a:pPr>
            <a:r>
              <a:rPr b="0" i="0" lang="ja" sz="1107" u="none" cap="none" strike="noStrike">
                <a:solidFill>
                  <a:srgbClr val="1A1A1A"/>
                </a:solidFill>
                <a:latin typeface="Lato"/>
                <a:ea typeface="Lato"/>
                <a:cs typeface="Lato"/>
                <a:sym typeface="Lato"/>
              </a:rPr>
              <a:t>・状態を把握しアセスメント（支援チームの活動が必要か、他のサービスに直接結びつけ ることが望ましいか等） </a:t>
            </a:r>
            <a:endParaRPr b="0" i="0" sz="1107" u="none" cap="none" strike="noStrike">
              <a:solidFill>
                <a:srgbClr val="1A1A1A"/>
              </a:solidFill>
              <a:latin typeface="Lato"/>
              <a:ea typeface="Lato"/>
              <a:cs typeface="Lato"/>
              <a:sym typeface="Lato"/>
            </a:endParaRPr>
          </a:p>
          <a:p>
            <a:pPr indent="457200" lvl="0" marL="0" marR="0" rtl="0" algn="l">
              <a:lnSpc>
                <a:spcPct val="95000"/>
              </a:lnSpc>
              <a:spcBef>
                <a:spcPts val="0"/>
              </a:spcBef>
              <a:spcAft>
                <a:spcPts val="0"/>
              </a:spcAft>
              <a:buClr>
                <a:srgbClr val="000000"/>
              </a:buClr>
              <a:buSzPts val="852"/>
              <a:buFont typeface="Arial"/>
              <a:buNone/>
            </a:pPr>
            <a:r>
              <a:t/>
            </a:r>
            <a:endParaRPr b="0" i="0" sz="1107" u="none" cap="none" strike="noStrike">
              <a:solidFill>
                <a:srgbClr val="1A1A1A"/>
              </a:solidFill>
              <a:latin typeface="Lato"/>
              <a:ea typeface="Lato"/>
              <a:cs typeface="Lato"/>
              <a:sym typeface="Lato"/>
            </a:endParaRPr>
          </a:p>
          <a:p>
            <a:pPr indent="0" lvl="0" marL="0" marR="0" rtl="0" algn="l">
              <a:lnSpc>
                <a:spcPct val="95000"/>
              </a:lnSpc>
              <a:spcBef>
                <a:spcPts val="0"/>
              </a:spcBef>
              <a:spcAft>
                <a:spcPts val="0"/>
              </a:spcAft>
              <a:buClr>
                <a:srgbClr val="000000"/>
              </a:buClr>
              <a:buSzPts val="852"/>
              <a:buFont typeface="Arial"/>
              <a:buNone/>
            </a:pPr>
            <a:r>
              <a:rPr b="1" i="0" lang="ja" sz="1107" u="none" cap="none" strike="noStrike">
                <a:solidFill>
                  <a:srgbClr val="1A1A1A"/>
                </a:solidFill>
                <a:latin typeface="Lato"/>
                <a:ea typeface="Lato"/>
                <a:cs typeface="Lato"/>
                <a:sym typeface="Lato"/>
              </a:rPr>
              <a:t>支援チームによる検討</a:t>
            </a:r>
            <a:r>
              <a:rPr b="0" i="0" lang="ja" sz="1107" u="none" cap="none" strike="noStrike">
                <a:solidFill>
                  <a:srgbClr val="1A1A1A"/>
                </a:solidFill>
                <a:latin typeface="Lato"/>
                <a:ea typeface="Lato"/>
                <a:cs typeface="Lato"/>
                <a:sym typeface="Lato"/>
              </a:rPr>
              <a:t> </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1A1A1A"/>
                </a:solidFill>
                <a:latin typeface="Lato"/>
                <a:ea typeface="Lato"/>
                <a:cs typeface="Lato"/>
                <a:sym typeface="Lato"/>
              </a:rPr>
              <a:t>・支援チームによるケースカンファレンス（支援方法方針の決定） </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1A1A1A"/>
                </a:solidFill>
                <a:latin typeface="Lato"/>
                <a:ea typeface="Lato"/>
                <a:cs typeface="Lato"/>
                <a:sym typeface="Lato"/>
              </a:rPr>
              <a:t>・対象者の状態によっては、支援チームでの検討は省き、直接、支援チームによる訪問の 実施となる。 </a:t>
            </a:r>
            <a:endParaRPr b="0" i="0" sz="1107" u="none" cap="none" strike="noStrike">
              <a:solidFill>
                <a:srgbClr val="1A1A1A"/>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t/>
            </a:r>
            <a:endParaRPr b="0" i="0" sz="1107" u="none" cap="none" strike="noStrike">
              <a:solidFill>
                <a:srgbClr val="999999"/>
              </a:solidFill>
              <a:latin typeface="Lato"/>
              <a:ea typeface="Lato"/>
              <a:cs typeface="Lato"/>
              <a:sym typeface="Lato"/>
            </a:endParaRPr>
          </a:p>
          <a:p>
            <a:pPr indent="0" lvl="0" marL="0" marR="0" rtl="0" algn="l">
              <a:lnSpc>
                <a:spcPct val="95000"/>
              </a:lnSpc>
              <a:spcBef>
                <a:spcPts val="0"/>
              </a:spcBef>
              <a:spcAft>
                <a:spcPts val="0"/>
              </a:spcAft>
              <a:buClr>
                <a:srgbClr val="000000"/>
              </a:buClr>
              <a:buSzPts val="852"/>
              <a:buFont typeface="Arial"/>
              <a:buNone/>
            </a:pPr>
            <a:r>
              <a:rPr b="1" i="0" lang="ja" sz="1107" u="none" cap="none" strike="noStrike">
                <a:solidFill>
                  <a:srgbClr val="999999"/>
                </a:solidFill>
                <a:latin typeface="Lato"/>
                <a:ea typeface="Lato"/>
                <a:cs typeface="Lato"/>
                <a:sym typeface="Lato"/>
              </a:rPr>
              <a:t>支援チーム員による訪問 </a:t>
            </a:r>
            <a:endParaRPr b="1" i="0" sz="1107" u="none" cap="none" strike="noStrike">
              <a:solidFill>
                <a:srgbClr val="999999"/>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999999"/>
                </a:solidFill>
                <a:latin typeface="Lato"/>
                <a:ea typeface="Lato"/>
                <a:cs typeface="Lato"/>
                <a:sym typeface="Lato"/>
              </a:rPr>
              <a:t>・対象者への支援開始、支援方針の決定を行う </a:t>
            </a:r>
            <a:endParaRPr b="0" i="0" sz="1107" u="none" cap="none" strike="noStrike">
              <a:solidFill>
                <a:srgbClr val="999999"/>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999999"/>
                </a:solidFill>
                <a:latin typeface="Lato"/>
                <a:ea typeface="Lato"/>
                <a:cs typeface="Lato"/>
                <a:sym typeface="Lato"/>
              </a:rPr>
              <a:t>・対象者の状態により訪問回数は決定 </a:t>
            </a:r>
            <a:endParaRPr b="0" i="0" sz="1107" u="none" cap="none" strike="noStrike">
              <a:solidFill>
                <a:srgbClr val="999999"/>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999999"/>
                </a:solidFill>
                <a:latin typeface="Lato"/>
                <a:ea typeface="Lato"/>
                <a:cs typeface="Lato"/>
                <a:sym typeface="Lato"/>
              </a:rPr>
              <a:t>・支援方針によっては他の関係者への支援依頼を行う </a:t>
            </a:r>
            <a:endParaRPr b="0" i="0" sz="1107" u="none" cap="none" strike="noStrike">
              <a:solidFill>
                <a:srgbClr val="999999"/>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t/>
            </a:r>
            <a:endParaRPr b="0" i="0" sz="1107" u="none" cap="none" strike="noStrike">
              <a:solidFill>
                <a:srgbClr val="999999"/>
              </a:solidFill>
              <a:latin typeface="Lato"/>
              <a:ea typeface="Lato"/>
              <a:cs typeface="Lato"/>
              <a:sym typeface="Lato"/>
            </a:endParaRPr>
          </a:p>
          <a:p>
            <a:pPr indent="0" lvl="0" marL="0" marR="0" rtl="0" algn="l">
              <a:lnSpc>
                <a:spcPct val="95000"/>
              </a:lnSpc>
              <a:spcBef>
                <a:spcPts val="0"/>
              </a:spcBef>
              <a:spcAft>
                <a:spcPts val="0"/>
              </a:spcAft>
              <a:buClr>
                <a:srgbClr val="000000"/>
              </a:buClr>
              <a:buSzPts val="852"/>
              <a:buFont typeface="Arial"/>
              <a:buNone/>
            </a:pPr>
            <a:r>
              <a:rPr b="1" i="0" lang="ja" sz="1107" u="none" cap="none" strike="noStrike">
                <a:solidFill>
                  <a:srgbClr val="999999"/>
                </a:solidFill>
                <a:latin typeface="Lato"/>
                <a:ea typeface="Lato"/>
                <a:cs typeface="Lato"/>
                <a:sym typeface="Lato"/>
              </a:rPr>
              <a:t>支援チーム、関係者による検討 </a:t>
            </a:r>
            <a:endParaRPr b="1" i="0" sz="1107" u="none" cap="none" strike="noStrike">
              <a:solidFill>
                <a:srgbClr val="999999"/>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999999"/>
                </a:solidFill>
                <a:latin typeface="Lato"/>
                <a:ea typeface="Lato"/>
                <a:cs typeface="Lato"/>
                <a:sym typeface="Lato"/>
              </a:rPr>
              <a:t>・支援チーム及び関係者によるケースカンファレンス（支援チームでの支援終了後の決定） </a:t>
            </a:r>
            <a:endParaRPr b="0" i="0" sz="1107" u="none" cap="none" strike="noStrike">
              <a:solidFill>
                <a:srgbClr val="999999"/>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999999"/>
                </a:solidFill>
                <a:latin typeface="Lato"/>
                <a:ea typeface="Lato"/>
                <a:cs typeface="Lato"/>
                <a:sym typeface="Lato"/>
              </a:rPr>
              <a:t>・ケースカンファレンスに基づき、必要な関係者への継続支援の依頼 </a:t>
            </a:r>
            <a:endParaRPr b="0" i="0" sz="1107" u="none" cap="none" strike="noStrike">
              <a:solidFill>
                <a:srgbClr val="999999"/>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rPr b="0" i="0" lang="ja" sz="1107" u="none" cap="none" strike="noStrike">
                <a:solidFill>
                  <a:srgbClr val="999999"/>
                </a:solidFill>
                <a:latin typeface="Lato"/>
                <a:ea typeface="Lato"/>
                <a:cs typeface="Lato"/>
                <a:sym typeface="Lato"/>
              </a:rPr>
              <a:t>・支援期間は対象者に適切なサービスが導入できるまでの期間または概ね６か月以内 </a:t>
            </a:r>
            <a:endParaRPr b="0" i="0" sz="1107" u="none" cap="none" strike="noStrike">
              <a:solidFill>
                <a:srgbClr val="999999"/>
              </a:solidFill>
              <a:latin typeface="Lato"/>
              <a:ea typeface="Lato"/>
              <a:cs typeface="Lato"/>
              <a:sym typeface="Lato"/>
            </a:endParaRPr>
          </a:p>
          <a:p>
            <a:pPr indent="0" lvl="0" marL="457200" marR="0" rtl="0" algn="l">
              <a:lnSpc>
                <a:spcPct val="95000"/>
              </a:lnSpc>
              <a:spcBef>
                <a:spcPts val="0"/>
              </a:spcBef>
              <a:spcAft>
                <a:spcPts val="0"/>
              </a:spcAft>
              <a:buClr>
                <a:srgbClr val="000000"/>
              </a:buClr>
              <a:buSzPts val="852"/>
              <a:buFont typeface="Arial"/>
              <a:buNone/>
            </a:pPr>
            <a:r>
              <a:t/>
            </a:r>
            <a:endParaRPr b="0" i="0" sz="1107" u="none" cap="none" strike="noStrike">
              <a:solidFill>
                <a:srgbClr val="999999"/>
              </a:solidFill>
              <a:latin typeface="Lato"/>
              <a:ea typeface="Lato"/>
              <a:cs typeface="Lato"/>
              <a:sym typeface="Lato"/>
            </a:endParaRPr>
          </a:p>
          <a:p>
            <a:pPr indent="0" lvl="0" marL="0" marR="0" rtl="0" algn="l">
              <a:lnSpc>
                <a:spcPct val="95000"/>
              </a:lnSpc>
              <a:spcBef>
                <a:spcPts val="0"/>
              </a:spcBef>
              <a:spcAft>
                <a:spcPts val="0"/>
              </a:spcAft>
              <a:buClr>
                <a:srgbClr val="000000"/>
              </a:buClr>
              <a:buSzPts val="852"/>
              <a:buFont typeface="Arial"/>
              <a:buNone/>
            </a:pPr>
            <a:r>
              <a:rPr b="1" i="0" lang="ja" sz="1107" u="none" cap="none" strike="noStrike">
                <a:solidFill>
                  <a:srgbClr val="999999"/>
                </a:solidFill>
                <a:latin typeface="Lato"/>
                <a:ea typeface="Lato"/>
                <a:cs typeface="Lato"/>
                <a:sym typeface="Lato"/>
              </a:rPr>
              <a:t>対象者に適切なサービスが導入される</a:t>
            </a:r>
            <a:endParaRPr b="1" i="0" sz="1107" u="none" cap="none" strike="noStrike">
              <a:solidFill>
                <a:srgbClr val="999999"/>
              </a:solidFill>
              <a:latin typeface="Lato"/>
              <a:ea typeface="Lato"/>
              <a:cs typeface="Lato"/>
              <a:sym typeface="Lato"/>
            </a:endParaRPr>
          </a:p>
        </p:txBody>
      </p:sp>
      <p:cxnSp>
        <p:nvCxnSpPr>
          <p:cNvPr id="163" name="Google Shape;163;g36dcb7c9b5f_0_76"/>
          <p:cNvCxnSpPr/>
          <p:nvPr/>
        </p:nvCxnSpPr>
        <p:spPr>
          <a:xfrm>
            <a:off x="657150" y="3510225"/>
            <a:ext cx="0" cy="209400"/>
          </a:xfrm>
          <a:prstGeom prst="straightConnector1">
            <a:avLst/>
          </a:prstGeom>
          <a:noFill/>
          <a:ln cap="flat" cmpd="sng" w="9525">
            <a:solidFill>
              <a:srgbClr val="999999"/>
            </a:solidFill>
            <a:prstDash val="solid"/>
            <a:round/>
            <a:headEnd len="sm" w="sm" type="none"/>
            <a:tailEnd len="med" w="med" type="triangle"/>
          </a:ln>
        </p:spPr>
      </p:cxnSp>
      <p:cxnSp>
        <p:nvCxnSpPr>
          <p:cNvPr id="164" name="Google Shape;164;g36dcb7c9b5f_0_76"/>
          <p:cNvCxnSpPr/>
          <p:nvPr/>
        </p:nvCxnSpPr>
        <p:spPr>
          <a:xfrm>
            <a:off x="657150" y="899200"/>
            <a:ext cx="0" cy="209400"/>
          </a:xfrm>
          <a:prstGeom prst="straightConnector1">
            <a:avLst/>
          </a:prstGeom>
          <a:noFill/>
          <a:ln cap="flat" cmpd="sng" w="9525">
            <a:solidFill>
              <a:srgbClr val="1A1A1A"/>
            </a:solidFill>
            <a:prstDash val="solid"/>
            <a:round/>
            <a:headEnd len="sm" w="sm" type="none"/>
            <a:tailEnd len="med" w="med" type="triangle"/>
          </a:ln>
        </p:spPr>
      </p:cxnSp>
      <p:cxnSp>
        <p:nvCxnSpPr>
          <p:cNvPr id="165" name="Google Shape;165;g36dcb7c9b5f_0_76"/>
          <p:cNvCxnSpPr/>
          <p:nvPr/>
        </p:nvCxnSpPr>
        <p:spPr>
          <a:xfrm>
            <a:off x="657150" y="1446738"/>
            <a:ext cx="0" cy="209400"/>
          </a:xfrm>
          <a:prstGeom prst="straightConnector1">
            <a:avLst/>
          </a:prstGeom>
          <a:noFill/>
          <a:ln cap="flat" cmpd="sng" w="9525">
            <a:solidFill>
              <a:srgbClr val="1A1A1A"/>
            </a:solidFill>
            <a:prstDash val="solid"/>
            <a:round/>
            <a:headEnd len="sm" w="sm" type="none"/>
            <a:tailEnd len="med" w="med" type="triangle"/>
          </a:ln>
        </p:spPr>
      </p:cxnSp>
      <p:cxnSp>
        <p:nvCxnSpPr>
          <p:cNvPr id="166" name="Google Shape;166;g36dcb7c9b5f_0_76"/>
          <p:cNvCxnSpPr/>
          <p:nvPr/>
        </p:nvCxnSpPr>
        <p:spPr>
          <a:xfrm>
            <a:off x="657150" y="4307225"/>
            <a:ext cx="0" cy="209400"/>
          </a:xfrm>
          <a:prstGeom prst="straightConnector1">
            <a:avLst/>
          </a:prstGeom>
          <a:noFill/>
          <a:ln cap="flat" cmpd="sng" w="9525">
            <a:solidFill>
              <a:srgbClr val="999999"/>
            </a:solidFill>
            <a:prstDash val="solid"/>
            <a:round/>
            <a:headEnd len="sm" w="sm" type="none"/>
            <a:tailEnd len="med" w="med" type="triangle"/>
          </a:ln>
        </p:spPr>
      </p:cxnSp>
      <p:sp>
        <p:nvSpPr>
          <p:cNvPr id="167" name="Google Shape;167;g36dcb7c9b5f_0_76"/>
          <p:cNvSpPr txBox="1"/>
          <p:nvPr/>
        </p:nvSpPr>
        <p:spPr>
          <a:xfrm>
            <a:off x="1668225" y="159875"/>
            <a:ext cx="70965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参考元： </a:t>
            </a:r>
            <a:r>
              <a:rPr b="0" i="0" lang="ja" sz="1100" u="sng" cap="none" strike="noStrike">
                <a:solidFill>
                  <a:schemeClr val="hlink"/>
                </a:solidFill>
                <a:latin typeface="Arial"/>
                <a:ea typeface="Arial"/>
                <a:cs typeface="Arial"/>
                <a:sym typeface="Arial"/>
                <a:hlinkClick r:id="rId3"/>
              </a:rPr>
              <a:t>https://www.city.chigasaki.kanagawa.jp/_res/projects/default_project/_page_/001/010/988/120312.pdf</a:t>
            </a:r>
            <a:endParaRPr b="0" i="0" sz="1100" u="none" cap="none" strike="noStrike">
              <a:solidFill>
                <a:srgbClr val="1C3678"/>
              </a:solidFill>
              <a:latin typeface="Arial"/>
              <a:ea typeface="Arial"/>
              <a:cs typeface="Arial"/>
              <a:sym typeface="Arial"/>
            </a:endParaRPr>
          </a:p>
        </p:txBody>
      </p:sp>
      <p:cxnSp>
        <p:nvCxnSpPr>
          <p:cNvPr id="168" name="Google Shape;168;g36dcb7c9b5f_0_76"/>
          <p:cNvCxnSpPr/>
          <p:nvPr/>
        </p:nvCxnSpPr>
        <p:spPr>
          <a:xfrm>
            <a:off x="657150" y="2787875"/>
            <a:ext cx="0" cy="209400"/>
          </a:xfrm>
          <a:prstGeom prst="straightConnector1">
            <a:avLst/>
          </a:prstGeom>
          <a:noFill/>
          <a:ln cap="flat" cmpd="sng" w="9525">
            <a:solidFill>
              <a:srgbClr val="999999"/>
            </a:solidFill>
            <a:prstDash val="solid"/>
            <a:round/>
            <a:headEnd len="sm" w="sm" type="none"/>
            <a:tailEnd len="med" w="med" type="triangle"/>
          </a:ln>
        </p:spPr>
      </p:cxnSp>
      <p:cxnSp>
        <p:nvCxnSpPr>
          <p:cNvPr id="169" name="Google Shape;169;g36dcb7c9b5f_0_76"/>
          <p:cNvCxnSpPr/>
          <p:nvPr/>
        </p:nvCxnSpPr>
        <p:spPr>
          <a:xfrm>
            <a:off x="657150" y="2078500"/>
            <a:ext cx="0" cy="209400"/>
          </a:xfrm>
          <a:prstGeom prst="straightConnector1">
            <a:avLst/>
          </a:prstGeom>
          <a:noFill/>
          <a:ln cap="flat" cmpd="sng" w="9525">
            <a:solidFill>
              <a:schemeClr val="dk2"/>
            </a:solidFill>
            <a:prstDash val="solid"/>
            <a:round/>
            <a:headEnd len="sm" w="sm" type="none"/>
            <a:tailEnd len="med" w="med" type="triangle"/>
          </a:ln>
        </p:spPr>
      </p:cxnSp>
      <p:sp>
        <p:nvSpPr>
          <p:cNvPr id="170" name="Google Shape;170;g36dcb7c9b5f_0_76"/>
          <p:cNvSpPr txBox="1"/>
          <p:nvPr/>
        </p:nvSpPr>
        <p:spPr>
          <a:xfrm>
            <a:off x="60225" y="116725"/>
            <a:ext cx="1608000" cy="29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rgbClr val="1A1A1A"/>
                </a:solidFill>
                <a:latin typeface="Lato"/>
                <a:ea typeface="Lato"/>
                <a:cs typeface="Lato"/>
                <a:sym typeface="Lato"/>
              </a:rPr>
              <a:t>【支援の流れ】</a:t>
            </a:r>
            <a:endParaRPr b="0" i="0" sz="1500" u="none" cap="none" strike="noStrike">
              <a:solidFill>
                <a:srgbClr val="1A1A1A"/>
              </a:solidFill>
              <a:latin typeface="Lato"/>
              <a:ea typeface="Lato"/>
              <a:cs typeface="Lato"/>
              <a:sym typeface="Lato"/>
            </a:endParaRPr>
          </a:p>
        </p:txBody>
      </p:sp>
      <p:sp>
        <p:nvSpPr>
          <p:cNvPr id="171" name="Google Shape;171;g36dcb7c9b5f_0_76"/>
          <p:cNvSpPr txBox="1"/>
          <p:nvPr/>
        </p:nvSpPr>
        <p:spPr>
          <a:xfrm>
            <a:off x="8766300" y="4632900"/>
            <a:ext cx="4017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9</a:t>
            </a:r>
            <a:endParaRPr b="0" i="0" sz="2100" u="none" cap="none" strike="noStrike">
              <a:solidFill>
                <a:schemeClr val="accent1"/>
              </a:solidFill>
              <a:latin typeface="Lato"/>
              <a:ea typeface="Lato"/>
              <a:cs typeface="Lato"/>
              <a:sym typeface="Lato"/>
            </a:endParaRPr>
          </a:p>
        </p:txBody>
      </p:sp>
      <p:cxnSp>
        <p:nvCxnSpPr>
          <p:cNvPr id="172" name="Google Shape;172;g36dcb7c9b5f_0_76"/>
          <p:cNvCxnSpPr/>
          <p:nvPr/>
        </p:nvCxnSpPr>
        <p:spPr>
          <a:xfrm>
            <a:off x="119275" y="3063725"/>
            <a:ext cx="7827000" cy="15000"/>
          </a:xfrm>
          <a:prstGeom prst="straightConnector1">
            <a:avLst/>
          </a:prstGeom>
          <a:noFill/>
          <a:ln cap="flat" cmpd="sng" w="9525">
            <a:solidFill>
              <a:srgbClr val="000000"/>
            </a:solidFill>
            <a:prstDash val="dash"/>
            <a:round/>
            <a:headEnd len="med" w="med" type="none"/>
            <a:tailEnd len="med" w="med" type="none"/>
          </a:ln>
        </p:spPr>
      </p:cxnSp>
      <p:sp>
        <p:nvSpPr>
          <p:cNvPr id="173" name="Google Shape;173;g36dcb7c9b5f_0_76"/>
          <p:cNvSpPr txBox="1"/>
          <p:nvPr/>
        </p:nvSpPr>
        <p:spPr>
          <a:xfrm>
            <a:off x="6556500" y="3078725"/>
            <a:ext cx="2611500" cy="29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latin typeface="Lato"/>
                <a:ea typeface="Lato"/>
                <a:cs typeface="Lato"/>
                <a:sym typeface="Lato"/>
              </a:rPr>
              <a:t>ここまでの業務を本システムで支援する</a:t>
            </a:r>
            <a:endParaRPr sz="1000">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g38ded9f09c7_2_28" title="スクリーンショット 2025-12-09 035727.png"/>
          <p:cNvPicPr preferRelativeResize="0"/>
          <p:nvPr/>
        </p:nvPicPr>
        <p:blipFill>
          <a:blip r:embed="rId3">
            <a:alphaModFix/>
          </a:blip>
          <a:stretch>
            <a:fillRect/>
          </a:stretch>
        </p:blipFill>
        <p:spPr>
          <a:xfrm>
            <a:off x="0" y="1267250"/>
            <a:ext cx="9143999" cy="3876250"/>
          </a:xfrm>
          <a:prstGeom prst="rect">
            <a:avLst/>
          </a:prstGeom>
          <a:noFill/>
          <a:ln>
            <a:noFill/>
          </a:ln>
        </p:spPr>
      </p:pic>
      <p:sp>
        <p:nvSpPr>
          <p:cNvPr id="179" name="Google Shape;179;g38ded9f09c7_2_28"/>
          <p:cNvSpPr txBox="1"/>
          <p:nvPr>
            <p:ph type="title"/>
          </p:nvPr>
        </p:nvSpPr>
        <p:spPr>
          <a:xfrm>
            <a:off x="277500" y="6820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改善後の業務内容</a:t>
            </a:r>
            <a:endParaRPr/>
          </a:p>
        </p:txBody>
      </p:sp>
      <p:sp>
        <p:nvSpPr>
          <p:cNvPr id="180" name="Google Shape;180;g38ded9f09c7_2_28"/>
          <p:cNvSpPr/>
          <p:nvPr/>
        </p:nvSpPr>
        <p:spPr>
          <a:xfrm>
            <a:off x="569325" y="3524725"/>
            <a:ext cx="33900" cy="71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1" name="Google Shape;181;g38ded9f09c7_2_28"/>
          <p:cNvSpPr/>
          <p:nvPr/>
        </p:nvSpPr>
        <p:spPr>
          <a:xfrm>
            <a:off x="1024700" y="1610225"/>
            <a:ext cx="52200" cy="144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2" name="Google Shape;182;g38ded9f09c7_2_28"/>
          <p:cNvSpPr txBox="1"/>
          <p:nvPr/>
        </p:nvSpPr>
        <p:spPr>
          <a:xfrm>
            <a:off x="8633375" y="4632900"/>
            <a:ext cx="5346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10</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94f1a9a3dc_0_17"/>
          <p:cNvSpPr txBox="1"/>
          <p:nvPr>
            <p:ph type="title"/>
          </p:nvPr>
        </p:nvSpPr>
        <p:spPr>
          <a:xfrm>
            <a:off x="277500" y="6820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改善後の業務内容</a:t>
            </a:r>
            <a:endParaRPr/>
          </a:p>
        </p:txBody>
      </p:sp>
      <p:sp>
        <p:nvSpPr>
          <p:cNvPr id="188" name="Google Shape;188;g394f1a9a3dc_0_17"/>
          <p:cNvSpPr txBox="1"/>
          <p:nvPr/>
        </p:nvSpPr>
        <p:spPr>
          <a:xfrm>
            <a:off x="818850" y="2011700"/>
            <a:ext cx="6606000" cy="2442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ja" sz="1500" u="none" cap="none" strike="noStrike">
                <a:solidFill>
                  <a:srgbClr val="000000"/>
                </a:solidFill>
                <a:latin typeface="Arial"/>
                <a:ea typeface="Arial"/>
                <a:cs typeface="Arial"/>
                <a:sym typeface="Arial"/>
              </a:rPr>
              <a:t>・訪問記録表 , 身体状況チェック表 , DASC-21, DBD13などのアセスメント</a:t>
            </a:r>
            <a:endParaRPr b="0" i="0" sz="15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rPr b="0" i="0" lang="ja" sz="1500" u="none" cap="none" strike="noStrike">
                <a:solidFill>
                  <a:srgbClr val="000000"/>
                </a:solidFill>
                <a:latin typeface="Arial"/>
                <a:ea typeface="Arial"/>
                <a:cs typeface="Arial"/>
                <a:sym typeface="Arial"/>
              </a:rPr>
              <a:t>　シートをシステムで記録し、Excelに転記した後ファイルを共有</a:t>
            </a:r>
            <a:endParaRPr b="0" i="0" sz="15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t/>
            </a:r>
            <a:endParaRPr b="0" i="0" sz="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rPr b="0" i="0" lang="ja" sz="1500" u="none" cap="none" strike="noStrike">
                <a:solidFill>
                  <a:srgbClr val="000000"/>
                </a:solidFill>
                <a:latin typeface="Arial"/>
                <a:ea typeface="Arial"/>
                <a:cs typeface="Arial"/>
                <a:sym typeface="Arial"/>
              </a:rPr>
              <a:t>　→対象者ごとに各アセスメントシートをシステム上で一覧して編集し</a:t>
            </a:r>
            <a:endParaRPr b="0" i="0" sz="15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rPr b="0" i="0" lang="ja" sz="1500" u="none" cap="none" strike="noStrike">
                <a:solidFill>
                  <a:srgbClr val="000000"/>
                </a:solidFill>
                <a:latin typeface="Arial"/>
                <a:ea typeface="Arial"/>
                <a:cs typeface="Arial"/>
                <a:sym typeface="Arial"/>
              </a:rPr>
              <a:t>　　共有することができ、情報の管理が容易になる。</a:t>
            </a:r>
            <a:endParaRPr b="0" i="0" sz="2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rPr b="0" i="0" lang="ja" sz="1500" u="none" cap="none" strike="noStrike">
                <a:solidFill>
                  <a:srgbClr val="000000"/>
                </a:solidFill>
                <a:latin typeface="Arial"/>
                <a:ea typeface="Arial"/>
                <a:cs typeface="Arial"/>
                <a:sym typeface="Arial"/>
              </a:rPr>
              <a:t>・テキストマイニングによる支援方針提案もとに支援方針を決定</a:t>
            </a:r>
            <a:endParaRPr b="0" i="0" sz="15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t/>
            </a:r>
            <a:endParaRPr b="0" i="0" sz="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rPr b="0" i="0" lang="ja" sz="1500" u="none" cap="none" strike="noStrike">
                <a:solidFill>
                  <a:srgbClr val="000000"/>
                </a:solidFill>
                <a:latin typeface="Arial"/>
                <a:ea typeface="Arial"/>
                <a:cs typeface="Arial"/>
                <a:sym typeface="Arial"/>
              </a:rPr>
              <a:t>　→過去の類似事例を自動的に抽出でき</a:t>
            </a:r>
            <a:endParaRPr b="0" i="0" sz="15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rPr b="0" i="0" lang="ja" sz="1500" u="none" cap="none" strike="noStrike">
                <a:solidFill>
                  <a:srgbClr val="000000"/>
                </a:solidFill>
                <a:latin typeface="Arial"/>
                <a:ea typeface="Arial"/>
                <a:cs typeface="Arial"/>
                <a:sym typeface="Arial"/>
              </a:rPr>
              <a:t>　　職員が支援方針の立案を容易にできるようになる。</a:t>
            </a:r>
            <a:endParaRPr b="0" i="0" sz="1500" u="none" cap="none" strike="noStrike">
              <a:solidFill>
                <a:srgbClr val="000000"/>
              </a:solidFill>
              <a:latin typeface="Arial"/>
              <a:ea typeface="Arial"/>
              <a:cs typeface="Arial"/>
              <a:sym typeface="Arial"/>
            </a:endParaRPr>
          </a:p>
        </p:txBody>
      </p:sp>
      <p:sp>
        <p:nvSpPr>
          <p:cNvPr id="189" name="Google Shape;189;g394f1a9a3dc_0_17"/>
          <p:cNvSpPr/>
          <p:nvPr/>
        </p:nvSpPr>
        <p:spPr>
          <a:xfrm>
            <a:off x="569325" y="3524725"/>
            <a:ext cx="33900" cy="71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0" name="Google Shape;190;g394f1a9a3dc_0_17"/>
          <p:cNvSpPr txBox="1"/>
          <p:nvPr/>
        </p:nvSpPr>
        <p:spPr>
          <a:xfrm>
            <a:off x="8626550" y="4632900"/>
            <a:ext cx="5415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11</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9b037d6f7e_4_4"/>
          <p:cNvSpPr txBox="1"/>
          <p:nvPr>
            <p:ph type="title"/>
          </p:nvPr>
        </p:nvSpPr>
        <p:spPr>
          <a:xfrm>
            <a:off x="729325" y="643700"/>
            <a:ext cx="3774300" cy="53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ja" sz="2140"/>
              <a:t>DASC-21とは</a:t>
            </a:r>
            <a:endParaRPr sz="2140"/>
          </a:p>
        </p:txBody>
      </p:sp>
      <p:sp>
        <p:nvSpPr>
          <p:cNvPr id="196" name="Google Shape;196;g39b037d6f7e_4_4"/>
          <p:cNvSpPr txBox="1"/>
          <p:nvPr>
            <p:ph idx="1" type="body"/>
          </p:nvPr>
        </p:nvSpPr>
        <p:spPr>
          <a:xfrm>
            <a:off x="0" y="1892950"/>
            <a:ext cx="4213800" cy="24381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rgbClr val="1A1A1A"/>
              </a:buClr>
              <a:buSzPts val="1300"/>
              <a:buChar char="●"/>
            </a:pPr>
            <a:r>
              <a:rPr b="1" lang="ja">
                <a:solidFill>
                  <a:srgbClr val="1A1A1A"/>
                </a:solidFill>
              </a:rPr>
              <a:t>認知症の重症度</a:t>
            </a:r>
            <a:r>
              <a:rPr lang="ja">
                <a:solidFill>
                  <a:srgbClr val="1A1A1A"/>
                </a:solidFill>
              </a:rPr>
              <a:t>を</a:t>
            </a:r>
            <a:endParaRPr>
              <a:solidFill>
                <a:srgbClr val="1A1A1A"/>
              </a:solidFill>
            </a:endParaRPr>
          </a:p>
          <a:p>
            <a:pPr indent="0" lvl="0" marL="457200" rtl="0" algn="l">
              <a:lnSpc>
                <a:spcPct val="115000"/>
              </a:lnSpc>
              <a:spcBef>
                <a:spcPts val="0"/>
              </a:spcBef>
              <a:spcAft>
                <a:spcPts val="0"/>
              </a:spcAft>
              <a:buSzPts val="1300"/>
              <a:buNone/>
            </a:pPr>
            <a:r>
              <a:rPr lang="ja">
                <a:solidFill>
                  <a:srgbClr val="1A1A1A"/>
                </a:solidFill>
              </a:rPr>
              <a:t>評価するためのアセスメントシート</a:t>
            </a:r>
            <a:endParaRPr>
              <a:solidFill>
                <a:srgbClr val="1A1A1A"/>
              </a:solidFill>
            </a:endParaRPr>
          </a:p>
          <a:p>
            <a:pPr indent="0" lvl="0" marL="457200" rtl="0" algn="l">
              <a:lnSpc>
                <a:spcPct val="115000"/>
              </a:lnSpc>
              <a:spcBef>
                <a:spcPts val="0"/>
              </a:spcBef>
              <a:spcAft>
                <a:spcPts val="0"/>
              </a:spcAft>
              <a:buSzPts val="1300"/>
              <a:buNone/>
            </a:pPr>
            <a:r>
              <a:t/>
            </a:r>
            <a:endParaRPr>
              <a:solidFill>
                <a:srgbClr val="1A1A1A"/>
              </a:solidFill>
            </a:endParaRPr>
          </a:p>
          <a:p>
            <a:pPr indent="-311150" lvl="0" marL="457200" rtl="0" algn="l">
              <a:lnSpc>
                <a:spcPct val="115000"/>
              </a:lnSpc>
              <a:spcBef>
                <a:spcPts val="0"/>
              </a:spcBef>
              <a:spcAft>
                <a:spcPts val="0"/>
              </a:spcAft>
              <a:buClr>
                <a:srgbClr val="1A1A1A"/>
              </a:buClr>
              <a:buSzPts val="1300"/>
              <a:buChar char="●"/>
            </a:pPr>
            <a:r>
              <a:rPr b="1" lang="ja">
                <a:solidFill>
                  <a:srgbClr val="1A1A1A"/>
                </a:solidFill>
              </a:rPr>
              <a:t>点数の合計</a:t>
            </a:r>
            <a:r>
              <a:rPr lang="ja">
                <a:solidFill>
                  <a:srgbClr val="1A1A1A"/>
                </a:solidFill>
              </a:rPr>
              <a:t>および</a:t>
            </a:r>
            <a:r>
              <a:rPr b="1" lang="ja">
                <a:solidFill>
                  <a:srgbClr val="1A1A1A"/>
                </a:solidFill>
              </a:rPr>
              <a:t>評価項目ごとの点数</a:t>
            </a:r>
            <a:r>
              <a:rPr lang="ja">
                <a:solidFill>
                  <a:srgbClr val="1A1A1A"/>
                </a:solidFill>
              </a:rPr>
              <a:t>で評価</a:t>
            </a:r>
            <a:endParaRPr>
              <a:solidFill>
                <a:srgbClr val="1A1A1A"/>
              </a:solidFill>
            </a:endParaRPr>
          </a:p>
          <a:p>
            <a:pPr indent="0" lvl="0" marL="457200" rtl="0" algn="l">
              <a:lnSpc>
                <a:spcPct val="115000"/>
              </a:lnSpc>
              <a:spcBef>
                <a:spcPts val="0"/>
              </a:spcBef>
              <a:spcAft>
                <a:spcPts val="0"/>
              </a:spcAft>
              <a:buSzPts val="1300"/>
              <a:buNone/>
            </a:pPr>
            <a:r>
              <a:t/>
            </a:r>
            <a:endParaRPr>
              <a:solidFill>
                <a:srgbClr val="1A1A1A"/>
              </a:solidFill>
            </a:endParaRPr>
          </a:p>
          <a:p>
            <a:pPr indent="-311150" lvl="0" marL="457200" rtl="0" algn="l">
              <a:lnSpc>
                <a:spcPct val="115000"/>
              </a:lnSpc>
              <a:spcBef>
                <a:spcPts val="0"/>
              </a:spcBef>
              <a:spcAft>
                <a:spcPts val="0"/>
              </a:spcAft>
              <a:buClr>
                <a:srgbClr val="1A1A1A"/>
              </a:buClr>
              <a:buSzPts val="1300"/>
              <a:buChar char="●"/>
            </a:pPr>
            <a:r>
              <a:rPr lang="ja">
                <a:solidFill>
                  <a:srgbClr val="1A1A1A"/>
                </a:solidFill>
              </a:rPr>
              <a:t>使用するシート：</a:t>
            </a:r>
            <a:endParaRPr>
              <a:solidFill>
                <a:srgbClr val="1A1A1A"/>
              </a:solidFill>
            </a:endParaRPr>
          </a:p>
          <a:p>
            <a:pPr indent="0" lvl="0" marL="457200" rtl="0" algn="l">
              <a:lnSpc>
                <a:spcPct val="115000"/>
              </a:lnSpc>
              <a:spcBef>
                <a:spcPts val="0"/>
              </a:spcBef>
              <a:spcAft>
                <a:spcPts val="0"/>
              </a:spcAft>
              <a:buSzPts val="1300"/>
              <a:buNone/>
            </a:pPr>
            <a:r>
              <a:rPr lang="ja" u="sng">
                <a:solidFill>
                  <a:schemeClr val="hlink"/>
                </a:solidFill>
                <a:hlinkClick r:id="rId3"/>
              </a:rPr>
              <a:t>https://dasc.jp/wp-content/uploads/2014/05/b22f358c9eaab1027fe1769620109c71.pdf</a:t>
            </a:r>
            <a:endParaRPr>
              <a:solidFill>
                <a:srgbClr val="1A1A1A"/>
              </a:solidFill>
            </a:endParaRPr>
          </a:p>
          <a:p>
            <a:pPr indent="0" lvl="0" marL="0" rtl="0" algn="l">
              <a:lnSpc>
                <a:spcPct val="115000"/>
              </a:lnSpc>
              <a:spcBef>
                <a:spcPts val="0"/>
              </a:spcBef>
              <a:spcAft>
                <a:spcPts val="0"/>
              </a:spcAft>
              <a:buSzPts val="1300"/>
              <a:buNone/>
            </a:pPr>
            <a:r>
              <a:t/>
            </a:r>
            <a:endParaRPr sz="1200">
              <a:solidFill>
                <a:srgbClr val="333333"/>
              </a:solidFill>
              <a:highlight>
                <a:srgbClr val="FFFFFF"/>
              </a:highlight>
              <a:latin typeface="Arial"/>
              <a:ea typeface="Arial"/>
              <a:cs typeface="Arial"/>
              <a:sym typeface="Arial"/>
            </a:endParaRPr>
          </a:p>
          <a:p>
            <a:pPr indent="0" lvl="0" marL="0" rtl="0" algn="r">
              <a:lnSpc>
                <a:spcPct val="115000"/>
              </a:lnSpc>
              <a:spcBef>
                <a:spcPts val="0"/>
              </a:spcBef>
              <a:spcAft>
                <a:spcPts val="0"/>
              </a:spcAft>
              <a:buSzPts val="1300"/>
              <a:buNone/>
            </a:pPr>
            <a:r>
              <a:rPr lang="ja">
                <a:solidFill>
                  <a:schemeClr val="dk2"/>
                </a:solidFill>
              </a:rPr>
              <a:t>参考元：</a:t>
            </a:r>
            <a:r>
              <a:rPr lang="ja" u="sng">
                <a:solidFill>
                  <a:schemeClr val="accent5"/>
                </a:solidFill>
                <a:hlinkClick r:id="rId4">
                  <a:extLst>
                    <a:ext uri="{A12FA001-AC4F-418D-AE19-62706E023703}">
                      <ahyp:hlinkClr val="tx"/>
                    </a:ext>
                  </a:extLst>
                </a:hlinkClick>
              </a:rPr>
              <a:t>https://dasc.jp/about</a:t>
            </a:r>
            <a:endParaRPr sz="1200">
              <a:solidFill>
                <a:srgbClr val="333333"/>
              </a:solidFill>
              <a:highlight>
                <a:srgbClr val="FFFFFF"/>
              </a:highlight>
              <a:latin typeface="Arial"/>
              <a:ea typeface="Arial"/>
              <a:cs typeface="Arial"/>
              <a:sym typeface="Arial"/>
            </a:endParaRPr>
          </a:p>
        </p:txBody>
      </p:sp>
      <p:sp>
        <p:nvSpPr>
          <p:cNvPr id="197" name="Google Shape;197;g39b037d6f7e_4_4"/>
          <p:cNvSpPr txBox="1"/>
          <p:nvPr>
            <p:ph idx="2" type="body"/>
          </p:nvPr>
        </p:nvSpPr>
        <p:spPr>
          <a:xfrm>
            <a:off x="4503635" y="1892950"/>
            <a:ext cx="3964800" cy="27168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2"/>
              </a:buClr>
              <a:buSzPts val="1300"/>
              <a:buFont typeface="Arial"/>
              <a:buChar char="●"/>
            </a:pPr>
            <a:r>
              <a:rPr b="1" lang="ja">
                <a:solidFill>
                  <a:schemeClr val="dk2"/>
                </a:solidFill>
                <a:highlight>
                  <a:schemeClr val="lt1"/>
                </a:highlight>
                <a:latin typeface="Arial"/>
                <a:ea typeface="Arial"/>
                <a:cs typeface="Arial"/>
                <a:sym typeface="Arial"/>
              </a:rPr>
              <a:t>認知症の周辺症状（行動・心理症状）</a:t>
            </a:r>
            <a:r>
              <a:rPr lang="ja">
                <a:solidFill>
                  <a:schemeClr val="dk2"/>
                </a:solidFill>
                <a:highlight>
                  <a:schemeClr val="lt1"/>
                </a:highlight>
                <a:latin typeface="Arial"/>
                <a:ea typeface="Arial"/>
                <a:cs typeface="Arial"/>
                <a:sym typeface="Arial"/>
              </a:rPr>
              <a:t>を</a:t>
            </a:r>
            <a:endParaRPr>
              <a:solidFill>
                <a:schemeClr val="dk2"/>
              </a:solidFill>
              <a:highlight>
                <a:schemeClr val="lt1"/>
              </a:highlight>
              <a:latin typeface="Arial"/>
              <a:ea typeface="Arial"/>
              <a:cs typeface="Arial"/>
              <a:sym typeface="Arial"/>
            </a:endParaRPr>
          </a:p>
          <a:p>
            <a:pPr indent="0" lvl="0" marL="457200" rtl="0" algn="l">
              <a:lnSpc>
                <a:spcPct val="115000"/>
              </a:lnSpc>
              <a:spcBef>
                <a:spcPts val="0"/>
              </a:spcBef>
              <a:spcAft>
                <a:spcPts val="0"/>
              </a:spcAft>
              <a:buSzPts val="1300"/>
              <a:buNone/>
            </a:pPr>
            <a:r>
              <a:rPr lang="ja">
                <a:solidFill>
                  <a:schemeClr val="dk2"/>
                </a:solidFill>
                <a:highlight>
                  <a:schemeClr val="lt1"/>
                </a:highlight>
                <a:latin typeface="Arial"/>
                <a:ea typeface="Arial"/>
                <a:cs typeface="Arial"/>
                <a:sym typeface="Arial"/>
              </a:rPr>
              <a:t>簡潔に評価するためのアセスメントシート</a:t>
            </a:r>
            <a:endParaRPr sz="1400">
              <a:solidFill>
                <a:schemeClr val="dk2"/>
              </a:solidFill>
            </a:endParaRPr>
          </a:p>
          <a:p>
            <a:pPr indent="0" lvl="0" marL="0" rtl="0" algn="l">
              <a:lnSpc>
                <a:spcPct val="115000"/>
              </a:lnSpc>
              <a:spcBef>
                <a:spcPts val="0"/>
              </a:spcBef>
              <a:spcAft>
                <a:spcPts val="0"/>
              </a:spcAft>
              <a:buSzPts val="1300"/>
              <a:buNone/>
            </a:pPr>
            <a:r>
              <a:t/>
            </a:r>
            <a:endParaRPr>
              <a:solidFill>
                <a:srgbClr val="1A1A1A"/>
              </a:solidFill>
            </a:endParaRPr>
          </a:p>
          <a:p>
            <a:pPr indent="-311150" lvl="0" marL="457200" rtl="0" algn="l">
              <a:lnSpc>
                <a:spcPct val="115000"/>
              </a:lnSpc>
              <a:spcBef>
                <a:spcPts val="0"/>
              </a:spcBef>
              <a:spcAft>
                <a:spcPts val="0"/>
              </a:spcAft>
              <a:buClr>
                <a:schemeClr val="dk2"/>
              </a:buClr>
              <a:buSzPts val="1300"/>
              <a:buChar char="●"/>
            </a:pPr>
            <a:r>
              <a:rPr lang="ja">
                <a:solidFill>
                  <a:schemeClr val="dk2"/>
                </a:solidFill>
                <a:highlight>
                  <a:srgbClr val="FFFFFF"/>
                </a:highlight>
                <a:latin typeface="Arial"/>
                <a:ea typeface="Arial"/>
                <a:cs typeface="Arial"/>
                <a:sym typeface="Arial"/>
              </a:rPr>
              <a:t>それぞれの項目を、0〜4点の範囲で評価</a:t>
            </a:r>
            <a:endParaRPr>
              <a:solidFill>
                <a:schemeClr val="dk2"/>
              </a:solidFill>
              <a:highlight>
                <a:srgbClr val="FFFFFF"/>
              </a:highlight>
              <a:latin typeface="Arial"/>
              <a:ea typeface="Arial"/>
              <a:cs typeface="Arial"/>
              <a:sym typeface="Arial"/>
            </a:endParaRPr>
          </a:p>
          <a:p>
            <a:pPr indent="0" lvl="0" marL="0" rtl="0" algn="l">
              <a:lnSpc>
                <a:spcPct val="115000"/>
              </a:lnSpc>
              <a:spcBef>
                <a:spcPts val="0"/>
              </a:spcBef>
              <a:spcAft>
                <a:spcPts val="0"/>
              </a:spcAft>
              <a:buSzPts val="1300"/>
              <a:buNone/>
            </a:pPr>
            <a:r>
              <a:t/>
            </a:r>
            <a:endParaRPr>
              <a:solidFill>
                <a:schemeClr val="dk2"/>
              </a:solidFill>
              <a:highlight>
                <a:srgbClr val="FFFFFF"/>
              </a:highlight>
              <a:latin typeface="Arial"/>
              <a:ea typeface="Arial"/>
              <a:cs typeface="Arial"/>
              <a:sym typeface="Arial"/>
            </a:endParaRPr>
          </a:p>
          <a:p>
            <a:pPr indent="-311150" lvl="0" marL="457200" rtl="0" algn="l">
              <a:lnSpc>
                <a:spcPct val="115000"/>
              </a:lnSpc>
              <a:spcBef>
                <a:spcPts val="0"/>
              </a:spcBef>
              <a:spcAft>
                <a:spcPts val="0"/>
              </a:spcAft>
              <a:buClr>
                <a:schemeClr val="dk2"/>
              </a:buClr>
              <a:buSzPts val="1300"/>
              <a:buFont typeface="Arial"/>
              <a:buChar char="●"/>
            </a:pPr>
            <a:r>
              <a:rPr lang="ja">
                <a:solidFill>
                  <a:schemeClr val="dk2"/>
                </a:solidFill>
                <a:highlight>
                  <a:srgbClr val="FFFFFF"/>
                </a:highlight>
                <a:latin typeface="Arial"/>
                <a:ea typeface="Arial"/>
                <a:cs typeface="Arial"/>
                <a:sym typeface="Arial"/>
              </a:rPr>
              <a:t>使用するシート：</a:t>
            </a:r>
            <a:endParaRPr>
              <a:solidFill>
                <a:schemeClr val="dk2"/>
              </a:solidFill>
              <a:highlight>
                <a:srgbClr val="FFFFFF"/>
              </a:highlight>
              <a:latin typeface="Arial"/>
              <a:ea typeface="Arial"/>
              <a:cs typeface="Arial"/>
              <a:sym typeface="Arial"/>
            </a:endParaRPr>
          </a:p>
          <a:p>
            <a:pPr indent="0" lvl="0" marL="457200" rtl="0" algn="l">
              <a:lnSpc>
                <a:spcPct val="115000"/>
              </a:lnSpc>
              <a:spcBef>
                <a:spcPts val="0"/>
              </a:spcBef>
              <a:spcAft>
                <a:spcPts val="0"/>
              </a:spcAft>
              <a:buSzPts val="1300"/>
              <a:buNone/>
            </a:pPr>
            <a:r>
              <a:rPr lang="ja" u="sng">
                <a:solidFill>
                  <a:schemeClr val="hlink"/>
                </a:solidFill>
                <a:highlight>
                  <a:srgbClr val="FFFFFF"/>
                </a:highlight>
                <a:latin typeface="Arial"/>
                <a:ea typeface="Arial"/>
                <a:cs typeface="Arial"/>
                <a:sym typeface="Arial"/>
                <a:hlinkClick r:id="rId5"/>
              </a:rPr>
              <a:t>https://www.mhlw.go.jp/content/12301000/001242315.docx</a:t>
            </a:r>
            <a:endParaRPr>
              <a:solidFill>
                <a:schemeClr val="dk2"/>
              </a:solidFill>
              <a:highlight>
                <a:srgbClr val="FFFFFF"/>
              </a:highlight>
              <a:latin typeface="Arial"/>
              <a:ea typeface="Arial"/>
              <a:cs typeface="Arial"/>
              <a:sym typeface="Arial"/>
            </a:endParaRPr>
          </a:p>
          <a:p>
            <a:pPr indent="0" lvl="0" marL="0" rtl="0" algn="l">
              <a:lnSpc>
                <a:spcPct val="115000"/>
              </a:lnSpc>
              <a:spcBef>
                <a:spcPts val="0"/>
              </a:spcBef>
              <a:spcAft>
                <a:spcPts val="0"/>
              </a:spcAft>
              <a:buSzPts val="1300"/>
              <a:buNone/>
            </a:pPr>
            <a:r>
              <a:t/>
            </a:r>
            <a:endParaRPr>
              <a:solidFill>
                <a:schemeClr val="dk2"/>
              </a:solidFill>
              <a:highlight>
                <a:srgbClr val="FFFFFF"/>
              </a:highlight>
              <a:latin typeface="Arial"/>
              <a:ea typeface="Arial"/>
              <a:cs typeface="Arial"/>
              <a:sym typeface="Arial"/>
            </a:endParaRPr>
          </a:p>
          <a:p>
            <a:pPr indent="0" lvl="0" marL="0" rtl="0" algn="r">
              <a:lnSpc>
                <a:spcPct val="115000"/>
              </a:lnSpc>
              <a:spcBef>
                <a:spcPts val="0"/>
              </a:spcBef>
              <a:spcAft>
                <a:spcPts val="0"/>
              </a:spcAft>
              <a:buSzPts val="1300"/>
              <a:buNone/>
            </a:pPr>
            <a:r>
              <a:rPr lang="ja">
                <a:solidFill>
                  <a:schemeClr val="dk2"/>
                </a:solidFill>
              </a:rPr>
              <a:t>参考元：</a:t>
            </a:r>
            <a:r>
              <a:rPr lang="ja" u="sng">
                <a:solidFill>
                  <a:schemeClr val="accent5"/>
                </a:solidFill>
                <a:hlinkClick r:id="rId6">
                  <a:extLst>
                    <a:ext uri="{A12FA001-AC4F-418D-AE19-62706E023703}">
                      <ahyp:hlinkClr val="tx"/>
                    </a:ext>
                  </a:extLst>
                </a:hlinkClick>
              </a:rPr>
              <a:t>https://rehab.cloud/mag/15660</a:t>
            </a:r>
            <a:endParaRPr>
              <a:solidFill>
                <a:schemeClr val="dk2"/>
              </a:solidFill>
              <a:highlight>
                <a:srgbClr val="FFFFFF"/>
              </a:highlight>
              <a:latin typeface="Arial"/>
              <a:ea typeface="Arial"/>
              <a:cs typeface="Arial"/>
              <a:sym typeface="Arial"/>
            </a:endParaRPr>
          </a:p>
        </p:txBody>
      </p:sp>
      <p:sp>
        <p:nvSpPr>
          <p:cNvPr id="198" name="Google Shape;198;g39b037d6f7e_4_4"/>
          <p:cNvSpPr txBox="1"/>
          <p:nvPr>
            <p:ph idx="3" type="title"/>
          </p:nvPr>
        </p:nvSpPr>
        <p:spPr>
          <a:xfrm>
            <a:off x="4643600" y="643700"/>
            <a:ext cx="3774300" cy="53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ja" sz="2140"/>
              <a:t>DBD13とは</a:t>
            </a:r>
            <a:endParaRPr sz="2140"/>
          </a:p>
        </p:txBody>
      </p:sp>
      <p:sp>
        <p:nvSpPr>
          <p:cNvPr id="199" name="Google Shape;199;g39b037d6f7e_4_4"/>
          <p:cNvSpPr txBox="1"/>
          <p:nvPr/>
        </p:nvSpPr>
        <p:spPr>
          <a:xfrm>
            <a:off x="8602500" y="4632900"/>
            <a:ext cx="5415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12</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85e11747a1_3_35"/>
          <p:cNvSpPr txBox="1"/>
          <p:nvPr>
            <p:ph type="title"/>
          </p:nvPr>
        </p:nvSpPr>
        <p:spPr>
          <a:xfrm>
            <a:off x="500850" y="709050"/>
            <a:ext cx="37743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機能一覧</a:t>
            </a:r>
            <a:endParaRPr/>
          </a:p>
        </p:txBody>
      </p:sp>
      <p:sp>
        <p:nvSpPr>
          <p:cNvPr id="205" name="Google Shape;205;g385e11747a1_3_35"/>
          <p:cNvSpPr txBox="1"/>
          <p:nvPr>
            <p:ph idx="1" type="body"/>
          </p:nvPr>
        </p:nvSpPr>
        <p:spPr>
          <a:xfrm>
            <a:off x="0" y="1552800"/>
            <a:ext cx="4453800" cy="2885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rgbClr val="000000"/>
              </a:buClr>
              <a:buSzPts val="1100"/>
              <a:buFont typeface="Arial"/>
              <a:buChar char="●"/>
            </a:pPr>
            <a:r>
              <a:rPr b="1" lang="ja" sz="1100">
                <a:solidFill>
                  <a:srgbClr val="000000"/>
                </a:solidFill>
                <a:latin typeface="Arial"/>
                <a:ea typeface="Arial"/>
                <a:cs typeface="Arial"/>
                <a:sym typeface="Arial"/>
              </a:rPr>
              <a:t>対象者ページ作成</a:t>
            </a:r>
            <a:endParaRPr b="1" sz="1100">
              <a:solidFill>
                <a:srgbClr val="000000"/>
              </a:solidFill>
              <a:latin typeface="Arial"/>
              <a:ea typeface="Arial"/>
              <a:cs typeface="Arial"/>
              <a:sym typeface="Arial"/>
            </a:endParaRPr>
          </a:p>
          <a:p>
            <a:pPr indent="0" lvl="0" marL="457200" rtl="0" algn="l">
              <a:lnSpc>
                <a:spcPct val="115000"/>
              </a:lnSpc>
              <a:spcBef>
                <a:spcPts val="0"/>
              </a:spcBef>
              <a:spcAft>
                <a:spcPts val="0"/>
              </a:spcAft>
              <a:buSzPts val="1300"/>
              <a:buNone/>
            </a:pPr>
            <a:r>
              <a:rPr lang="ja" sz="1100">
                <a:solidFill>
                  <a:srgbClr val="000000"/>
                </a:solidFill>
                <a:latin typeface="Arial"/>
                <a:ea typeface="Arial"/>
                <a:cs typeface="Arial"/>
                <a:sym typeface="Arial"/>
              </a:rPr>
              <a:t>対象者の情報を入力し対象者詳細ページを作成する。</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SzPts val="1300"/>
              <a:buNone/>
            </a:pPr>
            <a:r>
              <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Char char="●"/>
            </a:pPr>
            <a:r>
              <a:rPr b="1" lang="ja" sz="1100">
                <a:solidFill>
                  <a:srgbClr val="000000"/>
                </a:solidFill>
              </a:rPr>
              <a:t>認知症状態評価</a:t>
            </a:r>
            <a:endParaRPr b="1" sz="1100">
              <a:solidFill>
                <a:srgbClr val="000000"/>
              </a:solidFill>
            </a:endParaRPr>
          </a:p>
          <a:p>
            <a:pPr indent="457200" lvl="0" marL="0" rtl="0" algn="l">
              <a:lnSpc>
                <a:spcPct val="115000"/>
              </a:lnSpc>
              <a:spcBef>
                <a:spcPts val="0"/>
              </a:spcBef>
              <a:spcAft>
                <a:spcPts val="0"/>
              </a:spcAft>
              <a:buSzPts val="1300"/>
              <a:buNone/>
            </a:pPr>
            <a:r>
              <a:rPr lang="ja" sz="1100">
                <a:solidFill>
                  <a:srgbClr val="000000"/>
                </a:solidFill>
              </a:rPr>
              <a:t>DASC-21・DBD13に回答し、</a:t>
            </a:r>
            <a:endParaRPr sz="1100">
              <a:solidFill>
                <a:srgbClr val="000000"/>
              </a:solidFill>
            </a:endParaRPr>
          </a:p>
          <a:p>
            <a:pPr indent="457200" lvl="0" marL="0" rtl="0" algn="l">
              <a:lnSpc>
                <a:spcPct val="115000"/>
              </a:lnSpc>
              <a:spcBef>
                <a:spcPts val="0"/>
              </a:spcBef>
              <a:spcAft>
                <a:spcPts val="0"/>
              </a:spcAft>
              <a:buSzPts val="1300"/>
              <a:buNone/>
            </a:pPr>
            <a:r>
              <a:rPr lang="ja" sz="1100">
                <a:solidFill>
                  <a:srgbClr val="000000"/>
                </a:solidFill>
              </a:rPr>
              <a:t>対象者の認知症の状態を評価する。</a:t>
            </a:r>
            <a:endParaRPr sz="1100">
              <a:solidFill>
                <a:srgbClr val="000000"/>
              </a:solidFill>
            </a:endParaRPr>
          </a:p>
          <a:p>
            <a:pPr indent="0" lvl="0" marL="457200" rtl="0" algn="l">
              <a:lnSpc>
                <a:spcPct val="115000"/>
              </a:lnSpc>
              <a:spcBef>
                <a:spcPts val="0"/>
              </a:spcBef>
              <a:spcAft>
                <a:spcPts val="0"/>
              </a:spcAft>
              <a:buSzPts val="1300"/>
              <a:buNone/>
            </a:pPr>
            <a:r>
              <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ja" sz="1100">
                <a:solidFill>
                  <a:srgbClr val="000000"/>
                </a:solidFill>
              </a:rPr>
              <a:t>支援方針検討</a:t>
            </a:r>
            <a:endParaRPr b="1" sz="1100">
              <a:solidFill>
                <a:srgbClr val="000000"/>
              </a:solidFill>
            </a:endParaRPr>
          </a:p>
          <a:p>
            <a:pPr indent="0" lvl="0" marL="457200" rtl="0" algn="l">
              <a:lnSpc>
                <a:spcPct val="115000"/>
              </a:lnSpc>
              <a:spcBef>
                <a:spcPts val="0"/>
              </a:spcBef>
              <a:spcAft>
                <a:spcPts val="0"/>
              </a:spcAft>
              <a:buSzPts val="1300"/>
              <a:buNone/>
            </a:pPr>
            <a:r>
              <a:rPr lang="ja" sz="1100">
                <a:solidFill>
                  <a:srgbClr val="000000"/>
                </a:solidFill>
              </a:rPr>
              <a:t>テキストマイニングを用いて</a:t>
            </a:r>
            <a:r>
              <a:rPr lang="ja" sz="1100">
                <a:solidFill>
                  <a:schemeClr val="dk2"/>
                </a:solidFill>
              </a:rPr>
              <a:t>類似ケース検索</a:t>
            </a:r>
            <a:r>
              <a:rPr lang="ja" sz="1100">
                <a:solidFill>
                  <a:schemeClr val="dk2"/>
                </a:solidFill>
              </a:rPr>
              <a:t>を</a:t>
            </a:r>
            <a:r>
              <a:rPr lang="ja" sz="1100">
                <a:solidFill>
                  <a:schemeClr val="dk2"/>
                </a:solidFill>
              </a:rPr>
              <a:t>行う。</a:t>
            </a:r>
            <a:endParaRPr sz="1100">
              <a:solidFill>
                <a:schemeClr val="dk2"/>
              </a:solidFill>
            </a:endParaRPr>
          </a:p>
          <a:p>
            <a:pPr indent="0" lvl="0" marL="457200" rtl="0" algn="l">
              <a:lnSpc>
                <a:spcPct val="115000"/>
              </a:lnSpc>
              <a:spcBef>
                <a:spcPts val="0"/>
              </a:spcBef>
              <a:spcAft>
                <a:spcPts val="0"/>
              </a:spcAft>
              <a:buSzPts val="1300"/>
              <a:buNone/>
            </a:pPr>
            <a:r>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b="1" lang="ja" sz="1100">
                <a:solidFill>
                  <a:schemeClr val="dk2"/>
                </a:solidFill>
              </a:rPr>
              <a:t>帳簿Excel作成</a:t>
            </a:r>
            <a:endParaRPr b="1" sz="1100">
              <a:solidFill>
                <a:schemeClr val="dk2"/>
              </a:solidFill>
            </a:endParaRPr>
          </a:p>
          <a:p>
            <a:pPr indent="0" lvl="0" marL="457200" rtl="0" algn="l">
              <a:lnSpc>
                <a:spcPct val="115000"/>
              </a:lnSpc>
              <a:spcBef>
                <a:spcPts val="0"/>
              </a:spcBef>
              <a:spcAft>
                <a:spcPts val="0"/>
              </a:spcAft>
              <a:buSzPts val="1300"/>
              <a:buNone/>
            </a:pPr>
            <a:r>
              <a:rPr lang="ja" sz="1100">
                <a:solidFill>
                  <a:srgbClr val="000000"/>
                </a:solidFill>
                <a:latin typeface="Arial"/>
                <a:ea typeface="Arial"/>
                <a:cs typeface="Arial"/>
                <a:sym typeface="Arial"/>
              </a:rPr>
              <a:t>システムに入力した帳簿類をExcelファイルに</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SzPts val="1300"/>
              <a:buNone/>
            </a:pPr>
            <a:r>
              <a:rPr lang="ja" sz="1100">
                <a:solidFill>
                  <a:srgbClr val="000000"/>
                </a:solidFill>
                <a:latin typeface="Arial"/>
                <a:ea typeface="Arial"/>
                <a:cs typeface="Arial"/>
                <a:sym typeface="Arial"/>
              </a:rPr>
              <a:t>変換</a:t>
            </a:r>
            <a:r>
              <a:rPr lang="ja" sz="1100">
                <a:solidFill>
                  <a:srgbClr val="000000"/>
                </a:solidFill>
                <a:latin typeface="Arial"/>
                <a:ea typeface="Arial"/>
                <a:cs typeface="Arial"/>
                <a:sym typeface="Arial"/>
              </a:rPr>
              <a:t>し、対象者ごとのフォルダに収納。</a:t>
            </a:r>
            <a:endParaRPr sz="1100">
              <a:solidFill>
                <a:schemeClr val="dk2"/>
              </a:solidFill>
            </a:endParaRPr>
          </a:p>
          <a:p>
            <a:pPr indent="0" lvl="0" marL="0" rtl="0" algn="l">
              <a:lnSpc>
                <a:spcPct val="115000"/>
              </a:lnSpc>
              <a:spcBef>
                <a:spcPts val="0"/>
              </a:spcBef>
              <a:spcAft>
                <a:spcPts val="0"/>
              </a:spcAft>
              <a:buSzPts val="1300"/>
              <a:buNone/>
            </a:pPr>
            <a:r>
              <a:t/>
            </a:r>
            <a:endParaRPr sz="1100">
              <a:solidFill>
                <a:srgbClr val="000000"/>
              </a:solidFill>
              <a:latin typeface="Arial"/>
              <a:ea typeface="Arial"/>
              <a:cs typeface="Arial"/>
              <a:sym typeface="Arial"/>
            </a:endParaRPr>
          </a:p>
        </p:txBody>
      </p:sp>
      <p:sp>
        <p:nvSpPr>
          <p:cNvPr id="206" name="Google Shape;206;g385e11747a1_3_35"/>
          <p:cNvSpPr txBox="1"/>
          <p:nvPr>
            <p:ph idx="3" type="title"/>
          </p:nvPr>
        </p:nvSpPr>
        <p:spPr>
          <a:xfrm>
            <a:off x="3985125" y="709050"/>
            <a:ext cx="37743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システム構成図</a:t>
            </a:r>
            <a:endParaRPr/>
          </a:p>
        </p:txBody>
      </p:sp>
      <p:pic>
        <p:nvPicPr>
          <p:cNvPr id="207" name="Google Shape;207;g385e11747a1_3_35"/>
          <p:cNvPicPr preferRelativeResize="0"/>
          <p:nvPr/>
        </p:nvPicPr>
        <p:blipFill rotWithShape="1">
          <a:blip r:embed="rId3">
            <a:alphaModFix/>
          </a:blip>
          <a:srcRect b="0" l="0" r="0" t="0"/>
          <a:stretch/>
        </p:blipFill>
        <p:spPr>
          <a:xfrm>
            <a:off x="4453875" y="2621407"/>
            <a:ext cx="4665598" cy="2353842"/>
          </a:xfrm>
          <a:prstGeom prst="rect">
            <a:avLst/>
          </a:prstGeom>
          <a:noFill/>
          <a:ln>
            <a:noFill/>
          </a:ln>
        </p:spPr>
      </p:pic>
      <p:sp>
        <p:nvSpPr>
          <p:cNvPr id="208" name="Google Shape;208;g385e11747a1_3_35"/>
          <p:cNvSpPr txBox="1"/>
          <p:nvPr/>
        </p:nvSpPr>
        <p:spPr>
          <a:xfrm>
            <a:off x="5911050" y="2545332"/>
            <a:ext cx="1377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dk2"/>
                </a:solidFill>
                <a:latin typeface="Lato"/>
                <a:ea typeface="Lato"/>
                <a:cs typeface="Lato"/>
                <a:sym typeface="Lato"/>
              </a:rPr>
              <a:t>( HTML , JavaScript)</a:t>
            </a:r>
            <a:endParaRPr b="1" i="0" sz="1000" u="none" cap="none" strike="noStrike">
              <a:solidFill>
                <a:schemeClr val="accent1"/>
              </a:solidFill>
              <a:latin typeface="Lato"/>
              <a:ea typeface="Lato"/>
              <a:cs typeface="Lato"/>
              <a:sym typeface="Lato"/>
            </a:endParaRPr>
          </a:p>
        </p:txBody>
      </p:sp>
      <p:sp>
        <p:nvSpPr>
          <p:cNvPr id="209" name="Google Shape;209;g385e11747a1_3_35"/>
          <p:cNvSpPr txBox="1"/>
          <p:nvPr/>
        </p:nvSpPr>
        <p:spPr>
          <a:xfrm>
            <a:off x="6211650" y="4795132"/>
            <a:ext cx="7761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dk2"/>
                </a:solidFill>
                <a:latin typeface="Lato"/>
                <a:ea typeface="Lato"/>
                <a:cs typeface="Lato"/>
                <a:sym typeface="Lato"/>
              </a:rPr>
              <a:t>(MySQL)</a:t>
            </a:r>
            <a:endParaRPr b="1" i="0" sz="1000" u="none" cap="none" strike="noStrike">
              <a:solidFill>
                <a:schemeClr val="accent1"/>
              </a:solidFill>
              <a:latin typeface="Lato"/>
              <a:ea typeface="Lato"/>
              <a:cs typeface="Lato"/>
              <a:sym typeface="Lato"/>
            </a:endParaRPr>
          </a:p>
        </p:txBody>
      </p:sp>
      <p:pic>
        <p:nvPicPr>
          <p:cNvPr id="210" name="Google Shape;210;g385e11747a1_3_35"/>
          <p:cNvPicPr preferRelativeResize="0"/>
          <p:nvPr/>
        </p:nvPicPr>
        <p:blipFill rotWithShape="1">
          <a:blip r:embed="rId4">
            <a:alphaModFix/>
          </a:blip>
          <a:srcRect b="0" l="0" r="0" t="0"/>
          <a:stretch/>
        </p:blipFill>
        <p:spPr>
          <a:xfrm>
            <a:off x="6209125" y="1205897"/>
            <a:ext cx="695200" cy="582303"/>
          </a:xfrm>
          <a:prstGeom prst="rect">
            <a:avLst/>
          </a:prstGeom>
          <a:noFill/>
          <a:ln>
            <a:noFill/>
          </a:ln>
        </p:spPr>
      </p:pic>
      <p:pic>
        <p:nvPicPr>
          <p:cNvPr id="211" name="Google Shape;211;g385e11747a1_3_35"/>
          <p:cNvPicPr preferRelativeResize="0"/>
          <p:nvPr/>
        </p:nvPicPr>
        <p:blipFill rotWithShape="1">
          <a:blip r:embed="rId5">
            <a:alphaModFix/>
          </a:blip>
          <a:srcRect b="0" l="0" r="0" t="0"/>
          <a:stretch/>
        </p:blipFill>
        <p:spPr>
          <a:xfrm>
            <a:off x="6392775" y="2141075"/>
            <a:ext cx="327900" cy="443620"/>
          </a:xfrm>
          <a:prstGeom prst="rect">
            <a:avLst/>
          </a:prstGeom>
          <a:noFill/>
          <a:ln>
            <a:noFill/>
          </a:ln>
        </p:spPr>
      </p:pic>
      <p:sp>
        <p:nvSpPr>
          <p:cNvPr id="212" name="Google Shape;212;g385e11747a1_3_35"/>
          <p:cNvSpPr txBox="1"/>
          <p:nvPr/>
        </p:nvSpPr>
        <p:spPr>
          <a:xfrm>
            <a:off x="5651250" y="1751225"/>
            <a:ext cx="1896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dk2"/>
                </a:solidFill>
                <a:latin typeface="Lato"/>
                <a:ea typeface="Lato"/>
                <a:cs typeface="Lato"/>
                <a:sym typeface="Lato"/>
              </a:rPr>
              <a:t>基幹型地域包括支援センター</a:t>
            </a:r>
            <a:endParaRPr b="1" i="0" sz="1000" u="none" cap="none" strike="noStrike">
              <a:solidFill>
                <a:schemeClr val="dk2"/>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dk2"/>
                </a:solidFill>
                <a:latin typeface="Lato"/>
                <a:ea typeface="Lato"/>
                <a:cs typeface="Lato"/>
                <a:sym typeface="Lato"/>
              </a:rPr>
              <a:t>（自治体）</a:t>
            </a:r>
            <a:endParaRPr b="1" i="0" sz="1000" u="none" cap="none" strike="noStrike">
              <a:solidFill>
                <a:schemeClr val="dk2"/>
              </a:solidFill>
              <a:latin typeface="Lato"/>
              <a:ea typeface="Lato"/>
              <a:cs typeface="Lato"/>
              <a:sym typeface="Lato"/>
            </a:endParaRPr>
          </a:p>
        </p:txBody>
      </p:sp>
      <p:sp>
        <p:nvSpPr>
          <p:cNvPr id="213" name="Google Shape;213;g385e11747a1_3_35"/>
          <p:cNvSpPr txBox="1"/>
          <p:nvPr/>
        </p:nvSpPr>
        <p:spPr>
          <a:xfrm>
            <a:off x="8626550" y="4632900"/>
            <a:ext cx="541500" cy="51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chemeClr val="accent1"/>
                </a:solidFill>
                <a:latin typeface="Lato"/>
                <a:ea typeface="Lato"/>
                <a:cs typeface="Lato"/>
                <a:sym typeface="Lato"/>
              </a:rPr>
              <a:t>13</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aab28b5710_1_5"/>
          <p:cNvSpPr txBox="1"/>
          <p:nvPr>
            <p:ph type="title"/>
          </p:nvPr>
        </p:nvSpPr>
        <p:spPr>
          <a:xfrm>
            <a:off x="683100" y="615850"/>
            <a:ext cx="37743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利用者基本情報</a:t>
            </a:r>
            <a:endParaRPr/>
          </a:p>
        </p:txBody>
      </p:sp>
      <p:sp>
        <p:nvSpPr>
          <p:cNvPr id="219" name="Google Shape;219;g3aab28b5710_1_5"/>
          <p:cNvSpPr txBox="1"/>
          <p:nvPr>
            <p:ph idx="1" type="body"/>
          </p:nvPr>
        </p:nvSpPr>
        <p:spPr>
          <a:xfrm>
            <a:off x="729325" y="1543750"/>
            <a:ext cx="3774300" cy="23556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ja"/>
              <a:t>[作成担当者]</a:t>
            </a:r>
            <a:endParaRPr/>
          </a:p>
          <a:p>
            <a:pPr indent="0" lvl="0" marL="0" rtl="0" algn="l">
              <a:lnSpc>
                <a:spcPct val="115000"/>
              </a:lnSpc>
              <a:spcBef>
                <a:spcPts val="0"/>
              </a:spcBef>
              <a:spcAft>
                <a:spcPts val="0"/>
              </a:spcAft>
              <a:buSzPts val="1300"/>
              <a:buNone/>
            </a:pPr>
            <a:r>
              <a:rPr lang="ja"/>
              <a:t>[相談日]</a:t>
            </a:r>
            <a:endParaRPr/>
          </a:p>
          <a:p>
            <a:pPr indent="0" lvl="0" marL="0" rtl="0" algn="l">
              <a:lnSpc>
                <a:spcPct val="115000"/>
              </a:lnSpc>
              <a:spcBef>
                <a:spcPts val="0"/>
              </a:spcBef>
              <a:spcAft>
                <a:spcPts val="0"/>
              </a:spcAft>
              <a:buSzPts val="1300"/>
              <a:buNone/>
            </a:pPr>
            <a:r>
              <a:rPr lang="ja"/>
              <a:t>[本人の現状]</a:t>
            </a:r>
            <a:endParaRPr/>
          </a:p>
          <a:p>
            <a:pPr indent="0" lvl="0" marL="0" rtl="0" algn="l">
              <a:lnSpc>
                <a:spcPct val="115000"/>
              </a:lnSpc>
              <a:spcBef>
                <a:spcPts val="0"/>
              </a:spcBef>
              <a:spcAft>
                <a:spcPts val="0"/>
              </a:spcAft>
              <a:buSzPts val="1300"/>
              <a:buNone/>
            </a:pPr>
            <a:r>
              <a:rPr lang="ja"/>
              <a:t>[本人氏名]</a:t>
            </a:r>
            <a:endParaRPr/>
          </a:p>
          <a:p>
            <a:pPr indent="0" lvl="0" marL="0" rtl="0" algn="l">
              <a:lnSpc>
                <a:spcPct val="115000"/>
              </a:lnSpc>
              <a:spcBef>
                <a:spcPts val="0"/>
              </a:spcBef>
              <a:spcAft>
                <a:spcPts val="0"/>
              </a:spcAft>
              <a:buSzPts val="1300"/>
              <a:buNone/>
            </a:pPr>
            <a:r>
              <a:rPr lang="ja"/>
              <a:t>[性別]</a:t>
            </a:r>
            <a:endParaRPr/>
          </a:p>
          <a:p>
            <a:pPr indent="0" lvl="0" marL="0" rtl="0" algn="l">
              <a:lnSpc>
                <a:spcPct val="115000"/>
              </a:lnSpc>
              <a:spcBef>
                <a:spcPts val="0"/>
              </a:spcBef>
              <a:spcAft>
                <a:spcPts val="0"/>
              </a:spcAft>
              <a:buSzPts val="1300"/>
              <a:buNone/>
            </a:pPr>
            <a:r>
              <a:rPr lang="ja"/>
              <a:t>[住居環境]</a:t>
            </a:r>
            <a:endParaRPr/>
          </a:p>
          <a:p>
            <a:pPr indent="0" lvl="0" marL="0" rtl="0" algn="l">
              <a:lnSpc>
                <a:spcPct val="115000"/>
              </a:lnSpc>
              <a:spcBef>
                <a:spcPts val="0"/>
              </a:spcBef>
              <a:spcAft>
                <a:spcPts val="0"/>
              </a:spcAft>
              <a:buSzPts val="1300"/>
              <a:buNone/>
            </a:pPr>
            <a:r>
              <a:rPr lang="ja"/>
              <a:t>[経済状況]</a:t>
            </a:r>
            <a:endParaRPr/>
          </a:p>
          <a:p>
            <a:pPr indent="0" lvl="0" marL="0" rtl="0" algn="l">
              <a:lnSpc>
                <a:spcPct val="115000"/>
              </a:lnSpc>
              <a:spcBef>
                <a:spcPts val="0"/>
              </a:spcBef>
              <a:spcAft>
                <a:spcPts val="0"/>
              </a:spcAft>
              <a:buSzPts val="1300"/>
              <a:buNone/>
            </a:pPr>
            <a:r>
              <a:rPr lang="ja"/>
              <a:t>[家族構成]</a:t>
            </a:r>
            <a:endParaRPr/>
          </a:p>
          <a:p>
            <a:pPr indent="0" lvl="0" marL="0" rtl="0" algn="l">
              <a:lnSpc>
                <a:spcPct val="115000"/>
              </a:lnSpc>
              <a:spcBef>
                <a:spcPts val="0"/>
              </a:spcBef>
              <a:spcAft>
                <a:spcPts val="0"/>
              </a:spcAft>
              <a:buSzPts val="1300"/>
              <a:buNone/>
            </a:pPr>
            <a:r>
              <a:rPr lang="ja"/>
              <a:t>[本人との続柄]</a:t>
            </a:r>
            <a:endParaRPr/>
          </a:p>
          <a:p>
            <a:pPr indent="0" lvl="0" marL="0" rtl="0" algn="l">
              <a:lnSpc>
                <a:spcPct val="115000"/>
              </a:lnSpc>
              <a:spcBef>
                <a:spcPts val="0"/>
              </a:spcBef>
              <a:spcAft>
                <a:spcPts val="0"/>
              </a:spcAft>
              <a:buSzPts val="1300"/>
              <a:buNone/>
            </a:pPr>
            <a:r>
              <a:rPr lang="ja"/>
              <a:t>など</a:t>
            </a:r>
            <a:endParaRPr/>
          </a:p>
        </p:txBody>
      </p:sp>
      <p:sp>
        <p:nvSpPr>
          <p:cNvPr id="220" name="Google Shape;220;g3aab28b5710_1_5"/>
          <p:cNvSpPr txBox="1"/>
          <p:nvPr>
            <p:ph idx="2" type="body"/>
          </p:nvPr>
        </p:nvSpPr>
        <p:spPr>
          <a:xfrm>
            <a:off x="4643600" y="1543750"/>
            <a:ext cx="3774300" cy="226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ja"/>
              <a:t>[訪問日時]</a:t>
            </a:r>
            <a:endParaRPr/>
          </a:p>
          <a:p>
            <a:pPr indent="0" lvl="0" marL="0" rtl="0" algn="l">
              <a:lnSpc>
                <a:spcPct val="115000"/>
              </a:lnSpc>
              <a:spcBef>
                <a:spcPts val="0"/>
              </a:spcBef>
              <a:spcAft>
                <a:spcPts val="0"/>
              </a:spcAft>
              <a:buSzPts val="1300"/>
              <a:buNone/>
            </a:pPr>
            <a:r>
              <a:rPr lang="ja"/>
              <a:t>[訪問者氏名]</a:t>
            </a:r>
            <a:endParaRPr/>
          </a:p>
          <a:p>
            <a:pPr indent="0" lvl="0" marL="0" rtl="0" algn="l">
              <a:lnSpc>
                <a:spcPct val="115000"/>
              </a:lnSpc>
              <a:spcBef>
                <a:spcPts val="0"/>
              </a:spcBef>
              <a:spcAft>
                <a:spcPts val="0"/>
              </a:spcAft>
              <a:buSzPts val="1300"/>
              <a:buNone/>
            </a:pPr>
            <a:r>
              <a:rPr lang="ja"/>
              <a:t>[訪問目的]</a:t>
            </a:r>
            <a:endParaRPr/>
          </a:p>
          <a:p>
            <a:pPr indent="0" lvl="0" marL="0" rtl="0" algn="l">
              <a:lnSpc>
                <a:spcPct val="115000"/>
              </a:lnSpc>
              <a:spcBef>
                <a:spcPts val="0"/>
              </a:spcBef>
              <a:spcAft>
                <a:spcPts val="0"/>
              </a:spcAft>
              <a:buSzPts val="1300"/>
              <a:buNone/>
            </a:pPr>
            <a:r>
              <a:rPr lang="ja"/>
              <a:t>[訪問に対する本人の反応・理解]</a:t>
            </a:r>
            <a:endParaRPr/>
          </a:p>
          <a:p>
            <a:pPr indent="0" lvl="0" marL="0" rtl="0" algn="l">
              <a:lnSpc>
                <a:spcPct val="115000"/>
              </a:lnSpc>
              <a:spcBef>
                <a:spcPts val="0"/>
              </a:spcBef>
              <a:spcAft>
                <a:spcPts val="0"/>
              </a:spcAft>
              <a:buSzPts val="1300"/>
              <a:buNone/>
            </a:pPr>
            <a:r>
              <a:rPr lang="ja"/>
              <a:t>[認知機能]</a:t>
            </a:r>
            <a:endParaRPr/>
          </a:p>
          <a:p>
            <a:pPr indent="0" lvl="0" marL="0" rtl="0" algn="l">
              <a:lnSpc>
                <a:spcPct val="115000"/>
              </a:lnSpc>
              <a:spcBef>
                <a:spcPts val="0"/>
              </a:spcBef>
              <a:spcAft>
                <a:spcPts val="0"/>
              </a:spcAft>
              <a:buSzPts val="1300"/>
              <a:buNone/>
            </a:pPr>
            <a:r>
              <a:rPr lang="ja"/>
              <a:t>[精神症状・行動症状]</a:t>
            </a:r>
            <a:endParaRPr/>
          </a:p>
          <a:p>
            <a:pPr indent="0" lvl="0" marL="0" rtl="0" algn="l">
              <a:lnSpc>
                <a:spcPct val="115000"/>
              </a:lnSpc>
              <a:spcBef>
                <a:spcPts val="0"/>
              </a:spcBef>
              <a:spcAft>
                <a:spcPts val="0"/>
              </a:spcAft>
              <a:buSzPts val="1300"/>
              <a:buNone/>
            </a:pPr>
            <a:r>
              <a:rPr lang="ja"/>
              <a:t>[身体状況]</a:t>
            </a:r>
            <a:endParaRPr/>
          </a:p>
          <a:p>
            <a:pPr indent="0" lvl="0" marL="0" rtl="0" algn="l">
              <a:lnSpc>
                <a:spcPct val="115000"/>
              </a:lnSpc>
              <a:spcBef>
                <a:spcPts val="0"/>
              </a:spcBef>
              <a:spcAft>
                <a:spcPts val="0"/>
              </a:spcAft>
              <a:buSzPts val="1300"/>
              <a:buNone/>
            </a:pPr>
            <a:r>
              <a:rPr lang="ja"/>
              <a:t>[運動機能・立ち上がり・歩行状況]</a:t>
            </a:r>
            <a:endParaRPr/>
          </a:p>
          <a:p>
            <a:pPr indent="0" lvl="0" marL="0" rtl="0" algn="l">
              <a:lnSpc>
                <a:spcPct val="115000"/>
              </a:lnSpc>
              <a:spcBef>
                <a:spcPts val="0"/>
              </a:spcBef>
              <a:spcAft>
                <a:spcPts val="0"/>
              </a:spcAft>
              <a:buSzPts val="1300"/>
              <a:buNone/>
            </a:pPr>
            <a:r>
              <a:rPr lang="ja"/>
              <a:t>など</a:t>
            </a:r>
            <a:endParaRPr/>
          </a:p>
        </p:txBody>
      </p:sp>
      <p:sp>
        <p:nvSpPr>
          <p:cNvPr id="221" name="Google Shape;221;g3aab28b5710_1_5"/>
          <p:cNvSpPr txBox="1"/>
          <p:nvPr>
            <p:ph idx="3" type="title"/>
          </p:nvPr>
        </p:nvSpPr>
        <p:spPr>
          <a:xfrm>
            <a:off x="4643600" y="615850"/>
            <a:ext cx="37743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訪問記録表</a:t>
            </a:r>
            <a:endParaRPr/>
          </a:p>
        </p:txBody>
      </p:sp>
      <p:sp>
        <p:nvSpPr>
          <p:cNvPr id="222" name="Google Shape;222;g3aab28b5710_1_5"/>
          <p:cNvSpPr txBox="1"/>
          <p:nvPr/>
        </p:nvSpPr>
        <p:spPr>
          <a:xfrm>
            <a:off x="478825" y="3806600"/>
            <a:ext cx="3575700" cy="14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accent1"/>
                </a:solidFill>
                <a:latin typeface="Lato"/>
                <a:ea typeface="Lato"/>
                <a:cs typeface="Lato"/>
                <a:sym typeface="Lato"/>
              </a:rPr>
              <a:t>利用者基本情報では、対象者の家族が最初に相談に来た際に記入する初回相談票を想定しています。</a:t>
            </a:r>
            <a:endParaRPr b="0" i="0" sz="1300" u="none" cap="none" strike="noStrike">
              <a:solidFill>
                <a:schemeClr val="accent1"/>
              </a:solidFill>
              <a:latin typeface="Lato"/>
              <a:ea typeface="Lato"/>
              <a:cs typeface="Lato"/>
              <a:sym typeface="Lato"/>
            </a:endParaRPr>
          </a:p>
        </p:txBody>
      </p:sp>
      <p:sp>
        <p:nvSpPr>
          <p:cNvPr id="223" name="Google Shape;223;g3aab28b5710_1_5"/>
          <p:cNvSpPr txBox="1"/>
          <p:nvPr/>
        </p:nvSpPr>
        <p:spPr>
          <a:xfrm>
            <a:off x="4457400" y="3806600"/>
            <a:ext cx="3575700" cy="14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accent1"/>
                </a:solidFill>
                <a:latin typeface="Lato"/>
                <a:ea typeface="Lato"/>
                <a:cs typeface="Lato"/>
                <a:sym typeface="Lato"/>
              </a:rPr>
              <a:t>訪問記録表では、認知症初期集中支援チームの職員が対象者の自宅を訪問した時際の監察結果や聞き取り内容・支援状況を入力します</a:t>
            </a:r>
            <a:endParaRPr b="0" i="0" sz="1300" u="none" cap="none" strike="noStrike">
              <a:solidFill>
                <a:schemeClr val="accent1"/>
              </a:solidFill>
              <a:latin typeface="Lato"/>
              <a:ea typeface="Lato"/>
              <a:cs typeface="Lato"/>
              <a:sym typeface="Lato"/>
            </a:endParaRPr>
          </a:p>
        </p:txBody>
      </p:sp>
      <p:sp>
        <p:nvSpPr>
          <p:cNvPr id="224" name="Google Shape;224;g3aab28b5710_1_5"/>
          <p:cNvSpPr txBox="1"/>
          <p:nvPr>
            <p:ph idx="12" type="sldNum"/>
          </p:nvPr>
        </p:nvSpPr>
        <p:spPr>
          <a:xfrm>
            <a:off x="8595302" y="474990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aa6b16614f_0_16"/>
          <p:cNvSpPr txBox="1"/>
          <p:nvPr>
            <p:ph type="title"/>
          </p:nvPr>
        </p:nvSpPr>
        <p:spPr>
          <a:xfrm>
            <a:off x="544100" y="600425"/>
            <a:ext cx="37743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000000"/>
              </a:buClr>
              <a:buSzPct val="111111"/>
              <a:buFont typeface="Arial"/>
              <a:buNone/>
            </a:pPr>
            <a:r>
              <a:rPr lang="ja"/>
              <a:t>DASC-21の入力データ</a:t>
            </a:r>
            <a:endParaRPr/>
          </a:p>
          <a:p>
            <a:pPr indent="0" lvl="0" marL="0" rtl="0" algn="l">
              <a:lnSpc>
                <a:spcPct val="100000"/>
              </a:lnSpc>
              <a:spcBef>
                <a:spcPts val="0"/>
              </a:spcBef>
              <a:spcAft>
                <a:spcPts val="0"/>
              </a:spcAft>
              <a:buSzPct val="111111"/>
              <a:buNone/>
            </a:pPr>
            <a:r>
              <a:t/>
            </a:r>
            <a:endParaRPr/>
          </a:p>
        </p:txBody>
      </p:sp>
      <p:sp>
        <p:nvSpPr>
          <p:cNvPr id="230" name="Google Shape;230;g3aa6b16614f_0_16"/>
          <p:cNvSpPr txBox="1"/>
          <p:nvPr>
            <p:ph idx="1" type="body"/>
          </p:nvPr>
        </p:nvSpPr>
        <p:spPr>
          <a:xfrm>
            <a:off x="617088" y="1717850"/>
            <a:ext cx="3774300" cy="1319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ja"/>
              <a:t>[記入日]</a:t>
            </a:r>
            <a:endParaRPr/>
          </a:p>
          <a:p>
            <a:pPr indent="0" lvl="0" marL="0" rtl="0" algn="l">
              <a:lnSpc>
                <a:spcPct val="115000"/>
              </a:lnSpc>
              <a:spcBef>
                <a:spcPts val="0"/>
              </a:spcBef>
              <a:spcAft>
                <a:spcPts val="0"/>
              </a:spcAft>
              <a:buSzPts val="1300"/>
              <a:buNone/>
            </a:pPr>
            <a:r>
              <a:rPr lang="ja"/>
              <a:t>[ご本人の氏名]</a:t>
            </a:r>
            <a:endParaRPr/>
          </a:p>
          <a:p>
            <a:pPr indent="0" lvl="0" marL="0" rtl="0" algn="l">
              <a:lnSpc>
                <a:spcPct val="115000"/>
              </a:lnSpc>
              <a:spcBef>
                <a:spcPts val="0"/>
              </a:spcBef>
              <a:spcAft>
                <a:spcPts val="0"/>
              </a:spcAft>
              <a:buSzPts val="1300"/>
              <a:buNone/>
            </a:pPr>
            <a:r>
              <a:rPr lang="ja"/>
              <a:t>[生年月日]</a:t>
            </a:r>
            <a:endParaRPr/>
          </a:p>
          <a:p>
            <a:pPr indent="0" lvl="0" marL="0" rtl="0" algn="l">
              <a:lnSpc>
                <a:spcPct val="115000"/>
              </a:lnSpc>
              <a:spcBef>
                <a:spcPts val="0"/>
              </a:spcBef>
              <a:spcAft>
                <a:spcPts val="0"/>
              </a:spcAft>
              <a:buSzPts val="1300"/>
              <a:buNone/>
            </a:pPr>
            <a:r>
              <a:rPr lang="ja"/>
              <a:t>[ご本人以外の情報提供者の氏名]</a:t>
            </a:r>
            <a:endParaRPr/>
          </a:p>
          <a:p>
            <a:pPr indent="0" lvl="0" marL="0" rtl="0" algn="l">
              <a:lnSpc>
                <a:spcPct val="115000"/>
              </a:lnSpc>
              <a:spcBef>
                <a:spcPts val="0"/>
              </a:spcBef>
              <a:spcAft>
                <a:spcPts val="0"/>
              </a:spcAft>
              <a:buSzPts val="1300"/>
              <a:buNone/>
            </a:pPr>
            <a:r>
              <a:rPr lang="ja"/>
              <a:t>[評価者氏名]</a:t>
            </a:r>
            <a:endParaRPr/>
          </a:p>
        </p:txBody>
      </p:sp>
      <p:sp>
        <p:nvSpPr>
          <p:cNvPr id="231" name="Google Shape;231;g3aa6b16614f_0_16"/>
          <p:cNvSpPr txBox="1"/>
          <p:nvPr>
            <p:ph idx="2" type="body"/>
          </p:nvPr>
        </p:nvSpPr>
        <p:spPr>
          <a:xfrm>
            <a:off x="4708863" y="1717850"/>
            <a:ext cx="3774300" cy="1411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ja"/>
              <a:t>[氏名]</a:t>
            </a:r>
            <a:endParaRPr/>
          </a:p>
          <a:p>
            <a:pPr indent="0" lvl="0" marL="0" rtl="0" algn="l">
              <a:lnSpc>
                <a:spcPct val="115000"/>
              </a:lnSpc>
              <a:spcBef>
                <a:spcPts val="0"/>
              </a:spcBef>
              <a:spcAft>
                <a:spcPts val="0"/>
              </a:spcAft>
              <a:buSzPts val="1300"/>
              <a:buNone/>
            </a:pPr>
            <a:r>
              <a:rPr lang="ja"/>
              <a:t>[生年月日]</a:t>
            </a:r>
            <a:endParaRPr/>
          </a:p>
          <a:p>
            <a:pPr indent="0" lvl="0" marL="0" rtl="0" algn="l">
              <a:lnSpc>
                <a:spcPct val="115000"/>
              </a:lnSpc>
              <a:spcBef>
                <a:spcPts val="0"/>
              </a:spcBef>
              <a:spcAft>
                <a:spcPts val="0"/>
              </a:spcAft>
              <a:buSzPts val="1300"/>
              <a:buNone/>
            </a:pPr>
            <a:r>
              <a:rPr lang="ja"/>
              <a:t>[回答者氏名]</a:t>
            </a:r>
            <a:endParaRPr/>
          </a:p>
          <a:p>
            <a:pPr indent="0" lvl="0" marL="0" rtl="0" algn="l">
              <a:lnSpc>
                <a:spcPct val="115000"/>
              </a:lnSpc>
              <a:spcBef>
                <a:spcPts val="0"/>
              </a:spcBef>
              <a:spcAft>
                <a:spcPts val="0"/>
              </a:spcAft>
              <a:buSzPts val="1300"/>
              <a:buNone/>
            </a:pPr>
            <a:r>
              <a:rPr lang="ja"/>
              <a:t>[評価者氏名]</a:t>
            </a:r>
            <a:endParaRPr/>
          </a:p>
          <a:p>
            <a:pPr indent="0" lvl="0" marL="0" rtl="0" algn="l">
              <a:lnSpc>
                <a:spcPct val="115000"/>
              </a:lnSpc>
              <a:spcBef>
                <a:spcPts val="0"/>
              </a:spcBef>
              <a:spcAft>
                <a:spcPts val="0"/>
              </a:spcAft>
              <a:buSzPts val="1300"/>
              <a:buNone/>
            </a:pPr>
            <a:r>
              <a:rPr lang="ja"/>
              <a:t>[記入日]</a:t>
            </a:r>
            <a:endParaRPr/>
          </a:p>
        </p:txBody>
      </p:sp>
      <p:sp>
        <p:nvSpPr>
          <p:cNvPr id="232" name="Google Shape;232;g3aa6b16614f_0_16"/>
          <p:cNvSpPr txBox="1"/>
          <p:nvPr>
            <p:ph idx="3" type="title"/>
          </p:nvPr>
        </p:nvSpPr>
        <p:spPr>
          <a:xfrm>
            <a:off x="4572000" y="600425"/>
            <a:ext cx="37743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000000"/>
              </a:buClr>
              <a:buSzPct val="111111"/>
              <a:buFont typeface="Arial"/>
              <a:buNone/>
            </a:pPr>
            <a:r>
              <a:rPr lang="ja"/>
              <a:t>DBD13の入力データ</a:t>
            </a:r>
            <a:endParaRPr/>
          </a:p>
          <a:p>
            <a:pPr indent="0" lvl="0" marL="0" rtl="0" algn="l">
              <a:lnSpc>
                <a:spcPct val="100000"/>
              </a:lnSpc>
              <a:spcBef>
                <a:spcPts val="0"/>
              </a:spcBef>
              <a:spcAft>
                <a:spcPts val="0"/>
              </a:spcAft>
              <a:buSzPct val="111111"/>
              <a:buNone/>
            </a:pPr>
            <a:r>
              <a:t/>
            </a:r>
            <a:endParaRPr/>
          </a:p>
        </p:txBody>
      </p:sp>
      <p:sp>
        <p:nvSpPr>
          <p:cNvPr id="233" name="Google Shape;233;g3aa6b16614f_0_16"/>
          <p:cNvSpPr txBox="1"/>
          <p:nvPr/>
        </p:nvSpPr>
        <p:spPr>
          <a:xfrm>
            <a:off x="544088" y="3129775"/>
            <a:ext cx="3560400" cy="19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accent1"/>
                </a:solidFill>
                <a:latin typeface="Lato"/>
                <a:ea typeface="Lato"/>
                <a:cs typeface="Lato"/>
                <a:sym typeface="Lato"/>
              </a:rPr>
              <a:t>DASC-21では、「物忘れの程度」や「同じことを繰り返す」などの項目を、0〜4の5段階からラジオボタンで選んで評価できるようにしています。また、補足を書くための備考欄や、入力内容に基づく合計点の自動計算機能にも対応しています。</a:t>
            </a:r>
            <a:endParaRPr b="0" i="0" sz="1300" u="none" cap="none" strike="noStrike">
              <a:solidFill>
                <a:schemeClr val="accent1"/>
              </a:solidFill>
              <a:latin typeface="Lato"/>
              <a:ea typeface="Lato"/>
              <a:cs typeface="Lato"/>
              <a:sym typeface="Lato"/>
            </a:endParaRPr>
          </a:p>
        </p:txBody>
      </p:sp>
      <p:sp>
        <p:nvSpPr>
          <p:cNvPr id="234" name="Google Shape;234;g3aa6b16614f_0_16"/>
          <p:cNvSpPr txBox="1"/>
          <p:nvPr/>
        </p:nvSpPr>
        <p:spPr>
          <a:xfrm>
            <a:off x="4391388" y="3129775"/>
            <a:ext cx="3560400" cy="19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accent1"/>
                </a:solidFill>
                <a:latin typeface="Lato"/>
                <a:ea typeface="Lato"/>
                <a:cs typeface="Lato"/>
                <a:sym typeface="Lato"/>
              </a:rPr>
              <a:t>DBD13では、認知症の方に見られる「もの盗られ妄想」「大声を出す・叫ぶ」のような行動・心理症状を項目を0〜4の5段階からラジオボタンで選んで評価できるようにしています。</a:t>
            </a:r>
            <a:endParaRPr b="0" i="0" sz="1300" u="none" cap="none" strike="noStrike">
              <a:solidFill>
                <a:schemeClr val="accent1"/>
              </a:solidFill>
              <a:latin typeface="Lato"/>
              <a:ea typeface="Lato"/>
              <a:cs typeface="Lato"/>
              <a:sym typeface="Lato"/>
            </a:endParaRPr>
          </a:p>
        </p:txBody>
      </p:sp>
      <p:sp>
        <p:nvSpPr>
          <p:cNvPr id="235" name="Google Shape;235;g3aa6b16614f_0_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85f7ff001b_2_0"/>
          <p:cNvSpPr txBox="1"/>
          <p:nvPr>
            <p:ph type="title"/>
          </p:nvPr>
        </p:nvSpPr>
        <p:spPr>
          <a:xfrm>
            <a:off x="546725" y="6974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技術要素：テキストマイニング</a:t>
            </a:r>
            <a:endParaRPr/>
          </a:p>
        </p:txBody>
      </p:sp>
      <p:sp>
        <p:nvSpPr>
          <p:cNvPr id="241" name="Google Shape;241;g385f7ff001b_2_0"/>
          <p:cNvSpPr txBox="1"/>
          <p:nvPr>
            <p:ph idx="1" type="body"/>
          </p:nvPr>
        </p:nvSpPr>
        <p:spPr>
          <a:xfrm>
            <a:off x="432150" y="2268875"/>
            <a:ext cx="8279700" cy="159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ja" sz="1600">
                <a:solidFill>
                  <a:schemeClr val="dk2"/>
                </a:solidFill>
              </a:rPr>
              <a:t>テキストマイニングを活用して過去の支援事例から類似ケースを検索し、支援方針の補助を行うことで地域包括支援センターの業務を効率化するシステムを構築する。</a:t>
            </a:r>
            <a:endParaRPr sz="1600">
              <a:solidFill>
                <a:schemeClr val="dk2"/>
              </a:solidFill>
            </a:endParaRPr>
          </a:p>
          <a:p>
            <a:pPr indent="0" lvl="0" marL="0" rtl="0" algn="l">
              <a:lnSpc>
                <a:spcPct val="115000"/>
              </a:lnSpc>
              <a:spcBef>
                <a:spcPts val="0"/>
              </a:spcBef>
              <a:spcAft>
                <a:spcPts val="0"/>
              </a:spcAft>
              <a:buSzPts val="1300"/>
              <a:buNone/>
            </a:pPr>
            <a:r>
              <a:rPr lang="ja" sz="1600">
                <a:solidFill>
                  <a:schemeClr val="dk2"/>
                </a:solidFill>
              </a:rPr>
              <a:t>　　　　　　　　　　　　　　　　　　↓</a:t>
            </a:r>
            <a:endParaRPr sz="1600">
              <a:solidFill>
                <a:schemeClr val="dk2"/>
              </a:solidFill>
            </a:endParaRPr>
          </a:p>
          <a:p>
            <a:pPr indent="0" lvl="0" marL="0" rtl="0" algn="l">
              <a:lnSpc>
                <a:spcPct val="115000"/>
              </a:lnSpc>
              <a:spcBef>
                <a:spcPts val="0"/>
              </a:spcBef>
              <a:spcAft>
                <a:spcPts val="0"/>
              </a:spcAft>
              <a:buSzPts val="1300"/>
              <a:buNone/>
            </a:pPr>
            <a:r>
              <a:rPr b="1" lang="ja" sz="1600">
                <a:solidFill>
                  <a:srgbClr val="000000"/>
                </a:solidFill>
                <a:latin typeface="Arial"/>
                <a:ea typeface="Arial"/>
                <a:cs typeface="Arial"/>
                <a:sym typeface="Arial"/>
              </a:rPr>
              <a:t>             類似ケースの参照、支援方針の立案</a:t>
            </a:r>
            <a:r>
              <a:rPr lang="ja" sz="1600">
                <a:solidFill>
                  <a:srgbClr val="000000"/>
                </a:solidFill>
                <a:latin typeface="Arial"/>
                <a:ea typeface="Arial"/>
                <a:cs typeface="Arial"/>
                <a:sym typeface="Arial"/>
              </a:rPr>
              <a:t>といった業務が効率化・支援され、</a:t>
            </a:r>
            <a:endParaRPr sz="1600">
              <a:solidFill>
                <a:srgbClr val="000000"/>
              </a:solidFill>
              <a:latin typeface="Arial"/>
              <a:ea typeface="Arial"/>
              <a:cs typeface="Arial"/>
              <a:sym typeface="Arial"/>
            </a:endParaRPr>
          </a:p>
          <a:p>
            <a:pPr indent="0" lvl="0" marL="0" rtl="0" algn="l">
              <a:lnSpc>
                <a:spcPct val="115000"/>
              </a:lnSpc>
              <a:spcBef>
                <a:spcPts val="0"/>
              </a:spcBef>
              <a:spcAft>
                <a:spcPts val="0"/>
              </a:spcAft>
              <a:buSzPts val="1300"/>
              <a:buNone/>
            </a:pPr>
            <a:r>
              <a:rPr lang="ja" sz="1600">
                <a:solidFill>
                  <a:srgbClr val="000000"/>
                </a:solidFill>
                <a:latin typeface="Arial"/>
                <a:ea typeface="Arial"/>
                <a:cs typeface="Arial"/>
                <a:sym typeface="Arial"/>
              </a:rPr>
              <a:t>             地域包括支援センターの業務の迅速性を高めることができる。</a:t>
            </a:r>
            <a:endParaRPr sz="1600">
              <a:solidFill>
                <a:schemeClr val="dk2"/>
              </a:solidFill>
            </a:endParaRPr>
          </a:p>
        </p:txBody>
      </p:sp>
      <p:sp>
        <p:nvSpPr>
          <p:cNvPr id="242" name="Google Shape;242;g385f7ff001b_2_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aab28b5710_1_47"/>
          <p:cNvSpPr txBox="1"/>
          <p:nvPr>
            <p:ph type="title"/>
          </p:nvPr>
        </p:nvSpPr>
        <p:spPr>
          <a:xfrm>
            <a:off x="727650" y="5849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入力内容の具体例</a:t>
            </a:r>
            <a:endParaRPr/>
          </a:p>
        </p:txBody>
      </p:sp>
      <p:sp>
        <p:nvSpPr>
          <p:cNvPr id="248" name="Google Shape;248;g3aab28b5710_1_47"/>
          <p:cNvSpPr txBox="1"/>
          <p:nvPr>
            <p:ph idx="12" type="sldNum"/>
          </p:nvPr>
        </p:nvSpPr>
        <p:spPr>
          <a:xfrm>
            <a:off x="8595302" y="474990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pic>
        <p:nvPicPr>
          <p:cNvPr id="249" name="Google Shape;249;g3aab28b5710_1_47" title="スクリーンショット 2025-12-09 033412.png"/>
          <p:cNvPicPr preferRelativeResize="0"/>
          <p:nvPr/>
        </p:nvPicPr>
        <p:blipFill>
          <a:blip r:embed="rId3">
            <a:alphaModFix/>
          </a:blip>
          <a:stretch>
            <a:fillRect/>
          </a:stretch>
        </p:blipFill>
        <p:spPr>
          <a:xfrm>
            <a:off x="813950" y="1366176"/>
            <a:ext cx="7516100" cy="3544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aab28b5710_1_56"/>
          <p:cNvSpPr txBox="1"/>
          <p:nvPr>
            <p:ph idx="1" type="body"/>
          </p:nvPr>
        </p:nvSpPr>
        <p:spPr>
          <a:xfrm>
            <a:off x="729450" y="1289725"/>
            <a:ext cx="7688700" cy="305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ja"/>
              <a:t>項目数</a:t>
            </a:r>
            <a:endParaRPr b="1"/>
          </a:p>
          <a:p>
            <a:pPr indent="0" lvl="0" marL="0" rtl="0" algn="l">
              <a:lnSpc>
                <a:spcPct val="115000"/>
              </a:lnSpc>
              <a:spcBef>
                <a:spcPts val="0"/>
              </a:spcBef>
              <a:spcAft>
                <a:spcPts val="0"/>
              </a:spcAft>
              <a:buSzPts val="1300"/>
              <a:buNone/>
            </a:pPr>
            <a:r>
              <a:rPr lang="ja"/>
              <a:t>利用者基本情報を35項目、訪問記録表を15項目、身体状況チェック表を26項目、DASC-21を21項目、</a:t>
            </a:r>
            <a:endParaRPr/>
          </a:p>
          <a:p>
            <a:pPr indent="0" lvl="0" marL="0" rtl="0" algn="l">
              <a:lnSpc>
                <a:spcPct val="115000"/>
              </a:lnSpc>
              <a:spcBef>
                <a:spcPts val="0"/>
              </a:spcBef>
              <a:spcAft>
                <a:spcPts val="0"/>
              </a:spcAft>
              <a:buSzPts val="1300"/>
              <a:buNone/>
            </a:pPr>
            <a:r>
              <a:rPr lang="ja"/>
              <a:t>DBD13を13項目　</a:t>
            </a:r>
            <a:endParaRPr/>
          </a:p>
          <a:p>
            <a:pPr indent="0" lvl="0" marL="0" rtl="0" algn="l">
              <a:lnSpc>
                <a:spcPct val="115000"/>
              </a:lnSpc>
              <a:spcBef>
                <a:spcPts val="0"/>
              </a:spcBef>
              <a:spcAft>
                <a:spcPts val="0"/>
              </a:spcAft>
              <a:buSzPts val="1300"/>
              <a:buNone/>
            </a:pPr>
            <a:r>
              <a:rPr lang="ja"/>
              <a:t>合計　110項目</a:t>
            </a:r>
            <a:endParaRPr/>
          </a:p>
          <a:p>
            <a:pPr indent="0" lvl="0" marL="0" rtl="0" algn="l">
              <a:lnSpc>
                <a:spcPct val="115000"/>
              </a:lnSpc>
              <a:spcBef>
                <a:spcPts val="0"/>
              </a:spcBef>
              <a:spcAft>
                <a:spcPts val="0"/>
              </a:spcAft>
              <a:buSzPts val="1300"/>
              <a:buNone/>
            </a:pPr>
            <a:r>
              <a:rPr b="1" lang="ja"/>
              <a:t>文量</a:t>
            </a: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rPr lang="ja" sz="1400">
                <a:solidFill>
                  <a:srgbClr val="000000"/>
                </a:solidFill>
                <a:latin typeface="Arial"/>
                <a:ea typeface="Arial"/>
                <a:cs typeface="Arial"/>
                <a:sym typeface="Arial"/>
              </a:rPr>
              <a:t>利用者基本情報　　：100〜200文字　    自由記述中心</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rPr lang="ja" sz="1400">
                <a:solidFill>
                  <a:srgbClr val="000000"/>
                </a:solidFill>
                <a:latin typeface="Arial"/>
                <a:ea typeface="Arial"/>
                <a:cs typeface="Arial"/>
                <a:sym typeface="Arial"/>
              </a:rPr>
              <a:t>訪問記録表　　　　：100〜200文字　　自由記述中心</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rPr lang="ja" sz="1400">
                <a:solidFill>
                  <a:srgbClr val="000000"/>
                </a:solidFill>
                <a:latin typeface="Arial"/>
                <a:ea typeface="Arial"/>
                <a:cs typeface="Arial"/>
                <a:sym typeface="Arial"/>
              </a:rPr>
              <a:t>身体状況チェック表：100〜200文字　　自由記述中心</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rPr lang="ja" sz="1400">
                <a:solidFill>
                  <a:srgbClr val="000000"/>
                </a:solidFill>
                <a:latin typeface="Arial"/>
                <a:ea typeface="Arial"/>
                <a:cs typeface="Arial"/>
                <a:sym typeface="Arial"/>
              </a:rPr>
              <a:t>DASC-21　　　　   ：1~5文字　　　　  ラジオボタン＋備考</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rPr lang="ja" sz="1400">
                <a:solidFill>
                  <a:srgbClr val="000000"/>
                </a:solidFill>
                <a:latin typeface="Arial"/>
                <a:ea typeface="Arial"/>
                <a:cs typeface="Arial"/>
                <a:sym typeface="Arial"/>
              </a:rPr>
              <a:t>DBD13　　　　　   ：1~5文字　　　　  ラジオボタン</a:t>
            </a:r>
            <a:endParaRPr b="1"/>
          </a:p>
        </p:txBody>
      </p:sp>
      <p:sp>
        <p:nvSpPr>
          <p:cNvPr id="255" name="Google Shape;255;g3aab28b5710_1_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56" name="Google Shape;256;g3aab28b5710_1_56"/>
          <p:cNvSpPr txBox="1"/>
          <p:nvPr>
            <p:ph type="title"/>
          </p:nvPr>
        </p:nvSpPr>
        <p:spPr>
          <a:xfrm>
            <a:off x="727650" y="5849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入力内容の具体例</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98e3b8d10d_3_23"/>
          <p:cNvSpPr txBox="1"/>
          <p:nvPr>
            <p:ph type="title"/>
          </p:nvPr>
        </p:nvSpPr>
        <p:spPr>
          <a:xfrm>
            <a:off x="778650" y="7034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認知症状態評価の入出力</a:t>
            </a:r>
            <a:endParaRPr/>
          </a:p>
        </p:txBody>
      </p:sp>
      <p:sp>
        <p:nvSpPr>
          <p:cNvPr id="262" name="Google Shape;262;g398e3b8d10d_3_23"/>
          <p:cNvSpPr txBox="1"/>
          <p:nvPr>
            <p:ph idx="1" type="body"/>
          </p:nvPr>
        </p:nvSpPr>
        <p:spPr>
          <a:xfrm>
            <a:off x="992050" y="2400300"/>
            <a:ext cx="2497800" cy="151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ja" sz="2000">
                <a:solidFill>
                  <a:schemeClr val="dk2"/>
                </a:solidFill>
              </a:rPr>
              <a:t>・入力データ</a:t>
            </a:r>
            <a:endParaRPr sz="2000">
              <a:solidFill>
                <a:schemeClr val="dk2"/>
              </a:solidFill>
            </a:endParaRPr>
          </a:p>
          <a:p>
            <a:pPr indent="0" lvl="0" marL="0" rtl="0" algn="l">
              <a:lnSpc>
                <a:spcPct val="115000"/>
              </a:lnSpc>
              <a:spcBef>
                <a:spcPts val="0"/>
              </a:spcBef>
              <a:spcAft>
                <a:spcPts val="0"/>
              </a:spcAft>
              <a:buSzPts val="1300"/>
              <a:buNone/>
            </a:pPr>
            <a:r>
              <a:rPr lang="ja" sz="2000">
                <a:solidFill>
                  <a:schemeClr val="dk2"/>
                </a:solidFill>
              </a:rPr>
              <a:t>［質問の回答］</a:t>
            </a:r>
            <a:endParaRPr sz="2000">
              <a:solidFill>
                <a:schemeClr val="dk2"/>
              </a:solidFill>
            </a:endParaRPr>
          </a:p>
          <a:p>
            <a:pPr indent="0" lvl="0" marL="0" rtl="0" algn="l">
              <a:lnSpc>
                <a:spcPct val="115000"/>
              </a:lnSpc>
              <a:spcBef>
                <a:spcPts val="0"/>
              </a:spcBef>
              <a:spcAft>
                <a:spcPts val="0"/>
              </a:spcAft>
              <a:buSzPts val="1300"/>
              <a:buNone/>
            </a:pPr>
            <a:r>
              <a:rPr lang="ja" sz="2000">
                <a:solidFill>
                  <a:schemeClr val="dk2"/>
                </a:solidFill>
              </a:rPr>
              <a:t>［質問ごとの点数］</a:t>
            </a:r>
            <a:endParaRPr sz="2000">
              <a:solidFill>
                <a:schemeClr val="dk2"/>
              </a:solidFill>
            </a:endParaRPr>
          </a:p>
          <a:p>
            <a:pPr indent="0" lvl="0" marL="0" rtl="0" algn="l">
              <a:lnSpc>
                <a:spcPct val="115000"/>
              </a:lnSpc>
              <a:spcBef>
                <a:spcPts val="0"/>
              </a:spcBef>
              <a:spcAft>
                <a:spcPts val="0"/>
              </a:spcAft>
              <a:buSzPts val="1300"/>
              <a:buNone/>
            </a:pPr>
            <a:r>
              <a:rPr lang="ja" sz="2000">
                <a:solidFill>
                  <a:schemeClr val="dk2"/>
                </a:solidFill>
              </a:rPr>
              <a:t>［備考］</a:t>
            </a:r>
            <a:endParaRPr sz="2000">
              <a:solidFill>
                <a:schemeClr val="dk2"/>
              </a:solidFill>
            </a:endParaRPr>
          </a:p>
        </p:txBody>
      </p:sp>
      <p:sp>
        <p:nvSpPr>
          <p:cNvPr id="263" name="Google Shape;263;g398e3b8d10d_3_23"/>
          <p:cNvSpPr txBox="1"/>
          <p:nvPr>
            <p:ph idx="1" type="body"/>
          </p:nvPr>
        </p:nvSpPr>
        <p:spPr>
          <a:xfrm>
            <a:off x="4839825" y="2352600"/>
            <a:ext cx="2904000" cy="16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ja" sz="2000">
                <a:solidFill>
                  <a:schemeClr val="dk2"/>
                </a:solidFill>
              </a:rPr>
              <a:t>・出力データ</a:t>
            </a:r>
            <a:endParaRPr sz="2000">
              <a:solidFill>
                <a:schemeClr val="dk2"/>
              </a:solidFill>
            </a:endParaRPr>
          </a:p>
          <a:p>
            <a:pPr indent="0" lvl="0" marL="0" rtl="0" algn="l">
              <a:lnSpc>
                <a:spcPct val="115000"/>
              </a:lnSpc>
              <a:spcBef>
                <a:spcPts val="0"/>
              </a:spcBef>
              <a:spcAft>
                <a:spcPts val="0"/>
              </a:spcAft>
              <a:buSzPts val="1300"/>
              <a:buNone/>
            </a:pPr>
            <a:r>
              <a:rPr lang="ja" sz="2000">
                <a:solidFill>
                  <a:schemeClr val="dk2"/>
                </a:solidFill>
              </a:rPr>
              <a:t>［DASC-21の合計点］</a:t>
            </a:r>
            <a:endParaRPr sz="2000">
              <a:solidFill>
                <a:schemeClr val="dk2"/>
              </a:solidFill>
            </a:endParaRPr>
          </a:p>
          <a:p>
            <a:pPr indent="0" lvl="0" marL="0" rtl="0" algn="l">
              <a:lnSpc>
                <a:spcPct val="115000"/>
              </a:lnSpc>
              <a:spcBef>
                <a:spcPts val="0"/>
              </a:spcBef>
              <a:spcAft>
                <a:spcPts val="0"/>
              </a:spcAft>
              <a:buSzPts val="1300"/>
              <a:buNone/>
            </a:pPr>
            <a:r>
              <a:rPr lang="ja" sz="2000">
                <a:solidFill>
                  <a:schemeClr val="dk2"/>
                </a:solidFill>
              </a:rPr>
              <a:t>［DBD13の合計点］</a:t>
            </a:r>
            <a:endParaRPr sz="2000">
              <a:solidFill>
                <a:schemeClr val="dk2"/>
              </a:solidFill>
            </a:endParaRPr>
          </a:p>
          <a:p>
            <a:pPr indent="0" lvl="0" marL="0" rtl="0" algn="l">
              <a:lnSpc>
                <a:spcPct val="115000"/>
              </a:lnSpc>
              <a:spcBef>
                <a:spcPts val="0"/>
              </a:spcBef>
              <a:spcAft>
                <a:spcPts val="0"/>
              </a:spcAft>
              <a:buSzPts val="1300"/>
              <a:buNone/>
            </a:pPr>
            <a:r>
              <a:rPr lang="ja" sz="2000">
                <a:solidFill>
                  <a:schemeClr val="dk2"/>
                </a:solidFill>
              </a:rPr>
              <a:t>［重症度区分］</a:t>
            </a:r>
            <a:endParaRPr sz="2000">
              <a:solidFill>
                <a:schemeClr val="dk2"/>
              </a:solidFill>
            </a:endParaRPr>
          </a:p>
          <a:p>
            <a:pPr indent="0" lvl="0" marL="0" rtl="0" algn="l">
              <a:lnSpc>
                <a:spcPct val="115000"/>
              </a:lnSpc>
              <a:spcBef>
                <a:spcPts val="0"/>
              </a:spcBef>
              <a:spcAft>
                <a:spcPts val="0"/>
              </a:spcAft>
              <a:buSzPts val="1300"/>
              <a:buNone/>
            </a:pPr>
            <a:r>
              <a:t/>
            </a:r>
            <a:endParaRPr sz="1500">
              <a:solidFill>
                <a:schemeClr val="dk2"/>
              </a:solidFill>
            </a:endParaRPr>
          </a:p>
        </p:txBody>
      </p:sp>
      <p:sp>
        <p:nvSpPr>
          <p:cNvPr id="264" name="Google Shape;264;g398e3b8d10d_3_2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98e3b8d10d_1_34"/>
          <p:cNvSpPr txBox="1"/>
          <p:nvPr>
            <p:ph type="title"/>
          </p:nvPr>
        </p:nvSpPr>
        <p:spPr>
          <a:xfrm>
            <a:off x="546725" y="697425"/>
            <a:ext cx="42075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テキストマイニングの入出力</a:t>
            </a:r>
            <a:endParaRPr/>
          </a:p>
        </p:txBody>
      </p:sp>
      <p:sp>
        <p:nvSpPr>
          <p:cNvPr id="270" name="Google Shape;270;g398e3b8d10d_1_34"/>
          <p:cNvSpPr txBox="1"/>
          <p:nvPr>
            <p:ph idx="1" type="body"/>
          </p:nvPr>
        </p:nvSpPr>
        <p:spPr>
          <a:xfrm>
            <a:off x="0" y="1360500"/>
            <a:ext cx="4389900" cy="286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ja" sz="1500">
                <a:solidFill>
                  <a:schemeClr val="dk2"/>
                </a:solidFill>
              </a:rPr>
              <a:t>・入力データ</a:t>
            </a:r>
            <a:endParaRPr sz="15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［訪問に対する本人の反応・理解］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［認知機能］ ※認知症日常生活自立度</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［精神症状・行動症状］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［身体状況］※障害高齢者の日常生活自立度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　　　　　　※別添：身体状況チェック票参照 </a:t>
            </a:r>
            <a:endParaRPr sz="1400">
              <a:solidFill>
                <a:schemeClr val="dk2"/>
              </a:solidFill>
            </a:endParaRPr>
          </a:p>
          <a:p>
            <a:pPr indent="0" lvl="0" marL="0" rtl="0" algn="l">
              <a:lnSpc>
                <a:spcPct val="115000"/>
              </a:lnSpc>
              <a:spcBef>
                <a:spcPts val="0"/>
              </a:spcBef>
              <a:spcAft>
                <a:spcPts val="0"/>
              </a:spcAft>
              <a:buClr>
                <a:srgbClr val="000000"/>
              </a:buClr>
              <a:buSzPts val="1300"/>
              <a:buFont typeface="Arial"/>
              <a:buNone/>
            </a:pPr>
            <a:r>
              <a:rPr lang="ja" sz="1400">
                <a:solidFill>
                  <a:schemeClr val="dk2"/>
                </a:solidFill>
              </a:rPr>
              <a:t>［生活状況］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［アセスメントシート］ DASC-21 , DBD13 の点数</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［本人の意向・希望］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［介護者の意向・希望］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［判断・支援内容］</a:t>
            </a:r>
            <a:endParaRPr sz="1500">
              <a:solidFill>
                <a:schemeClr val="dk2"/>
              </a:solidFill>
            </a:endParaRPr>
          </a:p>
        </p:txBody>
      </p:sp>
      <p:sp>
        <p:nvSpPr>
          <p:cNvPr id="271" name="Google Shape;271;g398e3b8d10d_1_34"/>
          <p:cNvSpPr txBox="1"/>
          <p:nvPr/>
        </p:nvSpPr>
        <p:spPr>
          <a:xfrm>
            <a:off x="4640325" y="3059550"/>
            <a:ext cx="4207500" cy="3849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300"/>
              <a:buFont typeface="Arial"/>
              <a:buNone/>
            </a:pPr>
            <a:r>
              <a:rPr b="0" i="0" lang="ja" sz="1300" u="none" cap="none" strike="noStrike">
                <a:solidFill>
                  <a:schemeClr val="dk2"/>
                </a:solidFill>
                <a:latin typeface="Lato"/>
                <a:ea typeface="Lato"/>
                <a:cs typeface="Lato"/>
                <a:sym typeface="Lato"/>
              </a:rPr>
              <a:t>収集対象：</a:t>
            </a:r>
            <a:r>
              <a:rPr b="0" i="0" lang="ja" sz="1300" u="sng" cap="none" strike="noStrike">
                <a:solidFill>
                  <a:schemeClr val="hlink"/>
                </a:solidFill>
                <a:latin typeface="Lato"/>
                <a:ea typeface="Lato"/>
                <a:cs typeface="Lato"/>
                <a:sym typeface="Lato"/>
                <a:hlinkClick r:id="rId3"/>
              </a:rPr>
              <a:t>認知症初期集中支援 訪問記録</a:t>
            </a:r>
            <a:r>
              <a:rPr b="0" i="0" lang="ja" sz="1300" u="sng" cap="none" strike="noStrike">
                <a:solidFill>
                  <a:srgbClr val="1C3678"/>
                </a:solidFill>
                <a:latin typeface="Lato"/>
                <a:ea typeface="Lato"/>
                <a:cs typeface="Lato"/>
                <a:sym typeface="Lato"/>
              </a:rPr>
              <a:t>表</a:t>
            </a:r>
            <a:r>
              <a:rPr b="0" i="0" lang="ja" sz="1300" u="none" cap="none" strike="noStrike">
                <a:solidFill>
                  <a:schemeClr val="dk2"/>
                </a:solidFill>
                <a:latin typeface="Lato"/>
                <a:ea typeface="Lato"/>
                <a:cs typeface="Lato"/>
                <a:sym typeface="Lato"/>
              </a:rPr>
              <a:t> (p.7記載)</a:t>
            </a:r>
            <a:endParaRPr b="0" i="0" sz="1500" u="none" cap="none" strike="noStrike">
              <a:solidFill>
                <a:schemeClr val="dk2"/>
              </a:solidFill>
              <a:latin typeface="Lato"/>
              <a:ea typeface="Lato"/>
              <a:cs typeface="Lato"/>
              <a:sym typeface="Lato"/>
            </a:endParaRPr>
          </a:p>
        </p:txBody>
      </p:sp>
      <p:sp>
        <p:nvSpPr>
          <p:cNvPr id="272" name="Google Shape;272;g398e3b8d10d_1_34"/>
          <p:cNvSpPr txBox="1"/>
          <p:nvPr>
            <p:ph idx="1" type="body"/>
          </p:nvPr>
        </p:nvSpPr>
        <p:spPr>
          <a:xfrm>
            <a:off x="4640325" y="1360488"/>
            <a:ext cx="4389900" cy="132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ja" sz="1500">
                <a:solidFill>
                  <a:schemeClr val="dk2"/>
                </a:solidFill>
              </a:rPr>
              <a:t>・出力データ</a:t>
            </a:r>
            <a:endParaRPr sz="1500">
              <a:solidFill>
                <a:schemeClr val="dk2"/>
              </a:solidFill>
            </a:endParaRPr>
          </a:p>
          <a:p>
            <a:pPr indent="0" lvl="0" marL="0" rtl="0" algn="l">
              <a:lnSpc>
                <a:spcPct val="115000"/>
              </a:lnSpc>
              <a:spcBef>
                <a:spcPts val="0"/>
              </a:spcBef>
              <a:spcAft>
                <a:spcPts val="0"/>
              </a:spcAft>
              <a:buSzPts val="1300"/>
              <a:buNone/>
            </a:pPr>
            <a:r>
              <a:t/>
            </a:r>
            <a:endParaRPr sz="1500">
              <a:solidFill>
                <a:schemeClr val="dk2"/>
              </a:solidFill>
            </a:endParaRPr>
          </a:p>
          <a:p>
            <a:pPr indent="0" lvl="0" marL="0" rtl="0" algn="l">
              <a:lnSpc>
                <a:spcPct val="115000"/>
              </a:lnSpc>
              <a:spcBef>
                <a:spcPts val="0"/>
              </a:spcBef>
              <a:spcAft>
                <a:spcPts val="0"/>
              </a:spcAft>
              <a:buSzPts val="1300"/>
              <a:buNone/>
            </a:pPr>
            <a:r>
              <a:rPr lang="ja" sz="1500">
                <a:solidFill>
                  <a:schemeClr val="dk2"/>
                </a:solidFill>
              </a:rPr>
              <a:t>過去の類似している対象者の訪問記録表から</a:t>
            </a:r>
            <a:endParaRPr sz="15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［判断・支援内容］の項目を出力し提示。</a:t>
            </a:r>
            <a:endParaRPr sz="1500">
              <a:solidFill>
                <a:schemeClr val="dk2"/>
              </a:solidFill>
            </a:endParaRPr>
          </a:p>
        </p:txBody>
      </p:sp>
      <p:sp>
        <p:nvSpPr>
          <p:cNvPr id="273" name="Google Shape;273;g398e3b8d10d_1_34"/>
          <p:cNvSpPr txBox="1"/>
          <p:nvPr/>
        </p:nvSpPr>
        <p:spPr>
          <a:xfrm>
            <a:off x="9743275" y="-1467525"/>
            <a:ext cx="1577700" cy="107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accent1"/>
              </a:solidFill>
              <a:latin typeface="Lato"/>
              <a:ea typeface="Lato"/>
              <a:cs typeface="Lato"/>
              <a:sym typeface="Lato"/>
            </a:endParaRPr>
          </a:p>
        </p:txBody>
      </p:sp>
      <p:sp>
        <p:nvSpPr>
          <p:cNvPr id="274" name="Google Shape;274;g398e3b8d10d_1_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
        <p:nvSpPr>
          <p:cNvPr id="275" name="Google Shape;275;g398e3b8d10d_1_34"/>
          <p:cNvSpPr txBox="1"/>
          <p:nvPr/>
        </p:nvSpPr>
        <p:spPr>
          <a:xfrm>
            <a:off x="0" y="4088550"/>
            <a:ext cx="6518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0" i="0" lang="ja" sz="1500" u="none" cap="none" strike="noStrike">
                <a:solidFill>
                  <a:schemeClr val="dk2"/>
                </a:solidFill>
                <a:latin typeface="Lato"/>
                <a:ea typeface="Lato"/>
                <a:cs typeface="Lato"/>
                <a:sym typeface="Lato"/>
              </a:rPr>
              <a:t>   </a:t>
            </a:r>
            <a:r>
              <a:rPr b="0" i="0" lang="ja" sz="1400" u="none" cap="none" strike="noStrike">
                <a:solidFill>
                  <a:schemeClr val="dk2"/>
                </a:solidFill>
                <a:latin typeface="Lato"/>
                <a:ea typeface="Lato"/>
                <a:cs typeface="Lato"/>
                <a:sym typeface="Lato"/>
              </a:rPr>
              <a:t>これらの項目からキーワードを抽出し、過去の類似している支援を抜粋する。</a:t>
            </a:r>
            <a:endParaRPr b="0" i="0" sz="1200" u="none" cap="none" strike="noStrike">
              <a:solidFill>
                <a:schemeClr val="accent1"/>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98e3b8d10d_1_60"/>
          <p:cNvSpPr txBox="1"/>
          <p:nvPr>
            <p:ph type="title"/>
          </p:nvPr>
        </p:nvSpPr>
        <p:spPr>
          <a:xfrm>
            <a:off x="546725" y="697425"/>
            <a:ext cx="43899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テキストマイニングの入出力例</a:t>
            </a:r>
            <a:endParaRPr/>
          </a:p>
        </p:txBody>
      </p:sp>
      <p:sp>
        <p:nvSpPr>
          <p:cNvPr id="281" name="Google Shape;281;g398e3b8d10d_1_60"/>
          <p:cNvSpPr txBox="1"/>
          <p:nvPr>
            <p:ph idx="1" type="body"/>
          </p:nvPr>
        </p:nvSpPr>
        <p:spPr>
          <a:xfrm>
            <a:off x="8750" y="1232625"/>
            <a:ext cx="4936500" cy="388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ja" sz="1500">
                <a:solidFill>
                  <a:schemeClr val="dk2"/>
                </a:solidFill>
              </a:rPr>
              <a:t>・入力データ</a:t>
            </a:r>
            <a:endParaRPr sz="15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［訪問に対する本人の反応・理解］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［認知機能］</a:t>
            </a:r>
            <a:endParaRPr sz="1400">
              <a:solidFill>
                <a:schemeClr val="dk2"/>
              </a:solidFill>
            </a:endParaRPr>
          </a:p>
          <a:p>
            <a:pPr indent="0" lvl="0" marL="0" rtl="0" algn="l">
              <a:lnSpc>
                <a:spcPct val="100000"/>
              </a:lnSpc>
              <a:spcBef>
                <a:spcPts val="0"/>
              </a:spcBef>
              <a:spcAft>
                <a:spcPts val="0"/>
              </a:spcAft>
              <a:buSzPts val="1300"/>
              <a:buNone/>
            </a:pPr>
            <a:r>
              <a:rPr lang="ja" sz="1400">
                <a:solidFill>
                  <a:srgbClr val="000000"/>
                </a:solidFill>
                <a:highlight>
                  <a:srgbClr val="EFEFEF"/>
                </a:highlight>
                <a:latin typeface="Arial"/>
                <a:ea typeface="Arial"/>
                <a:cs typeface="Arial"/>
                <a:sym typeface="Arial"/>
              </a:rPr>
              <a:t>近時記憶・問題解決・一部のIADLに支障あり。</a:t>
            </a:r>
            <a:endParaRPr sz="1400">
              <a:solidFill>
                <a:srgbClr val="000000"/>
              </a:solidFill>
              <a:highlight>
                <a:srgbClr val="EFEFEF"/>
              </a:highlight>
              <a:latin typeface="Arial"/>
              <a:ea typeface="Arial"/>
              <a:cs typeface="Arial"/>
              <a:sym typeface="Arial"/>
            </a:endParaRPr>
          </a:p>
          <a:p>
            <a:pPr indent="0" lvl="0" marL="0" rtl="0" algn="l">
              <a:lnSpc>
                <a:spcPct val="100000"/>
              </a:lnSpc>
              <a:spcBef>
                <a:spcPts val="0"/>
              </a:spcBef>
              <a:spcAft>
                <a:spcPts val="0"/>
              </a:spcAft>
              <a:buSzPts val="1300"/>
              <a:buNone/>
            </a:pPr>
            <a:r>
              <a:rPr lang="ja" sz="1400">
                <a:solidFill>
                  <a:srgbClr val="000000"/>
                </a:solidFill>
                <a:highlight>
                  <a:srgbClr val="EFEFEF"/>
                </a:highlight>
                <a:latin typeface="Arial"/>
                <a:ea typeface="Arial"/>
                <a:cs typeface="Arial"/>
                <a:sym typeface="Arial"/>
              </a:rPr>
              <a:t>MCI（軽度認知障害）レベル</a:t>
            </a:r>
            <a:r>
              <a:rPr lang="ja" sz="1400">
                <a:solidFill>
                  <a:srgbClr val="000000"/>
                </a:solidFill>
                <a:latin typeface="Arial"/>
                <a:ea typeface="Arial"/>
                <a:cs typeface="Arial"/>
                <a:sym typeface="Arial"/>
              </a:rPr>
              <a:t>。</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［精神症状・行動症状］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［身体状況］</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［生活状況］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［アセスメントシート］</a:t>
            </a:r>
            <a:endParaRPr sz="1400">
              <a:solidFill>
                <a:schemeClr val="dk2"/>
              </a:solidFill>
            </a:endParaRPr>
          </a:p>
          <a:p>
            <a:pPr indent="0" lvl="0" marL="0" rtl="0" algn="l">
              <a:lnSpc>
                <a:spcPct val="100000"/>
              </a:lnSpc>
              <a:spcBef>
                <a:spcPts val="0"/>
              </a:spcBef>
              <a:spcAft>
                <a:spcPts val="0"/>
              </a:spcAft>
              <a:buSzPts val="1300"/>
              <a:buNone/>
            </a:pPr>
            <a:r>
              <a:rPr lang="ja" sz="1400">
                <a:solidFill>
                  <a:srgbClr val="000000"/>
                </a:solidFill>
                <a:highlight>
                  <a:schemeClr val="lt1"/>
                </a:highlight>
                <a:latin typeface="Arial"/>
                <a:ea typeface="Arial"/>
                <a:cs typeface="Arial"/>
                <a:sym typeface="Arial"/>
              </a:rPr>
              <a:t>DASC-21：</a:t>
            </a:r>
            <a:r>
              <a:rPr lang="ja" sz="1400">
                <a:solidFill>
                  <a:srgbClr val="000000"/>
                </a:solidFill>
                <a:highlight>
                  <a:srgbClr val="EFEFEF"/>
                </a:highlight>
                <a:latin typeface="Arial"/>
                <a:ea typeface="Arial"/>
                <a:cs typeface="Arial"/>
                <a:sym typeface="Arial"/>
              </a:rPr>
              <a:t>32点</a:t>
            </a:r>
            <a:r>
              <a:rPr lang="ja" sz="1400">
                <a:solidFill>
                  <a:srgbClr val="000000"/>
                </a:solidFill>
                <a:highlight>
                  <a:schemeClr val="lt1"/>
                </a:highlight>
                <a:latin typeface="Arial"/>
                <a:ea typeface="Arial"/>
                <a:cs typeface="Arial"/>
                <a:sym typeface="Arial"/>
              </a:rPr>
              <a:t>。DBD13は</a:t>
            </a:r>
            <a:r>
              <a:rPr lang="ja" sz="1400">
                <a:solidFill>
                  <a:srgbClr val="000000"/>
                </a:solidFill>
                <a:highlight>
                  <a:srgbClr val="EFEFEF"/>
                </a:highlight>
                <a:latin typeface="Arial"/>
                <a:ea typeface="Arial"/>
                <a:cs typeface="Arial"/>
                <a:sym typeface="Arial"/>
              </a:rPr>
              <a:t>実施なし</a:t>
            </a:r>
            <a:r>
              <a:rPr lang="ja" sz="1400">
                <a:solidFill>
                  <a:srgbClr val="000000"/>
                </a:solidFill>
                <a:highlight>
                  <a:schemeClr val="lt1"/>
                </a:highlight>
                <a:latin typeface="Arial"/>
                <a:ea typeface="Arial"/>
                <a:cs typeface="Arial"/>
                <a:sym typeface="Arial"/>
              </a:rPr>
              <a:t>。</a:t>
            </a:r>
            <a:endParaRPr sz="1400">
              <a:solidFill>
                <a:schemeClr val="dk2"/>
              </a:solidFill>
              <a:highlight>
                <a:schemeClr val="lt1"/>
              </a:highlight>
            </a:endParaRPr>
          </a:p>
          <a:p>
            <a:pPr indent="0" lvl="0" marL="0" rtl="0" algn="l">
              <a:lnSpc>
                <a:spcPct val="115000"/>
              </a:lnSpc>
              <a:spcBef>
                <a:spcPts val="0"/>
              </a:spcBef>
              <a:spcAft>
                <a:spcPts val="0"/>
              </a:spcAft>
              <a:buSzPts val="1300"/>
              <a:buNone/>
            </a:pPr>
            <a:r>
              <a:rPr lang="ja" sz="1400">
                <a:solidFill>
                  <a:schemeClr val="dk2"/>
                </a:solidFill>
              </a:rPr>
              <a:t>［本人の意向・希望］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［介護者の意向・希望］ </a:t>
            </a:r>
            <a:endParaRPr sz="14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［判断・支援内容］</a:t>
            </a:r>
            <a:endParaRPr sz="1400">
              <a:solidFill>
                <a:schemeClr val="dk2"/>
              </a:solidFill>
            </a:endParaRPr>
          </a:p>
          <a:p>
            <a:pPr indent="0" lvl="0" marL="0" rtl="0" algn="l">
              <a:lnSpc>
                <a:spcPct val="100000"/>
              </a:lnSpc>
              <a:spcBef>
                <a:spcPts val="0"/>
              </a:spcBef>
              <a:spcAft>
                <a:spcPts val="0"/>
              </a:spcAft>
              <a:buSzPts val="1300"/>
              <a:buNone/>
            </a:pPr>
            <a:r>
              <a:rPr lang="ja" sz="1400">
                <a:solidFill>
                  <a:srgbClr val="000000"/>
                </a:solidFill>
                <a:highlight>
                  <a:srgbClr val="EFEFEF"/>
                </a:highlight>
                <a:latin typeface="Arial"/>
                <a:ea typeface="Arial"/>
                <a:cs typeface="Arial"/>
                <a:sym typeface="Arial"/>
              </a:rPr>
              <a:t>服薬管理整理（医師・家族連携）</a:t>
            </a:r>
            <a:r>
              <a:rPr lang="ja" sz="1400">
                <a:solidFill>
                  <a:srgbClr val="000000"/>
                </a:solidFill>
                <a:latin typeface="Arial"/>
                <a:ea typeface="Arial"/>
                <a:cs typeface="Arial"/>
                <a:sym typeface="Arial"/>
              </a:rPr>
              <a:t>。</a:t>
            </a:r>
            <a:r>
              <a:rPr lang="ja" sz="1400">
                <a:solidFill>
                  <a:srgbClr val="000000"/>
                </a:solidFill>
                <a:highlight>
                  <a:srgbClr val="EFEFEF"/>
                </a:highlight>
                <a:latin typeface="Arial"/>
                <a:ea typeface="Arial"/>
                <a:cs typeface="Arial"/>
                <a:sym typeface="Arial"/>
              </a:rPr>
              <a:t>住宅改修・手すり設置で転倒リスク軽減</a:t>
            </a:r>
            <a:r>
              <a:rPr lang="ja" sz="1400">
                <a:solidFill>
                  <a:srgbClr val="000000"/>
                </a:solidFill>
                <a:latin typeface="Arial"/>
                <a:ea typeface="Arial"/>
                <a:cs typeface="Arial"/>
                <a:sym typeface="Arial"/>
              </a:rPr>
              <a:t>。</a:t>
            </a:r>
            <a:r>
              <a:rPr lang="ja" sz="1400">
                <a:solidFill>
                  <a:srgbClr val="000000"/>
                </a:solidFill>
                <a:highlight>
                  <a:srgbClr val="EFEFEF"/>
                </a:highlight>
                <a:latin typeface="Arial"/>
                <a:ea typeface="Arial"/>
                <a:cs typeface="Arial"/>
                <a:sym typeface="Arial"/>
              </a:rPr>
              <a:t>MCI診断後、配食サービス・カフェ参加を支援</a:t>
            </a:r>
            <a:r>
              <a:rPr lang="ja" sz="1400">
                <a:solidFill>
                  <a:srgbClr val="000000"/>
                </a:solidFill>
                <a:latin typeface="Arial"/>
                <a:ea typeface="Arial"/>
                <a:cs typeface="Arial"/>
                <a:sym typeface="Arial"/>
              </a:rPr>
              <a:t>。</a:t>
            </a:r>
            <a:r>
              <a:rPr lang="ja" sz="1400">
                <a:solidFill>
                  <a:srgbClr val="000000"/>
                </a:solidFill>
                <a:highlight>
                  <a:srgbClr val="EFEFEF"/>
                </a:highlight>
                <a:latin typeface="Arial"/>
                <a:ea typeface="Arial"/>
                <a:cs typeface="Arial"/>
                <a:sym typeface="Arial"/>
              </a:rPr>
              <a:t>家族・地域の継続的見守り体制を構築</a:t>
            </a:r>
            <a:r>
              <a:rPr lang="ja" sz="1400">
                <a:solidFill>
                  <a:srgbClr val="000000"/>
                </a:solidFill>
                <a:latin typeface="Arial"/>
                <a:ea typeface="Arial"/>
                <a:cs typeface="Arial"/>
                <a:sym typeface="Arial"/>
              </a:rPr>
              <a:t>。</a:t>
            </a:r>
            <a:endParaRPr sz="1400">
              <a:solidFill>
                <a:schemeClr val="dk2"/>
              </a:solidFill>
            </a:endParaRPr>
          </a:p>
        </p:txBody>
      </p:sp>
      <p:sp>
        <p:nvSpPr>
          <p:cNvPr id="282" name="Google Shape;282;g398e3b8d10d_1_60"/>
          <p:cNvSpPr txBox="1"/>
          <p:nvPr>
            <p:ph idx="1" type="body"/>
          </p:nvPr>
        </p:nvSpPr>
        <p:spPr>
          <a:xfrm>
            <a:off x="4629900" y="2072975"/>
            <a:ext cx="4514100" cy="152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ja" sz="1500">
                <a:solidFill>
                  <a:schemeClr val="dk2"/>
                </a:solidFill>
              </a:rPr>
              <a:t>・出力データ</a:t>
            </a:r>
            <a:endParaRPr sz="1500">
              <a:solidFill>
                <a:schemeClr val="dk2"/>
              </a:solidFill>
            </a:endParaRPr>
          </a:p>
          <a:p>
            <a:pPr indent="0" lvl="0" marL="0" rtl="0" algn="l">
              <a:lnSpc>
                <a:spcPct val="115000"/>
              </a:lnSpc>
              <a:spcBef>
                <a:spcPts val="0"/>
              </a:spcBef>
              <a:spcAft>
                <a:spcPts val="0"/>
              </a:spcAft>
              <a:buSzPts val="1300"/>
              <a:buNone/>
            </a:pPr>
            <a:r>
              <a:rPr lang="ja" sz="1400">
                <a:solidFill>
                  <a:schemeClr val="dk2"/>
                </a:solidFill>
              </a:rPr>
              <a:t>［判断・支援内容］</a:t>
            </a:r>
            <a:r>
              <a:rPr b="1" lang="ja" sz="1400">
                <a:solidFill>
                  <a:schemeClr val="dk2"/>
                </a:solidFill>
              </a:rPr>
              <a:t>※</a:t>
            </a:r>
            <a:r>
              <a:rPr lang="ja" sz="1400">
                <a:solidFill>
                  <a:schemeClr val="dk2"/>
                </a:solidFill>
              </a:rPr>
              <a:t>過去の類似支援者</a:t>
            </a:r>
            <a:endParaRPr sz="1400">
              <a:solidFill>
                <a:schemeClr val="dk2"/>
              </a:solidFill>
            </a:endParaRPr>
          </a:p>
          <a:p>
            <a:pPr indent="0" lvl="0" marL="0" rtl="0" algn="l">
              <a:lnSpc>
                <a:spcPct val="100000"/>
              </a:lnSpc>
              <a:spcBef>
                <a:spcPts val="0"/>
              </a:spcBef>
              <a:spcAft>
                <a:spcPts val="0"/>
              </a:spcAft>
              <a:buSzPts val="1300"/>
              <a:buNone/>
            </a:pPr>
            <a:r>
              <a:rPr lang="ja" sz="1400">
                <a:solidFill>
                  <a:srgbClr val="000000"/>
                </a:solidFill>
                <a:latin typeface="Arial"/>
                <a:ea typeface="Arial"/>
                <a:cs typeface="Arial"/>
                <a:sym typeface="Arial"/>
              </a:rPr>
              <a:t>定期受診再開、薬物療法による表情改善。</a:t>
            </a:r>
            <a:r>
              <a:rPr lang="ja" sz="1400">
                <a:solidFill>
                  <a:srgbClr val="000000"/>
                </a:solidFill>
                <a:highlight>
                  <a:srgbClr val="EFEFEF"/>
                </a:highlight>
                <a:latin typeface="Arial"/>
                <a:ea typeface="Arial"/>
                <a:cs typeface="Arial"/>
                <a:sym typeface="Arial"/>
              </a:rPr>
              <a:t>服薬管理整理（医師・家族連携）</a:t>
            </a:r>
            <a:r>
              <a:rPr lang="ja" sz="1400">
                <a:solidFill>
                  <a:srgbClr val="000000"/>
                </a:solidFill>
                <a:latin typeface="Arial"/>
                <a:ea typeface="Arial"/>
                <a:cs typeface="Arial"/>
                <a:sym typeface="Arial"/>
              </a:rPr>
              <a:t>。</a:t>
            </a:r>
            <a:r>
              <a:rPr lang="ja" sz="1400">
                <a:solidFill>
                  <a:srgbClr val="000000"/>
                </a:solidFill>
                <a:highlight>
                  <a:srgbClr val="EFEFEF"/>
                </a:highlight>
                <a:latin typeface="Arial"/>
                <a:ea typeface="Arial"/>
                <a:cs typeface="Arial"/>
                <a:sym typeface="Arial"/>
              </a:rPr>
              <a:t>住宅改修・手すり設置で転倒リスク軽減。</a:t>
            </a:r>
            <a:r>
              <a:rPr lang="ja" sz="1400">
                <a:solidFill>
                  <a:srgbClr val="000000"/>
                </a:solidFill>
                <a:latin typeface="Arial"/>
                <a:ea typeface="Arial"/>
                <a:cs typeface="Arial"/>
                <a:sym typeface="Arial"/>
              </a:rPr>
              <a:t>夫への介護指導、通所サービス導入。</a:t>
            </a:r>
            <a:endParaRPr sz="1400">
              <a:solidFill>
                <a:schemeClr val="dk2"/>
              </a:solidFill>
            </a:endParaRPr>
          </a:p>
        </p:txBody>
      </p:sp>
      <p:sp>
        <p:nvSpPr>
          <p:cNvPr id="283" name="Google Shape;283;g398e3b8d10d_1_60"/>
          <p:cNvSpPr txBox="1"/>
          <p:nvPr/>
        </p:nvSpPr>
        <p:spPr>
          <a:xfrm>
            <a:off x="12808600" y="-1336250"/>
            <a:ext cx="1577700" cy="107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accent1"/>
              </a:solidFill>
              <a:latin typeface="Lato"/>
              <a:ea typeface="Lato"/>
              <a:cs typeface="Lato"/>
              <a:sym typeface="Lato"/>
            </a:endParaRPr>
          </a:p>
        </p:txBody>
      </p:sp>
      <p:graphicFrame>
        <p:nvGraphicFramePr>
          <p:cNvPr id="284" name="Google Shape;284;g398e3b8d10d_1_60"/>
          <p:cNvGraphicFramePr/>
          <p:nvPr/>
        </p:nvGraphicFramePr>
        <p:xfrm>
          <a:off x="12956600" y="-5350700"/>
          <a:ext cx="3000000" cy="3000000"/>
        </p:xfrm>
        <a:graphic>
          <a:graphicData uri="http://schemas.openxmlformats.org/drawingml/2006/table">
            <a:tbl>
              <a:tblPr>
                <a:noFill/>
                <a:tableStyleId>{262E0BBD-EE60-45B1-9FE5-41F6836EB5AA}</a:tableStyleId>
              </a:tblPr>
              <a:tblGrid>
                <a:gridCol w="2047875"/>
                <a:gridCol w="7038975"/>
              </a:tblGrid>
              <a:tr h="247650">
                <a:tc>
                  <a:txBody>
                    <a:bodyPr/>
                    <a:lstStyle/>
                    <a:p>
                      <a:pPr indent="0" lvl="0" marL="0" marR="0" rtl="0" algn="ctr">
                        <a:lnSpc>
                          <a:spcPct val="115000"/>
                        </a:lnSpc>
                        <a:spcBef>
                          <a:spcPts val="0"/>
                        </a:spcBef>
                        <a:spcAft>
                          <a:spcPts val="0"/>
                        </a:spcAft>
                        <a:buClr>
                          <a:srgbClr val="000000"/>
                        </a:buClr>
                        <a:buSzPts val="1100"/>
                        <a:buFont typeface="Arial"/>
                        <a:buNone/>
                      </a:pPr>
                      <a:r>
                        <a:rPr b="1" lang="ja" sz="1100" u="none" cap="none" strike="noStrike"/>
                        <a:t>項目</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ja" sz="1100" u="none" cap="none" strike="noStrike"/>
                        <a:t>内容</a:t>
                      </a:r>
                      <a:endParaRPr b="1" sz="11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訪問に対する本人の反応・理解</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包括職員による地域高齢者訪問として介入、受け入れ良好。「困っていない」と話すが、支援には協力的。</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認知機能（認知症日常生活自立度）</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DASC-21：32点。近時記憶・問題解決・一部のIADLに支障あり。MCI（軽度認知障害）レベル。</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精神症状・行動症状</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明確なBPSDは見られないが、同じ話の繰り返しや軽い記憶混乱あり。</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身体状況（障害高齢者の日常生活自立度）</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関節疾患・視力低下・転倒歴あり。通院時はタクシー利用。清潔保持・金銭管理は自立。</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生活状況</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室内はやや散乱気味。外出機会が減少し、日中はテレビ中心の生活。草花の観賞などの趣味は減少。</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アセスメントシート（DASC-21 / DBD13）</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DASC-21：32点。DBD13は実施なし。</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本人の意向・希望</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「困っていない。何でも自分でできる」と発言。自立志向が強い。</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介護者の意向・希望</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長女より「最近同じ話が増えて心配」「服薬や転倒が不安」との相談。</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判断・支援内容</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服薬管理整理（医師・家族連携）、住宅改修・手すり設置で転倒リスク軽減。MCI診断後、配食サービス・カフェ参加を支援。家族・地域の継続的見守り体制を構築。</a:t>
                      </a:r>
                      <a:endParaRPr sz="1400" u="none" cap="none" strike="noStrike"/>
                    </a:p>
                  </a:txBody>
                  <a:tcPr marT="91425" marB="91425" marR="91425" marL="91425"/>
                </a:tc>
              </a:tr>
            </a:tbl>
          </a:graphicData>
        </a:graphic>
      </p:graphicFrame>
      <p:graphicFrame>
        <p:nvGraphicFramePr>
          <p:cNvPr id="285" name="Google Shape;285;g398e3b8d10d_1_60"/>
          <p:cNvGraphicFramePr/>
          <p:nvPr/>
        </p:nvGraphicFramePr>
        <p:xfrm>
          <a:off x="12956600" y="65050"/>
          <a:ext cx="3000000" cy="3000000"/>
        </p:xfrm>
        <a:graphic>
          <a:graphicData uri="http://schemas.openxmlformats.org/drawingml/2006/table">
            <a:tbl>
              <a:tblPr>
                <a:noFill/>
                <a:tableStyleId>{262E0BBD-EE60-45B1-9FE5-41F6836EB5AA}</a:tableStyleId>
              </a:tblPr>
              <a:tblGrid>
                <a:gridCol w="2143125"/>
                <a:gridCol w="6943725"/>
              </a:tblGrid>
              <a:tr h="247650">
                <a:tc>
                  <a:txBody>
                    <a:bodyPr/>
                    <a:lstStyle/>
                    <a:p>
                      <a:pPr indent="0" lvl="0" marL="0" marR="0" rtl="0" algn="ctr">
                        <a:lnSpc>
                          <a:spcPct val="115000"/>
                        </a:lnSpc>
                        <a:spcBef>
                          <a:spcPts val="0"/>
                        </a:spcBef>
                        <a:spcAft>
                          <a:spcPts val="0"/>
                        </a:spcAft>
                        <a:buClr>
                          <a:srgbClr val="000000"/>
                        </a:buClr>
                        <a:buSzPts val="1100"/>
                        <a:buFont typeface="Arial"/>
                        <a:buNone/>
                      </a:pPr>
                      <a:r>
                        <a:rPr b="1" lang="ja" sz="1100" u="none" cap="none" strike="noStrike"/>
                        <a:t>項目</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ja" sz="1100" u="none" cap="none" strike="noStrike"/>
                        <a:t>内容</a:t>
                      </a:r>
                      <a:endParaRPr b="1" sz="11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訪問に対する本人の反応・理解</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ケアマネと同伴訪問。表情乏しく、他者との交流に不安あり。信頼関係構築から開始。</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認知機能（認知症日常生活自立度）</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DASC-21：62点。中等度の認知症。近時記憶・見当識・IADLに支障あり。</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精神症状・行動症状</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DBD13：21点（アパシー、常同行動あり）。社会的交流への不安強い。</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身体状況（障害高齢者の日常生活自立度）</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整形疾患あり。ADL低下。夫の介助で生活維持。</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生活状況</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夫婦二人暮らし。妻が介護を必要とし、夫も持病あり通院不安定。通所・サービス導入に消極的。</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アセスメントシート（DASC-21 / DBD13）</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DASC-21：62点、DBD13：21点、J-ZBI8：16点。</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本人の意向・希望</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他者との関わりに不安あり。夫と離れたくない。過去の写真や絵には関心を示す。</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介護者の意向・希望</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夫が主介護者。通所利用・負担軽減を希望。</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判断・支援内容</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定期受診再開、薬物療法による表情改善。夫への介護指導、通所サービス導入。夫婦での外出再開により生活意欲が向上。地域支援と包括介入を継続。</a:t>
                      </a:r>
                      <a:endParaRPr sz="1400" u="none" cap="none" strike="noStrike"/>
                    </a:p>
                  </a:txBody>
                  <a:tcPr marT="91425" marB="91425" marR="91425" marL="91425"/>
                </a:tc>
              </a:tr>
            </a:tbl>
          </a:graphicData>
        </a:graphic>
      </p:graphicFrame>
      <p:graphicFrame>
        <p:nvGraphicFramePr>
          <p:cNvPr id="286" name="Google Shape;286;g398e3b8d10d_1_60"/>
          <p:cNvGraphicFramePr/>
          <p:nvPr/>
        </p:nvGraphicFramePr>
        <p:xfrm>
          <a:off x="12956600" y="5274775"/>
          <a:ext cx="3000000" cy="3000000"/>
        </p:xfrm>
        <a:graphic>
          <a:graphicData uri="http://schemas.openxmlformats.org/drawingml/2006/table">
            <a:tbl>
              <a:tblPr>
                <a:noFill/>
                <a:tableStyleId>{262E0BBD-EE60-45B1-9FE5-41F6836EB5AA}</a:tableStyleId>
              </a:tblPr>
              <a:tblGrid>
                <a:gridCol w="1895475"/>
                <a:gridCol w="7191375"/>
              </a:tblGrid>
              <a:tr h="247650">
                <a:tc>
                  <a:txBody>
                    <a:bodyPr/>
                    <a:lstStyle/>
                    <a:p>
                      <a:pPr indent="0" lvl="0" marL="0" marR="0" rtl="0" algn="ctr">
                        <a:lnSpc>
                          <a:spcPct val="115000"/>
                        </a:lnSpc>
                        <a:spcBef>
                          <a:spcPts val="0"/>
                        </a:spcBef>
                        <a:spcAft>
                          <a:spcPts val="0"/>
                        </a:spcAft>
                        <a:buClr>
                          <a:srgbClr val="000000"/>
                        </a:buClr>
                        <a:buSzPts val="1100"/>
                        <a:buFont typeface="Arial"/>
                        <a:buNone/>
                      </a:pPr>
                      <a:r>
                        <a:rPr b="1" lang="ja" sz="1100" u="none" cap="none" strike="noStrike"/>
                        <a:t>項目</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ja" sz="1100" u="none" cap="none" strike="noStrike"/>
                        <a:t>内容</a:t>
                      </a:r>
                      <a:endParaRPr b="1" sz="11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訪問に対する本人の反応・理解</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民生委員と同伴訪問。会話は楽しそうだが、妄想的発言がみられる。訪問受け入れは良好。</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認知機能（認知症日常生活自立度）</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DASC-21：38点。軽度～中等度の低下（近時記憶・問題解決・一部IADLに支障）。</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精神症状・行動症状</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物盗られ妄想あり。特定の隣人に対する訴えを繰り返す。</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身体状況（障害高齢者の日常生活自立度）</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独居。高血圧あり（190/94mmHg）。ADLはおおむね自立。通院歴なし→支援後通院開始で安定。</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生活状況</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室内は整理整頓されており、自立生活を維持。食事・保清は自立。将棋を趣味とするが活動機会は少ない。</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アセスメントシート（DASC-21 / DBD13）</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DASC-21：38点。DBD13は未実施。</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本人の意向・希望</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独立志向が強く、「自分でできる」との意識。趣味継続を希望。</a:t>
                      </a:r>
                      <a:endParaRPr sz="1400" u="none" cap="none" strike="noStrike"/>
                    </a:p>
                  </a:txBody>
                  <a:tcPr marT="91425" marB="91425" marR="91425" marL="91425"/>
                </a:tc>
              </a:tr>
              <a:tr h="2476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介護者の意向・希望</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娘（市外）と民生委員が協力し見守り体制を希望。</a:t>
                      </a:r>
                      <a:endParaRPr sz="1400" u="none" cap="none" strike="noStrike"/>
                    </a:p>
                  </a:txBody>
                  <a:tcPr marT="91425" marB="91425" marR="91425" marL="91425"/>
                </a:tc>
              </a:tr>
              <a:tr h="476250">
                <a:tc>
                  <a:txBody>
                    <a:bodyPr/>
                    <a:lstStyle/>
                    <a:p>
                      <a:pPr indent="0" lvl="0" marL="0" marR="0" rtl="0" algn="l">
                        <a:lnSpc>
                          <a:spcPct val="100000"/>
                        </a:lnSpc>
                        <a:spcBef>
                          <a:spcPts val="0"/>
                        </a:spcBef>
                        <a:spcAft>
                          <a:spcPts val="0"/>
                        </a:spcAft>
                        <a:buClr>
                          <a:srgbClr val="000000"/>
                        </a:buClr>
                        <a:buSzPts val="1100"/>
                        <a:buFont typeface="Arial"/>
                        <a:buNone/>
                      </a:pPr>
                      <a:r>
                        <a:rPr b="1" lang="ja" sz="1100" u="none" cap="none" strike="noStrike"/>
                        <a:t>判断・支援内容</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ja" sz="1400" u="none" cap="none" strike="noStrike"/>
                        <a:t>医療受診同行で治療開始。物品管理方法の工夫により混乱軽減。隣人との理解を促進しトラブル防止。見守り・支援体制を構築。今後は金銭管理低下に対し権利擁護支援を検討。</a:t>
                      </a:r>
                      <a:endParaRPr sz="1400" u="none" cap="none" strike="noStrike"/>
                    </a:p>
                  </a:txBody>
                  <a:tcPr marT="91425" marB="91425" marR="91425" marL="91425"/>
                </a:tc>
              </a:tr>
            </a:tbl>
          </a:graphicData>
        </a:graphic>
      </p:graphicFrame>
      <p:sp>
        <p:nvSpPr>
          <p:cNvPr id="287" name="Google Shape;287;g398e3b8d10d_1_60"/>
          <p:cNvSpPr txBox="1"/>
          <p:nvPr/>
        </p:nvSpPr>
        <p:spPr>
          <a:xfrm>
            <a:off x="4692000" y="3601475"/>
            <a:ext cx="4389900" cy="38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2"/>
                </a:solidFill>
                <a:latin typeface="Lato"/>
                <a:ea typeface="Lato"/>
                <a:cs typeface="Lato"/>
                <a:sym typeface="Lato"/>
              </a:rPr>
              <a:t>類似度を表示し、マークされている部分を抜粋して提示</a:t>
            </a:r>
            <a:endParaRPr b="0" i="0" sz="1300" u="none" cap="none" strike="noStrike">
              <a:solidFill>
                <a:schemeClr val="dk2"/>
              </a:solidFill>
              <a:latin typeface="Lato"/>
              <a:ea typeface="Lato"/>
              <a:cs typeface="Lato"/>
              <a:sym typeface="Lato"/>
            </a:endParaRPr>
          </a:p>
        </p:txBody>
      </p:sp>
      <p:sp>
        <p:nvSpPr>
          <p:cNvPr id="288" name="Google Shape;288;g398e3b8d10d_1_60"/>
          <p:cNvSpPr txBox="1"/>
          <p:nvPr/>
        </p:nvSpPr>
        <p:spPr>
          <a:xfrm>
            <a:off x="5429550" y="847725"/>
            <a:ext cx="2914800" cy="38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2"/>
                </a:solidFill>
                <a:latin typeface="Lato"/>
                <a:ea typeface="Lato"/>
                <a:cs typeface="Lato"/>
                <a:sym typeface="Lato"/>
              </a:rPr>
              <a:t>※過去の</a:t>
            </a:r>
            <a:r>
              <a:rPr b="0" i="0" lang="ja" sz="1300" u="sng" cap="none" strike="noStrike">
                <a:solidFill>
                  <a:schemeClr val="hlink"/>
                </a:solidFill>
                <a:latin typeface="Lato"/>
                <a:ea typeface="Lato"/>
                <a:cs typeface="Lato"/>
                <a:sym typeface="Lato"/>
                <a:hlinkClick r:id="rId3"/>
              </a:rPr>
              <a:t>事例</a:t>
            </a:r>
            <a:r>
              <a:rPr b="0" i="0" lang="ja" sz="1300" u="none" cap="none" strike="noStrike">
                <a:solidFill>
                  <a:schemeClr val="dk2"/>
                </a:solidFill>
                <a:latin typeface="Lato"/>
                <a:ea typeface="Lato"/>
                <a:cs typeface="Lato"/>
                <a:sym typeface="Lato"/>
              </a:rPr>
              <a:t>より例を考察 (p.24-26)</a:t>
            </a:r>
            <a:endParaRPr b="0" i="0" sz="1300" u="none" cap="none" strike="noStrike">
              <a:solidFill>
                <a:schemeClr val="dk2"/>
              </a:solidFill>
              <a:latin typeface="Lato"/>
              <a:ea typeface="Lato"/>
              <a:cs typeface="Lato"/>
              <a:sym typeface="Lato"/>
            </a:endParaRPr>
          </a:p>
        </p:txBody>
      </p:sp>
      <p:sp>
        <p:nvSpPr>
          <p:cNvPr id="289" name="Google Shape;289;g398e3b8d10d_1_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a8f931dcef_2_26"/>
          <p:cNvSpPr txBox="1"/>
          <p:nvPr>
            <p:ph type="title"/>
          </p:nvPr>
        </p:nvSpPr>
        <p:spPr>
          <a:xfrm>
            <a:off x="729450" y="64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処理の流れ</a:t>
            </a:r>
            <a:endParaRPr/>
          </a:p>
        </p:txBody>
      </p:sp>
      <p:sp>
        <p:nvSpPr>
          <p:cNvPr id="295" name="Google Shape;295;g3a8f931dcef_2_26"/>
          <p:cNvSpPr txBox="1"/>
          <p:nvPr>
            <p:ph idx="1" type="body"/>
          </p:nvPr>
        </p:nvSpPr>
        <p:spPr>
          <a:xfrm>
            <a:off x="446375" y="1287900"/>
            <a:ext cx="8180400" cy="38556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defRPr sz="1100"/>
            </a:pPr>
            <a:r>
              <a:t>1．入力テキストの統合</a:t>
            </a:r>
            <a:br/>
            <a:r>
              <a:t>　類似事例検索画面で入力された「反応・理解」「認知機能」「精神・行動症状」</a:t>
            </a:r>
            <a:br/>
            <a:r>
              <a:t>　「身体状況」「生活状況」「本人の意向」「介護者の意向」を1つのテキストとして結合。</a:t>
            </a:r>
            <a:br/>
            <a:br/>
            <a:r>
              <a:t>2．キーワードの簡易抽出</a:t>
            </a:r>
            <a:br/>
            <a:r>
              <a:t>　正規表現で日本語の連続文字列（ひらがな・カタカナ・漢字）を抜き出し、</a:t>
            </a:r>
            <a:br/>
            <a:r>
              <a:t>　出現回数が多い語を上位キーワードとして画面に表示。</a:t>
            </a:r>
            <a:br/>
            <a:r>
              <a:t>　※形態素解析は使用せず、簡易な頻度ベースの抽出のみ行う。</a:t>
            </a:r>
            <a:br/>
            <a:br/>
            <a:r>
              <a:t>3．事例データの準備</a:t>
            </a:r>
            <a:br/>
            <a:r>
              <a:t>　データベースに保存された訪問記録（システム入力）と、</a:t>
            </a:r>
            <a:br/>
            <a:r>
              <a:t>　4つのPDF事例集から抽出した67件の事例テキストを1つのコーパスにまとめる。</a:t>
            </a:r>
            <a:br/>
            <a:br/>
            <a:r>
              <a:t>4．TF-IDFによるベクトル化</a:t>
            </a:r>
            <a:br/>
            <a:r>
              <a:t>　scikit-learnのTfidfVectorizerを用い、文字n-gram（2〜4文字）の</a:t>
            </a:r>
            <a:br/>
            <a:r>
              <a:t>　TF-IDFベクトルを作成。コーパス中の各事例と入力テキストを同じベクトル空間に変換。</a:t>
            </a:r>
            <a:br/>
            <a:br/>
            <a:r>
              <a:t>5．コサイン類似度の計算</a:t>
            </a:r>
            <a:br/>
            <a:r>
              <a:t>　sklearn.metrics.pairwise.cosine_similarityを使用し、</a:t>
            </a:r>
            <a:br/>
            <a:r>
              <a:t>　入力テキストと各事例とのコサイン類似度を計算。類似度の高い順に上位10件を抽出。</a:t>
            </a:r>
            <a:br/>
            <a:br/>
            <a:r>
              <a:t>6．類似事例の表示と活用</a:t>
            </a:r>
            <a:br/>
            <a:r>
              <a:t>　各候補について、事例テキスト・支援方針の要約・出典・困難/支援キーワードを表示。</a:t>
            </a:r>
            <a:br/>
            <a:r>
              <a:t>　本システムは支援方針を自動生成せず、提示された類似事例を専門職が参考にして</a:t>
            </a:r>
            <a:br/>
            <a:r>
              <a:t>　支援方針を検討・作成する。</a:t>
            </a:r>
            <a:endParaRPr b="1" sz="1217">
              <a:solidFill>
                <a:schemeClr val="dk2"/>
              </a:solidFill>
            </a:endParaRPr>
          </a:p>
        </p:txBody>
      </p:sp>
      <p:sp>
        <p:nvSpPr>
          <p:cNvPr id="296" name="Google Shape;296;g3a8f931dcef_2_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a8f931dcef_2_9"/>
          <p:cNvSpPr txBox="1"/>
          <p:nvPr/>
        </p:nvSpPr>
        <p:spPr>
          <a:xfrm>
            <a:off x="742400" y="549625"/>
            <a:ext cx="3531600" cy="57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500"/>
              <a:buFont typeface="Arial"/>
              <a:buNone/>
            </a:pPr>
            <a:r>
              <a:rPr b="1" i="0" lang="ja" sz="2500" u="none" cap="none" strike="noStrike">
                <a:solidFill>
                  <a:srgbClr val="000000"/>
                </a:solidFill>
                <a:latin typeface="Arial"/>
                <a:ea typeface="Arial"/>
                <a:cs typeface="Arial"/>
                <a:sym typeface="Arial"/>
              </a:rPr>
              <a:t>使用するライブラリ</a:t>
            </a:r>
            <a:endParaRPr b="0" i="0" sz="100" u="none" cap="none" strike="noStrike">
              <a:solidFill>
                <a:schemeClr val="accent1"/>
              </a:solidFill>
              <a:latin typeface="Lato"/>
              <a:ea typeface="Lato"/>
              <a:cs typeface="Lato"/>
              <a:sym typeface="Lato"/>
            </a:endParaRPr>
          </a:p>
        </p:txBody>
      </p:sp>
      <p:sp>
        <p:nvSpPr>
          <p:cNvPr id="302" name="Google Shape;302;g3a8f931dcef_2_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
        <p:nvSpPr>
          <p:cNvPr id="303" name="Google Shape;303;g3a8f931dcef_2_9"/>
          <p:cNvSpPr txBox="1"/>
          <p:nvPr/>
        </p:nvSpPr>
        <p:spPr>
          <a:xfrm>
            <a:off x="1798350" y="2081225"/>
            <a:ext cx="5603100" cy="222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200"/>
              <a:buFont typeface="Arial"/>
              <a:buNone/>
            </a:pPr>
            <a:r>
              <a:rPr b="0" i="0" lang="ja" sz="1700" u="none" cap="none" strike="noStrike">
                <a:solidFill>
                  <a:srgbClr val="000000"/>
                </a:solidFill>
                <a:latin typeface="Arial"/>
                <a:ea typeface="Arial"/>
                <a:cs typeface="Arial"/>
                <a:sym typeface="Arial"/>
              </a:rPr>
              <a:t>テキスト処理：scikit-learn TF-IDF（文字n-gram 2〜4）</a:t>
            </a:r>
            <a:br>
              <a:rPr b="0" i="0" lang="ja" sz="1700" u="none" cap="none" strike="noStrike">
                <a:solidFill>
                  <a:srgbClr val="000000"/>
                </a:solidFill>
                <a:latin typeface="Arial"/>
                <a:ea typeface="Arial"/>
                <a:cs typeface="Arial"/>
                <a:sym typeface="Arial"/>
              </a:rPr>
            </a:br>
            <a:r>
              <a:rPr b="0" i="0" lang="ja" sz="1700" u="none" cap="none" strike="noStrike">
                <a:solidFill>
                  <a:srgbClr val="000000"/>
                </a:solidFill>
                <a:latin typeface="Arial"/>
                <a:ea typeface="Arial"/>
                <a:cs typeface="Arial"/>
                <a:sym typeface="Arial"/>
              </a:rPr>
              <a:t>類似度計算：sklearn.metrics.pairwise.cosine_similarity</a:t>
            </a:r>
            <a:br>
              <a:rPr b="0" i="0" lang="ja" sz="1700" u="none" cap="none" strike="noStrike">
                <a:solidFill>
                  <a:srgbClr val="000000"/>
                </a:solidFill>
                <a:latin typeface="Arial"/>
                <a:ea typeface="Arial"/>
                <a:cs typeface="Arial"/>
                <a:sym typeface="Arial"/>
              </a:rPr>
            </a:br>
            <a:r>
              <a:rPr b="0" i="0" lang="ja" sz="1700" u="none" cap="none" strike="noStrike">
                <a:solidFill>
                  <a:srgbClr val="000000"/>
                </a:solidFill>
                <a:latin typeface="Arial"/>
                <a:ea typeface="Arial"/>
                <a:cs typeface="Arial"/>
                <a:sym typeface="Arial"/>
              </a:rPr>
              <a:t>PDF解析：pdfplumber</a:t>
            </a:r>
            <a:br>
              <a:rPr b="0" i="0" lang="ja" sz="1700" u="none" cap="none" strike="noStrike">
                <a:solidFill>
                  <a:srgbClr val="000000"/>
                </a:solidFill>
                <a:latin typeface="Arial"/>
                <a:ea typeface="Arial"/>
                <a:cs typeface="Arial"/>
                <a:sym typeface="Arial"/>
              </a:rPr>
            </a:br>
            <a:r>
              <a:rPr b="0" i="0" lang="ja" sz="1700" u="none" cap="none" strike="noStrike">
                <a:solidFill>
                  <a:srgbClr val="000000"/>
                </a:solidFill>
                <a:latin typeface="Arial"/>
                <a:ea typeface="Arial"/>
                <a:cs typeface="Arial"/>
                <a:sym typeface="Arial"/>
              </a:rPr>
              <a:t>データ管理：MySQL + PyMySQL</a:t>
            </a:r>
            <a:br>
              <a:rPr b="0" i="0" lang="ja" sz="1700" u="none" cap="none" strike="noStrike">
                <a:solidFill>
                  <a:srgbClr val="000000"/>
                </a:solidFill>
                <a:latin typeface="Arial"/>
                <a:ea typeface="Arial"/>
                <a:cs typeface="Arial"/>
                <a:sym typeface="Arial"/>
              </a:rPr>
            </a:br>
            <a:r>
              <a:rPr b="0" i="0" lang="ja" sz="1700" u="none" cap="none" strike="noStrike">
                <a:solidFill>
                  <a:srgbClr val="000000"/>
                </a:solidFill>
                <a:latin typeface="Arial"/>
                <a:ea typeface="Arial"/>
                <a:cs typeface="Arial"/>
                <a:sym typeface="Arial"/>
              </a:rPr>
              <a:t>Webフレームワーク：Flask</a:t>
            </a:r>
            <a:br>
              <a:rPr b="0" i="0" lang="ja" sz="1700" u="none" cap="none" strike="noStrike">
                <a:solidFill>
                  <a:srgbClr val="000000"/>
                </a:solidFill>
                <a:latin typeface="Arial"/>
                <a:ea typeface="Arial"/>
                <a:cs typeface="Arial"/>
                <a:sym typeface="Arial"/>
              </a:rPr>
            </a:br>
            <a:r>
              <a:rPr b="0" i="0" lang="ja" sz="1700" u="none" cap="none" strike="noStrike">
                <a:solidFill>
                  <a:srgbClr val="000000"/>
                </a:solidFill>
                <a:latin typeface="Arial"/>
                <a:ea typeface="Arial"/>
                <a:cs typeface="Arial"/>
                <a:sym typeface="Arial"/>
              </a:rPr>
              <a:t>Excel出力：openpyxl</a:t>
            </a:r>
            <a:br>
              <a:rPr b="0" i="0" lang="ja" sz="1700" u="none" cap="none" strike="noStrike">
                <a:solidFill>
                  <a:srgbClr val="000000"/>
                </a:solidFill>
                <a:latin typeface="Arial"/>
                <a:ea typeface="Arial"/>
                <a:cs typeface="Arial"/>
                <a:sym typeface="Arial"/>
              </a:rPr>
            </a:br>
            <a:r>
              <a:rPr b="0" i="0" lang="ja" sz="1700" u="none" cap="none" strike="noStrike">
                <a:solidFill>
                  <a:srgbClr val="000000"/>
                </a:solidFill>
                <a:latin typeface="Arial"/>
                <a:ea typeface="Arial"/>
                <a:cs typeface="Arial"/>
                <a:sym typeface="Arial"/>
              </a:rPr>
              <a:t>データ処理：pandas, NumPy</a:t>
            </a:r>
            <a:endParaRPr b="0" i="0" sz="1700" u="none" cap="none" strike="noStrike">
              <a:solidFill>
                <a:srgbClr val="000000"/>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a93dd1a128_0_0"/>
          <p:cNvSpPr txBox="1"/>
          <p:nvPr>
            <p:ph type="title"/>
          </p:nvPr>
        </p:nvSpPr>
        <p:spPr>
          <a:xfrm>
            <a:off x="729450" y="64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過去の事例</a:t>
            </a:r>
            <a:endParaRPr/>
          </a:p>
          <a:p>
            <a:pPr indent="0" lvl="0" marL="0" rtl="0" algn="l">
              <a:lnSpc>
                <a:spcPct val="100000"/>
              </a:lnSpc>
              <a:spcBef>
                <a:spcPts val="0"/>
              </a:spcBef>
              <a:spcAft>
                <a:spcPts val="0"/>
              </a:spcAft>
              <a:buSzPct val="111111"/>
              <a:buNone/>
            </a:pPr>
            <a:r>
              <a:t/>
            </a:r>
            <a:endParaRPr/>
          </a:p>
        </p:txBody>
      </p:sp>
      <p:sp>
        <p:nvSpPr>
          <p:cNvPr id="309" name="Google Shape;309;g3a93dd1a128_0_0"/>
          <p:cNvSpPr txBox="1"/>
          <p:nvPr/>
        </p:nvSpPr>
        <p:spPr>
          <a:xfrm>
            <a:off x="1092750" y="3847325"/>
            <a:ext cx="6958500" cy="65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accent1"/>
                </a:solidFill>
                <a:latin typeface="Lato"/>
                <a:ea typeface="Lato"/>
                <a:cs typeface="Lato"/>
                <a:sym typeface="Lato"/>
              </a:rPr>
              <a:t>主にこの二つの事例から</a:t>
            </a:r>
            <a:r>
              <a:rPr b="1" i="0" lang="ja" sz="1600" u="none" cap="none" strike="noStrike">
                <a:solidFill>
                  <a:schemeClr val="accent1"/>
                </a:solidFill>
                <a:latin typeface="Lato"/>
                <a:ea typeface="Lato"/>
                <a:cs typeface="Lato"/>
                <a:sym typeface="Lato"/>
              </a:rPr>
              <a:t>ケースの概要</a:t>
            </a:r>
            <a:r>
              <a:rPr b="0" i="0" lang="ja" sz="1600" u="none" cap="none" strike="noStrike">
                <a:solidFill>
                  <a:schemeClr val="accent1"/>
                </a:solidFill>
                <a:latin typeface="Lato"/>
                <a:ea typeface="Lato"/>
                <a:cs typeface="Lato"/>
                <a:sym typeface="Lato"/>
              </a:rPr>
              <a:t>や</a:t>
            </a:r>
            <a:r>
              <a:rPr b="1" i="0" lang="ja" sz="1600" u="none" cap="none" strike="noStrike">
                <a:solidFill>
                  <a:schemeClr val="accent1"/>
                </a:solidFill>
                <a:latin typeface="Lato"/>
                <a:ea typeface="Lato"/>
                <a:cs typeface="Lato"/>
                <a:sym typeface="Lato"/>
              </a:rPr>
              <a:t>支援内容</a:t>
            </a:r>
            <a:r>
              <a:rPr b="0" i="0" lang="ja" sz="1600" u="none" cap="none" strike="noStrike">
                <a:solidFill>
                  <a:schemeClr val="accent1"/>
                </a:solidFill>
                <a:latin typeface="Lato"/>
                <a:ea typeface="Lato"/>
                <a:cs typeface="Lato"/>
                <a:sym typeface="Lato"/>
              </a:rPr>
              <a:t>、</a:t>
            </a:r>
            <a:r>
              <a:rPr b="1" i="0" lang="ja" sz="1600" u="none" cap="none" strike="noStrike">
                <a:solidFill>
                  <a:schemeClr val="accent1"/>
                </a:solidFill>
                <a:latin typeface="Lato"/>
                <a:ea typeface="Lato"/>
                <a:cs typeface="Lato"/>
                <a:sym typeface="Lato"/>
              </a:rPr>
              <a:t>支援結果</a:t>
            </a:r>
            <a:r>
              <a:rPr b="0" i="0" lang="ja" sz="1600" u="none" cap="none" strike="noStrike">
                <a:solidFill>
                  <a:schemeClr val="accent1"/>
                </a:solidFill>
                <a:latin typeface="Lato"/>
                <a:ea typeface="Lato"/>
                <a:cs typeface="Lato"/>
                <a:sym typeface="Lato"/>
              </a:rPr>
              <a:t>を取得し、</a:t>
            </a:r>
            <a:endParaRPr b="0" i="0" sz="1600" u="none" cap="none" strike="noStrike">
              <a:solidFill>
                <a:schemeClr val="accen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600"/>
              <a:buFont typeface="Arial"/>
              <a:buNone/>
            </a:pPr>
            <a:r>
              <a:rPr b="0" i="0" lang="ja" sz="1600" u="none" cap="none" strike="noStrike">
                <a:solidFill>
                  <a:schemeClr val="accent1"/>
                </a:solidFill>
                <a:latin typeface="Lato"/>
                <a:ea typeface="Lato"/>
                <a:cs typeface="Lato"/>
                <a:sym typeface="Lato"/>
              </a:rPr>
              <a:t>本システムのテキストマイニングで使用する</a:t>
            </a:r>
            <a:endParaRPr b="0" i="0" sz="1600" u="none" cap="none" strike="noStrike">
              <a:solidFill>
                <a:schemeClr val="accent1"/>
              </a:solidFill>
              <a:latin typeface="Lato"/>
              <a:ea typeface="Lato"/>
              <a:cs typeface="Lato"/>
              <a:sym typeface="Lato"/>
            </a:endParaRPr>
          </a:p>
        </p:txBody>
      </p:sp>
      <p:sp>
        <p:nvSpPr>
          <p:cNvPr id="310" name="Google Shape;310;g3a93dd1a128_0_0"/>
          <p:cNvSpPr txBox="1"/>
          <p:nvPr/>
        </p:nvSpPr>
        <p:spPr>
          <a:xfrm>
            <a:off x="1386300" y="1328250"/>
            <a:ext cx="6371400" cy="234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lang="ja" sz="1600">
                <a:latin typeface="Lato"/>
                <a:ea typeface="Lato"/>
                <a:cs typeface="Lato"/>
                <a:sym typeface="Lato"/>
              </a:rPr>
              <a:t>・</a:t>
            </a:r>
            <a:r>
              <a:rPr b="1" i="0" lang="ja" sz="1600" u="none" cap="none" strike="noStrike">
                <a:solidFill>
                  <a:srgbClr val="000000"/>
                </a:solidFill>
                <a:latin typeface="Lato"/>
                <a:ea typeface="Lato"/>
                <a:cs typeface="Lato"/>
                <a:sym typeface="Lato"/>
              </a:rPr>
              <a:t>認知症初期集中支援チーム事例集</a:t>
            </a:r>
            <a:endParaRPr b="1" i="0" sz="16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900"/>
              <a:buFont typeface="Arial"/>
              <a:buNone/>
            </a:pPr>
            <a:r>
              <a:rPr lang="ja" sz="1600">
                <a:solidFill>
                  <a:schemeClr val="hlink"/>
                </a:solidFill>
              </a:rPr>
              <a:t>　</a:t>
            </a:r>
            <a:r>
              <a:rPr i="0" lang="ja" sz="1600" u="sng" cap="none" strike="noStrike">
                <a:solidFill>
                  <a:schemeClr val="hlink"/>
                </a:solidFill>
                <a:hlinkClick r:id="rId3"/>
              </a:rPr>
              <a:t>syokisyuutyuujireisyuu.pdf</a:t>
            </a:r>
            <a:endParaRPr i="0" sz="1600" u="none" cap="none" strike="noStrike">
              <a:solidFill>
                <a:schemeClr val="accent1"/>
              </a:solidFill>
            </a:endParaRPr>
          </a:p>
          <a:p>
            <a:pPr indent="0" lvl="0" marL="0" marR="0" rtl="0" algn="l">
              <a:lnSpc>
                <a:spcPct val="100000"/>
              </a:lnSpc>
              <a:spcBef>
                <a:spcPts val="0"/>
              </a:spcBef>
              <a:spcAft>
                <a:spcPts val="0"/>
              </a:spcAft>
              <a:buClr>
                <a:srgbClr val="000000"/>
              </a:buClr>
              <a:buSzPts val="1900"/>
              <a:buFont typeface="Arial"/>
              <a:buNone/>
            </a:pPr>
            <a:r>
              <a:rPr b="1" lang="ja" sz="1600">
                <a:solidFill>
                  <a:schemeClr val="dk2"/>
                </a:solidFill>
              </a:rPr>
              <a:t>・</a:t>
            </a:r>
            <a:r>
              <a:rPr b="1" i="0" lang="ja" sz="1600" u="none" cap="none" strike="noStrike">
                <a:solidFill>
                  <a:schemeClr val="dk2"/>
                </a:solidFill>
              </a:rPr>
              <a:t>認知症初期集中支援推進事業 ケーススタディ</a:t>
            </a:r>
            <a:endParaRPr b="1" i="0" sz="1600" u="none" cap="none" strike="noStrike">
              <a:solidFill>
                <a:schemeClr val="dk2"/>
              </a:solidFill>
            </a:endParaRPr>
          </a:p>
          <a:p>
            <a:pPr indent="0" lvl="0" marL="0" marR="0" rtl="0" algn="l">
              <a:lnSpc>
                <a:spcPct val="100000"/>
              </a:lnSpc>
              <a:spcBef>
                <a:spcPts val="0"/>
              </a:spcBef>
              <a:spcAft>
                <a:spcPts val="0"/>
              </a:spcAft>
              <a:buClr>
                <a:srgbClr val="000000"/>
              </a:buClr>
              <a:buSzPts val="1900"/>
              <a:buFont typeface="Arial"/>
              <a:buNone/>
            </a:pPr>
            <a:r>
              <a:rPr lang="ja" sz="1600">
                <a:solidFill>
                  <a:schemeClr val="accent1"/>
                </a:solidFill>
              </a:rPr>
              <a:t>　</a:t>
            </a:r>
            <a:r>
              <a:rPr lang="ja" sz="1600" u="sng">
                <a:solidFill>
                  <a:schemeClr val="accent5"/>
                </a:solidFill>
                <a:hlinkClick r:id="rId4">
                  <a:extLst>
                    <a:ext uri="{A12FA001-AC4F-418D-AE19-62706E023703}">
                      <ahyp:hlinkClr val="tx"/>
                    </a:ext>
                  </a:extLst>
                </a:hlinkClick>
              </a:rPr>
              <a:t>R3_Casestudies2.pdf</a:t>
            </a:r>
            <a:endParaRPr sz="1600">
              <a:solidFill>
                <a:schemeClr val="accent1"/>
              </a:solidFill>
            </a:endParaRPr>
          </a:p>
          <a:p>
            <a:pPr indent="0" lvl="0" marL="0" marR="0" rtl="0" algn="l">
              <a:lnSpc>
                <a:spcPct val="100000"/>
              </a:lnSpc>
              <a:spcBef>
                <a:spcPts val="0"/>
              </a:spcBef>
              <a:spcAft>
                <a:spcPts val="0"/>
              </a:spcAft>
              <a:buClr>
                <a:srgbClr val="000000"/>
              </a:buClr>
              <a:buSzPts val="1900"/>
              <a:buFont typeface="Arial"/>
              <a:buNone/>
            </a:pPr>
            <a:r>
              <a:rPr b="1" lang="ja" sz="1600">
                <a:solidFill>
                  <a:schemeClr val="dk2"/>
                </a:solidFill>
                <a:latin typeface="Lato"/>
                <a:ea typeface="Lato"/>
                <a:cs typeface="Lato"/>
                <a:sym typeface="Lato"/>
              </a:rPr>
              <a:t>・さいたま市認知症初期集中 支援チーム活動事例集</a:t>
            </a:r>
            <a:endParaRPr b="1" sz="1600">
              <a:solidFill>
                <a:schemeClr val="dk2"/>
              </a:solidFill>
              <a:latin typeface="Lato"/>
              <a:ea typeface="Lato"/>
              <a:cs typeface="Lato"/>
              <a:sym typeface="Lato"/>
            </a:endParaRPr>
          </a:p>
          <a:p>
            <a:pPr indent="0" lvl="0" marL="0" rtl="0" algn="l">
              <a:lnSpc>
                <a:spcPct val="115000"/>
              </a:lnSpc>
              <a:spcBef>
                <a:spcPts val="0"/>
              </a:spcBef>
              <a:spcAft>
                <a:spcPts val="0"/>
              </a:spcAft>
              <a:buNone/>
            </a:pPr>
            <a:r>
              <a:rPr lang="ja" sz="1600">
                <a:solidFill>
                  <a:schemeClr val="accent1"/>
                </a:solidFill>
              </a:rPr>
              <a:t>　</a:t>
            </a:r>
            <a:r>
              <a:rPr lang="ja" sz="1600" u="sng">
                <a:solidFill>
                  <a:schemeClr val="accent5"/>
                </a:solidFill>
                <a:hlinkClick r:id="rId5">
                  <a:extLst>
                    <a:ext uri="{A12FA001-AC4F-418D-AE19-62706E023703}">
                      <ahyp:hlinkClr val="tx"/>
                    </a:ext>
                  </a:extLst>
                </a:hlinkClick>
              </a:rPr>
              <a:t>jirei-shu.pdf</a:t>
            </a:r>
            <a:endParaRPr b="1" sz="1500">
              <a:solidFill>
                <a:schemeClr val="accent1"/>
              </a:solidFill>
            </a:endParaRPr>
          </a:p>
          <a:p>
            <a:pPr indent="0" lvl="0" marL="0" rtl="0" algn="l">
              <a:lnSpc>
                <a:spcPct val="115000"/>
              </a:lnSpc>
              <a:spcBef>
                <a:spcPts val="0"/>
              </a:spcBef>
              <a:spcAft>
                <a:spcPts val="0"/>
              </a:spcAft>
              <a:buNone/>
            </a:pPr>
            <a:r>
              <a:rPr b="1" lang="ja" sz="1600">
                <a:solidFill>
                  <a:schemeClr val="dk2"/>
                </a:solidFill>
              </a:rPr>
              <a:t>・認知症初期集中支援チームが直面している地域における 認知症者</a:t>
            </a:r>
            <a:endParaRPr b="1" sz="1600">
              <a:solidFill>
                <a:schemeClr val="dk2"/>
              </a:solidFill>
            </a:endParaRPr>
          </a:p>
          <a:p>
            <a:pPr indent="0" lvl="0" marL="0" rtl="0" algn="l">
              <a:lnSpc>
                <a:spcPct val="115000"/>
              </a:lnSpc>
              <a:spcBef>
                <a:spcPts val="0"/>
              </a:spcBef>
              <a:spcAft>
                <a:spcPts val="0"/>
              </a:spcAft>
              <a:buNone/>
            </a:pPr>
            <a:r>
              <a:rPr b="1" lang="ja" sz="1600">
                <a:solidFill>
                  <a:schemeClr val="dk2"/>
                </a:solidFill>
              </a:rPr>
              <a:t>　にかかる困難事例に関する事例集</a:t>
            </a:r>
            <a:endParaRPr b="1" sz="1600">
              <a:solidFill>
                <a:schemeClr val="dk2"/>
              </a:solidFill>
            </a:endParaRPr>
          </a:p>
          <a:p>
            <a:pPr indent="0" lvl="0" marL="0" rtl="0" algn="l">
              <a:lnSpc>
                <a:spcPct val="115000"/>
              </a:lnSpc>
              <a:spcBef>
                <a:spcPts val="0"/>
              </a:spcBef>
              <a:spcAft>
                <a:spcPts val="0"/>
              </a:spcAft>
              <a:buNone/>
            </a:pPr>
            <a:r>
              <a:rPr lang="ja" sz="1600">
                <a:solidFill>
                  <a:schemeClr val="accent1"/>
                </a:solidFill>
              </a:rPr>
              <a:t>　</a:t>
            </a:r>
            <a:r>
              <a:rPr lang="ja" sz="1600" u="sng">
                <a:solidFill>
                  <a:schemeClr val="accent5"/>
                </a:solidFill>
                <a:hlinkClick r:id="rId6">
                  <a:extLst>
                    <a:ext uri="{A12FA001-AC4F-418D-AE19-62706E023703}">
                      <ahyp:hlinkClr val="tx"/>
                    </a:ext>
                  </a:extLst>
                </a:hlinkClick>
              </a:rPr>
              <a:t>&lt;96BC8FCC96A290DD92E82D31&gt;</a:t>
            </a:r>
            <a:endParaRPr b="1" sz="2000">
              <a:solidFill>
                <a:schemeClr val="accent1"/>
              </a:solidFill>
            </a:endParaRPr>
          </a:p>
          <a:p>
            <a:pPr indent="0" lvl="0" marL="0" rtl="0" algn="l">
              <a:lnSpc>
                <a:spcPct val="115000"/>
              </a:lnSpc>
              <a:spcBef>
                <a:spcPts val="0"/>
              </a:spcBef>
              <a:spcAft>
                <a:spcPts val="0"/>
              </a:spcAft>
              <a:buNone/>
            </a:pPr>
            <a:r>
              <a:t/>
            </a:r>
            <a:endParaRPr sz="1600">
              <a:solidFill>
                <a:schemeClr val="accent1"/>
              </a:solidFill>
            </a:endParaRPr>
          </a:p>
          <a:p>
            <a:pPr indent="0" lvl="0" marL="0" marR="0" rtl="0" algn="l">
              <a:lnSpc>
                <a:spcPct val="100000"/>
              </a:lnSpc>
              <a:spcBef>
                <a:spcPts val="0"/>
              </a:spcBef>
              <a:spcAft>
                <a:spcPts val="0"/>
              </a:spcAft>
              <a:buClr>
                <a:srgbClr val="000000"/>
              </a:buClr>
              <a:buSzPts val="1900"/>
              <a:buFont typeface="Arial"/>
              <a:buNone/>
            </a:pPr>
            <a:r>
              <a:t/>
            </a:r>
            <a:endParaRPr b="1" sz="1500">
              <a:solidFill>
                <a:schemeClr val="accent1"/>
              </a:solidFill>
            </a:endParaRPr>
          </a:p>
        </p:txBody>
      </p:sp>
      <p:sp>
        <p:nvSpPr>
          <p:cNvPr id="311" name="Google Shape;311;g3a93dd1a128_0_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a42b4b553e_0_0"/>
          <p:cNvSpPr txBox="1"/>
          <p:nvPr>
            <p:ph type="title"/>
          </p:nvPr>
        </p:nvSpPr>
        <p:spPr>
          <a:xfrm>
            <a:off x="0" y="630625"/>
            <a:ext cx="38061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システム使用のストーリ―</a:t>
            </a:r>
            <a:endParaRPr/>
          </a:p>
        </p:txBody>
      </p:sp>
      <p:sp>
        <p:nvSpPr>
          <p:cNvPr id="317" name="Google Shape;317;g3a42b4b553e_0_0"/>
          <p:cNvSpPr txBox="1"/>
          <p:nvPr>
            <p:ph idx="1" type="body"/>
          </p:nvPr>
        </p:nvSpPr>
        <p:spPr>
          <a:xfrm>
            <a:off x="729450" y="1289775"/>
            <a:ext cx="7688700" cy="3050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defRPr sz="1200"/>
            </a:pPr>
            <a:r>
              <a:t>①きっかけ（相談受付）</a:t>
            </a:r>
            <a:br/>
            <a:r>
              <a:t>　家族や知人、地域の関係者から「物忘れ」「行動の変化」などの相談を受ける。</a:t>
            </a:r>
            <a:br/>
            <a:r>
              <a:t>　→ 詳細画面の「対象者基本情報」タブに、氏名・連絡先・相談内容の概要などを記録。</a:t>
            </a:r>
            <a:br/>
            <a:br/>
            <a:r>
              <a:t>②対象者宅への訪問とアセスメント</a:t>
            </a:r>
            <a:br/>
            <a:r>
              <a:t>　医師、保健師、作業療法士などの認知症初期集中支援チームが対象者宅を訪問。</a:t>
            </a:r>
            <a:br/>
            <a:r>
              <a:t>　→ 詳細画面で以下のタブに情報を入力・保存する。</a:t>
            </a:r>
            <a:br/>
            <a:r>
              <a:t>　　・「訪問記録」：反応・理解、精神症状、身体状況、生活状況、本人・介護者の意向など</a:t>
            </a:r>
            <a:br/>
            <a:r>
              <a:t>　　・「身体状況」：障害高齢者の日常生活自立度など</a:t>
            </a:r>
            <a:br/>
            <a:r>
              <a:t>　　・「DASC-21」「DBD13」：認知症の重症度・行動症状の評価</a:t>
            </a:r>
            <a:br/>
            <a:br/>
            <a:r>
              <a:t>③類似事例検索と支援方針検討</a:t>
            </a:r>
            <a:br/>
            <a:r>
              <a:t>　訪問記録で入力した内容をもとに、類似事例検索画面でテキストを入力し、</a:t>
            </a:r>
            <a:br/>
            <a:r>
              <a:t>　TF-IDF＋コサイン類似度により過去の類似ケースを検索する。</a:t>
            </a:r>
            <a:br/>
            <a:r>
              <a:t>　→ 検索結果として、過去の事例テキスト・支援方針の要約・困難/支援キーワードが一覧表示。</a:t>
            </a:r>
            <a:br/>
            <a:r>
              <a:t>　　これらを参考情報として用い、チームで現在ケースの支援方針を検討・作成する。</a:t>
            </a:r>
            <a:br/>
            <a:r>
              <a:t>　　（本システムは支援方針を自動決定せず、意思決定を支援する役割を担う。）</a:t>
            </a:r>
            <a:endParaRPr sz="1900"/>
          </a:p>
        </p:txBody>
      </p:sp>
      <p:sp>
        <p:nvSpPr>
          <p:cNvPr id="318" name="Google Shape;318;g3a42b4b553e_0_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ja"/>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ae1ca26884_2_41"/>
          <p:cNvSpPr txBox="1"/>
          <p:nvPr>
            <p:ph type="title"/>
          </p:nvPr>
        </p:nvSpPr>
        <p:spPr>
          <a:xfrm>
            <a:off x="187250" y="652450"/>
            <a:ext cx="23433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事例からの抽出</a:t>
            </a:r>
            <a:endParaRPr/>
          </a:p>
        </p:txBody>
      </p:sp>
      <p:sp>
        <p:nvSpPr>
          <p:cNvPr id="324" name="Google Shape;324;g3ae1ca26884_2_41"/>
          <p:cNvSpPr txBox="1"/>
          <p:nvPr>
            <p:ph idx="1" type="body"/>
          </p:nvPr>
        </p:nvSpPr>
        <p:spPr>
          <a:xfrm>
            <a:off x="0" y="1317250"/>
            <a:ext cx="9144000" cy="370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defRPr sz="1100"/>
            </a:pPr>
            <a:r>
              <a:t>PDF事例集からの抽出の流れ</a:t>
            </a:r>
            <a:br/>
            <a:br/>
            <a:r>
              <a:t>・PDFからテキストを抽出</a:t>
            </a:r>
            <a:br/>
            <a:r>
              <a:t>　pdfplumberを用いて、各ページのテキストを抽出する。</a:t>
            </a:r>
            <a:br/>
            <a:br/>
            <a:r>
              <a:t>・困難キーワード・支援キーワードの取り出し</a:t>
            </a:r>
            <a:br/>
            <a:r>
              <a:t>　各事例集に記載された「困難キーワード」「支援キーワード」の部分を正規表現で検出し、</a:t>
            </a:r>
            <a:br/>
            <a:r>
              <a:t>　「支援拒否」「老老介護」「徘徊」「デイサービス導入」などをリストで保存。</a:t>
            </a:r>
            <a:br/>
            <a:br/>
            <a:r>
              <a:t>・支援方針（policy）テキストの作成</a:t>
            </a:r>
            <a:br/>
            <a:r>
              <a:t>　支援内容や結果、ポイントなどの記述から要約を作成し、事例ごとの支援方針として保存。</a:t>
            </a:r>
            <a:br/>
            <a:br/>
            <a:r>
              <a:t>・JSONデータへの変換</a:t>
            </a:r>
            <a:br/>
            <a:r>
              <a:t>　1件の事例は次のような構造で保存される：</a:t>
            </a:r>
            <a:br/>
            <a:r>
              <a:t>　- text：事例の概要テキスト（困難の内容など）</a:t>
            </a:r>
            <a:br/>
            <a:r>
              <a:t>　- difficulty_keywords：困難キーワード（例：支援拒否、老老介護など）</a:t>
            </a:r>
            <a:br/>
            <a:r>
              <a:t>　- support_keywords：支援キーワード（例：訪問支援、入院/施設利用など）</a:t>
            </a:r>
            <a:br/>
            <a:r>
              <a:t>　- policy：支援方針・結果の要約</a:t>
            </a:r>
            <a:br/>
            <a:r>
              <a:t>　- source：事例集の出典（大阪大学/さいたま市/国立長寿医療研究センター/神奈川県）</a:t>
            </a:r>
            <a:br/>
            <a:br/>
            <a:r>
              <a:t>・類似事例検索での利用</a:t>
            </a:r>
            <a:br/>
            <a:r>
              <a:t>　textとキーワード類を結合したテキストをTF-IDF（文字n-gram 2〜4）でベクトル化し、</a:t>
            </a:r>
            <a:br/>
            <a:r>
              <a:t>　現在のケースの入力テキストとコサイン類似度で比較することで、</a:t>
            </a:r>
            <a:br/>
            <a:r>
              <a:t>　困難キーワードや支援内容が近い事例を検索・提示する。</a:t>
            </a:r>
            <a:endParaRPr sz="1400">
              <a:solidFill>
                <a:schemeClr val="dk2"/>
              </a:solidFill>
            </a:endParaRPr>
          </a:p>
        </p:txBody>
      </p:sp>
      <p:sp>
        <p:nvSpPr>
          <p:cNvPr id="325" name="Google Shape;325;g3ae1ca26884_2_4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98e3b8d10d_3_9"/>
          <p:cNvSpPr txBox="1"/>
          <p:nvPr>
            <p:ph type="title"/>
          </p:nvPr>
        </p:nvSpPr>
        <p:spPr>
          <a:xfrm>
            <a:off x="0" y="6578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介護保険認定フローと認知症初期集中支援業務の関係性</a:t>
            </a:r>
            <a:endParaRPr/>
          </a:p>
        </p:txBody>
      </p:sp>
      <p:sp>
        <p:nvSpPr>
          <p:cNvPr id="331" name="Google Shape;331;g398e3b8d10d_3_9"/>
          <p:cNvSpPr txBox="1"/>
          <p:nvPr/>
        </p:nvSpPr>
        <p:spPr>
          <a:xfrm>
            <a:off x="439500" y="1875925"/>
            <a:ext cx="8265000" cy="283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900"/>
              <a:buFont typeface="Arial"/>
              <a:buNone/>
            </a:pPr>
            <a:r>
              <a:rPr b="1" i="0" lang="ja" sz="1900" u="none" cap="none" strike="noStrike">
                <a:solidFill>
                  <a:srgbClr val="000000"/>
                </a:solidFill>
                <a:latin typeface="Arial"/>
                <a:ea typeface="Arial"/>
                <a:cs typeface="Arial"/>
                <a:sym typeface="Arial"/>
              </a:rPr>
              <a:t>初期集中支援は介護保険認定フローの「前段階」に位置する</a:t>
            </a:r>
            <a:endParaRPr b="1" i="0" sz="1900" u="none" cap="none" strike="noStrike">
              <a:solidFill>
                <a:srgbClr val="000000"/>
              </a:solidFill>
              <a:latin typeface="Arial"/>
              <a:ea typeface="Arial"/>
              <a:cs typeface="Arial"/>
              <a:sym typeface="Arial"/>
            </a:endParaRPr>
          </a:p>
          <a:p>
            <a:pPr indent="-336550" lvl="0" marL="457200" marR="0" rtl="0" algn="l">
              <a:lnSpc>
                <a:spcPct val="115000"/>
              </a:lnSpc>
              <a:spcBef>
                <a:spcPts val="1200"/>
              </a:spcBef>
              <a:spcAft>
                <a:spcPts val="0"/>
              </a:spcAft>
              <a:buClr>
                <a:srgbClr val="000000"/>
              </a:buClr>
              <a:buSzPts val="1700"/>
              <a:buFont typeface="Arial"/>
              <a:buChar char="●"/>
            </a:pPr>
            <a:r>
              <a:rPr b="0" i="0" lang="ja" sz="1700" u="none" cap="none" strike="noStrike">
                <a:solidFill>
                  <a:srgbClr val="000000"/>
                </a:solidFill>
                <a:latin typeface="Arial"/>
                <a:ea typeface="Arial"/>
                <a:cs typeface="Arial"/>
                <a:sym typeface="Arial"/>
              </a:rPr>
              <a:t>認知症の疑いがある</a:t>
            </a:r>
            <a:br>
              <a:rPr b="0" i="0" lang="ja" sz="1700" u="none" cap="none" strike="noStrike">
                <a:solidFill>
                  <a:srgbClr val="000000"/>
                </a:solidFill>
                <a:latin typeface="Arial"/>
                <a:ea typeface="Arial"/>
                <a:cs typeface="Arial"/>
                <a:sym typeface="Arial"/>
              </a:rPr>
            </a:br>
            <a:endParaRPr b="0" i="0" sz="1700" u="none" cap="none" strike="noStrike">
              <a:solidFill>
                <a:srgbClr val="000000"/>
              </a:solidFill>
              <a:latin typeface="Arial"/>
              <a:ea typeface="Arial"/>
              <a:cs typeface="Arial"/>
              <a:sym typeface="Arial"/>
            </a:endParaRPr>
          </a:p>
          <a:p>
            <a:pPr indent="-336550" lvl="0" marL="457200" marR="0" rtl="0" algn="l">
              <a:lnSpc>
                <a:spcPct val="115000"/>
              </a:lnSpc>
              <a:spcBef>
                <a:spcPts val="0"/>
              </a:spcBef>
              <a:spcAft>
                <a:spcPts val="0"/>
              </a:spcAft>
              <a:buClr>
                <a:srgbClr val="000000"/>
              </a:buClr>
              <a:buSzPts val="1700"/>
              <a:buFont typeface="Arial"/>
              <a:buChar char="●"/>
            </a:pPr>
            <a:r>
              <a:rPr b="0" i="0" lang="ja" sz="1700" u="none" cap="none" strike="noStrike">
                <a:solidFill>
                  <a:srgbClr val="000000"/>
                </a:solidFill>
                <a:latin typeface="Arial"/>
                <a:ea typeface="Arial"/>
                <a:cs typeface="Arial"/>
                <a:sym typeface="Arial"/>
              </a:rPr>
              <a:t>本人が認定を受けていない</a:t>
            </a:r>
            <a:br>
              <a:rPr b="0" i="0" lang="ja" sz="1700" u="none" cap="none" strike="noStrike">
                <a:solidFill>
                  <a:srgbClr val="000000"/>
                </a:solidFill>
                <a:latin typeface="Arial"/>
                <a:ea typeface="Arial"/>
                <a:cs typeface="Arial"/>
                <a:sym typeface="Arial"/>
              </a:rPr>
            </a:br>
            <a:endParaRPr b="0" i="0" sz="1700" u="none" cap="none" strike="noStrike">
              <a:solidFill>
                <a:srgbClr val="000000"/>
              </a:solidFill>
              <a:latin typeface="Arial"/>
              <a:ea typeface="Arial"/>
              <a:cs typeface="Arial"/>
              <a:sym typeface="Arial"/>
            </a:endParaRPr>
          </a:p>
          <a:p>
            <a:pPr indent="-336550" lvl="0" marL="457200" marR="0" rtl="0" algn="l">
              <a:lnSpc>
                <a:spcPct val="115000"/>
              </a:lnSpc>
              <a:spcBef>
                <a:spcPts val="0"/>
              </a:spcBef>
              <a:spcAft>
                <a:spcPts val="0"/>
              </a:spcAft>
              <a:buClr>
                <a:srgbClr val="000000"/>
              </a:buClr>
              <a:buSzPts val="1700"/>
              <a:buFont typeface="Arial"/>
              <a:buChar char="●"/>
            </a:pPr>
            <a:r>
              <a:rPr b="0" i="0" lang="ja" sz="1700" u="none" cap="none" strike="noStrike">
                <a:solidFill>
                  <a:srgbClr val="000000"/>
                </a:solidFill>
                <a:latin typeface="Arial"/>
                <a:ea typeface="Arial"/>
                <a:cs typeface="Arial"/>
                <a:sym typeface="Arial"/>
              </a:rPr>
              <a:t>受診に結びついていない</a:t>
            </a:r>
            <a:br>
              <a:rPr b="0" i="0" lang="ja" sz="1700" u="none" cap="none" strike="noStrike">
                <a:solidFill>
                  <a:srgbClr val="000000"/>
                </a:solidFill>
                <a:latin typeface="Arial"/>
                <a:ea typeface="Arial"/>
                <a:cs typeface="Arial"/>
                <a:sym typeface="Arial"/>
              </a:rPr>
            </a:br>
            <a:r>
              <a:rPr b="0" i="0" lang="ja" sz="1700" u="none" cap="none" strike="noStrike">
                <a:solidFill>
                  <a:srgbClr val="000000"/>
                </a:solidFill>
                <a:latin typeface="Arial"/>
                <a:ea typeface="Arial"/>
                <a:cs typeface="Arial"/>
                <a:sym typeface="Arial"/>
              </a:rPr>
              <a:t> こうした段階で </a:t>
            </a:r>
            <a:r>
              <a:rPr b="1" i="0" lang="ja" sz="1700" u="none" cap="none" strike="noStrike">
                <a:solidFill>
                  <a:srgbClr val="000000"/>
                </a:solidFill>
                <a:latin typeface="Arial"/>
                <a:ea typeface="Arial"/>
                <a:cs typeface="Arial"/>
                <a:sym typeface="Arial"/>
              </a:rPr>
              <a:t>早期に状態把握し、医療・介護につなぐ</a:t>
            </a:r>
            <a:r>
              <a:rPr b="0" i="0" lang="ja" sz="1700" u="none" cap="none" strike="noStrike">
                <a:solidFill>
                  <a:srgbClr val="000000"/>
                </a:solidFill>
                <a:latin typeface="Arial"/>
                <a:ea typeface="Arial"/>
                <a:cs typeface="Arial"/>
                <a:sym typeface="Arial"/>
              </a:rPr>
              <a:t> のが初期集中支援。</a:t>
            </a:r>
            <a:br>
              <a:rPr b="0" i="0" lang="ja" sz="1700" u="none" cap="none" strike="noStrike">
                <a:solidFill>
                  <a:srgbClr val="000000"/>
                </a:solidFill>
                <a:latin typeface="Arial"/>
                <a:ea typeface="Arial"/>
                <a:cs typeface="Arial"/>
                <a:sym typeface="Arial"/>
              </a:rPr>
            </a:br>
            <a:r>
              <a:rPr b="0" i="0" lang="ja" sz="1700" u="none" cap="none" strike="noStrike">
                <a:solidFill>
                  <a:srgbClr val="000000"/>
                </a:solidFill>
                <a:latin typeface="Arial"/>
                <a:ea typeface="Arial"/>
                <a:cs typeface="Arial"/>
                <a:sym typeface="Arial"/>
              </a:rPr>
              <a:t>　→ </a:t>
            </a:r>
            <a:r>
              <a:rPr b="1" i="0" lang="ja" sz="1700" u="none" cap="none" strike="noStrike">
                <a:solidFill>
                  <a:srgbClr val="000000"/>
                </a:solidFill>
                <a:latin typeface="Arial"/>
                <a:ea typeface="Arial"/>
                <a:cs typeface="Arial"/>
                <a:sym typeface="Arial"/>
              </a:rPr>
              <a:t>認定を受ける必要がある人を見つけ、認定申請につなげる役割</a:t>
            </a:r>
            <a:r>
              <a:rPr b="0" i="0" lang="ja" sz="1700" u="none" cap="none" strike="noStrike">
                <a:solidFill>
                  <a:srgbClr val="000000"/>
                </a:solidFill>
                <a:latin typeface="Arial"/>
                <a:ea typeface="Arial"/>
                <a:cs typeface="Arial"/>
                <a:sym typeface="Arial"/>
              </a:rPr>
              <a:t>。</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900"/>
              <a:buFont typeface="Arial"/>
              <a:buNone/>
            </a:pPr>
            <a:r>
              <a:t/>
            </a:r>
            <a:endParaRPr b="0" i="0" sz="1900" u="none" cap="none" strike="noStrike">
              <a:solidFill>
                <a:schemeClr val="accent1"/>
              </a:solidFill>
              <a:latin typeface="Lato"/>
              <a:ea typeface="Lato"/>
              <a:cs typeface="Lato"/>
              <a:sym typeface="Lato"/>
            </a:endParaRPr>
          </a:p>
        </p:txBody>
      </p:sp>
      <p:sp>
        <p:nvSpPr>
          <p:cNvPr id="332" name="Google Shape;332;g398e3b8d10d_3_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sp>
        <p:nvSpPr>
          <p:cNvPr id="337" name="Google Shape;337;g36f8e1de706_4_100"/>
          <p:cNvSpPr txBox="1"/>
          <p:nvPr>
            <p:ph idx="1" type="body"/>
          </p:nvPr>
        </p:nvSpPr>
        <p:spPr>
          <a:xfrm>
            <a:off x="488425" y="1529075"/>
            <a:ext cx="7688700" cy="3527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1A1A1A"/>
              </a:buClr>
              <a:buSzPts val="1800"/>
              <a:buChar char="●"/>
            </a:pPr>
            <a:r>
              <a:rPr lang="ja" sz="1800">
                <a:solidFill>
                  <a:srgbClr val="1A1A1A"/>
                </a:solidFill>
              </a:rPr>
              <a:t>HTML</a:t>
            </a:r>
            <a:endParaRPr sz="1800">
              <a:solidFill>
                <a:srgbClr val="1A1A1A"/>
              </a:solidFill>
            </a:endParaRPr>
          </a:p>
          <a:p>
            <a:pPr indent="-342900" lvl="0" marL="457200" rtl="0" algn="l">
              <a:lnSpc>
                <a:spcPct val="115000"/>
              </a:lnSpc>
              <a:spcBef>
                <a:spcPts val="0"/>
              </a:spcBef>
              <a:spcAft>
                <a:spcPts val="0"/>
              </a:spcAft>
              <a:buClr>
                <a:srgbClr val="1A1A1A"/>
              </a:buClr>
              <a:buSzPts val="1800"/>
              <a:buChar char="●"/>
            </a:pPr>
            <a:r>
              <a:rPr lang="ja" sz="1800">
                <a:solidFill>
                  <a:srgbClr val="1A1A1A"/>
                </a:solidFill>
              </a:rPr>
              <a:t>CSS</a:t>
            </a:r>
            <a:endParaRPr sz="1800">
              <a:solidFill>
                <a:srgbClr val="1A1A1A"/>
              </a:solidFill>
            </a:endParaRPr>
          </a:p>
          <a:p>
            <a:pPr indent="-342900" lvl="0" marL="457200" rtl="0" algn="l">
              <a:lnSpc>
                <a:spcPct val="115000"/>
              </a:lnSpc>
              <a:spcBef>
                <a:spcPts val="0"/>
              </a:spcBef>
              <a:spcAft>
                <a:spcPts val="0"/>
              </a:spcAft>
              <a:buClr>
                <a:srgbClr val="1A1A1A"/>
              </a:buClr>
              <a:buSzPts val="1800"/>
              <a:buChar char="●"/>
            </a:pPr>
            <a:r>
              <a:rPr lang="ja" sz="1800">
                <a:solidFill>
                  <a:srgbClr val="1A1A1A"/>
                </a:solidFill>
              </a:rPr>
              <a:t>Javascript</a:t>
            </a:r>
            <a:endParaRPr sz="1800">
              <a:solidFill>
                <a:srgbClr val="1A1A1A"/>
              </a:solidFill>
            </a:endParaRPr>
          </a:p>
          <a:p>
            <a:pPr indent="-342900" lvl="0" marL="457200" rtl="0" algn="l">
              <a:lnSpc>
                <a:spcPct val="115000"/>
              </a:lnSpc>
              <a:spcBef>
                <a:spcPts val="0"/>
              </a:spcBef>
              <a:spcAft>
                <a:spcPts val="0"/>
              </a:spcAft>
              <a:buClr>
                <a:srgbClr val="000000"/>
              </a:buClr>
              <a:buSzPts val="1800"/>
              <a:buChar char="●"/>
            </a:pPr>
            <a:r>
              <a:rPr lang="ja" sz="1800">
                <a:solidFill>
                  <a:srgbClr val="000000"/>
                </a:solidFill>
              </a:rPr>
              <a:t>Python</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ja" sz="1800">
                <a:solidFill>
                  <a:srgbClr val="000000"/>
                </a:solidFill>
              </a:rPr>
              <a:t>(openpyxl)</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ja" sz="1800">
                <a:solidFill>
                  <a:srgbClr val="000000"/>
                </a:solidFill>
              </a:rPr>
              <a:t>Flask</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ja" sz="1800">
                <a:solidFill>
                  <a:srgbClr val="000000"/>
                </a:solidFill>
              </a:rPr>
              <a:t>MySQL</a:t>
            </a:r>
            <a:endParaRPr sz="300">
              <a:solidFill>
                <a:srgbClr val="000000"/>
              </a:solidFill>
            </a:endParaRPr>
          </a:p>
          <a:p>
            <a:pPr indent="-342900" lvl="0" marL="457200" rtl="0" algn="l">
              <a:lnSpc>
                <a:spcPct val="115000"/>
              </a:lnSpc>
              <a:spcBef>
                <a:spcPts val="0"/>
              </a:spcBef>
              <a:spcAft>
                <a:spcPts val="0"/>
              </a:spcAft>
              <a:buClr>
                <a:srgbClr val="000000"/>
              </a:buClr>
              <a:buSzPts val="1800"/>
              <a:buChar char="●"/>
            </a:pPr>
            <a:r>
              <a:rPr lang="ja" sz="1800">
                <a:solidFill>
                  <a:srgbClr val="000000"/>
                </a:solidFill>
              </a:rPr>
              <a:t>テキストマイニング</a:t>
            </a:r>
            <a:endParaRPr sz="1800">
              <a:solidFill>
                <a:srgbClr val="000000"/>
              </a:solidFill>
            </a:endParaRPr>
          </a:p>
          <a:p>
            <a:pPr indent="0" lvl="0" marL="457200" rtl="0" algn="l">
              <a:lnSpc>
                <a:spcPct val="115000"/>
              </a:lnSpc>
              <a:spcBef>
                <a:spcPts val="0"/>
              </a:spcBef>
              <a:spcAft>
                <a:spcPts val="0"/>
              </a:spcAft>
              <a:buSzPts val="1300"/>
              <a:buNone/>
            </a:pPr>
            <a:r>
              <a:t/>
            </a:r>
            <a:endParaRPr sz="1800">
              <a:solidFill>
                <a:srgbClr val="000000"/>
              </a:solidFill>
            </a:endParaRPr>
          </a:p>
        </p:txBody>
      </p:sp>
      <p:sp>
        <p:nvSpPr>
          <p:cNvPr id="338" name="Google Shape;338;g36f8e1de706_4_100"/>
          <p:cNvSpPr txBox="1"/>
          <p:nvPr/>
        </p:nvSpPr>
        <p:spPr>
          <a:xfrm>
            <a:off x="550400" y="720700"/>
            <a:ext cx="1453200" cy="54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ja" sz="2300" u="none" cap="none" strike="noStrike">
                <a:solidFill>
                  <a:schemeClr val="dk2"/>
                </a:solidFill>
                <a:latin typeface="Lato"/>
                <a:ea typeface="Lato"/>
                <a:cs typeface="Lato"/>
                <a:sym typeface="Lato"/>
              </a:rPr>
              <a:t>技術習得</a:t>
            </a:r>
            <a:endParaRPr b="1" i="0" sz="2300" u="none" cap="none" strike="noStrike">
              <a:solidFill>
                <a:schemeClr val="dk2"/>
              </a:solidFill>
              <a:latin typeface="Lato"/>
              <a:ea typeface="Lato"/>
              <a:cs typeface="Lato"/>
              <a:sym typeface="Lato"/>
            </a:endParaRPr>
          </a:p>
        </p:txBody>
      </p:sp>
      <p:sp>
        <p:nvSpPr>
          <p:cNvPr id="339" name="Google Shape;339;g36f8e1de706_4_100"/>
          <p:cNvSpPr txBox="1"/>
          <p:nvPr>
            <p:ph idx="12" type="sldNum"/>
          </p:nvPr>
        </p:nvSpPr>
        <p:spPr>
          <a:xfrm>
            <a:off x="8519227" y="474990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a8f931dcef_3_0"/>
          <p:cNvSpPr txBox="1"/>
          <p:nvPr/>
        </p:nvSpPr>
        <p:spPr>
          <a:xfrm>
            <a:off x="546400" y="675050"/>
            <a:ext cx="1497900" cy="57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500"/>
              <a:buFont typeface="Arial"/>
              <a:buNone/>
            </a:pPr>
            <a:r>
              <a:rPr b="1" i="0" lang="ja" sz="2500" u="none" cap="none" strike="noStrike">
                <a:solidFill>
                  <a:srgbClr val="000000"/>
                </a:solidFill>
                <a:latin typeface="Arial"/>
                <a:ea typeface="Arial"/>
                <a:cs typeface="Arial"/>
                <a:sym typeface="Arial"/>
              </a:rPr>
              <a:t>開発状況</a:t>
            </a:r>
            <a:endParaRPr b="0" i="0" sz="100" u="none" cap="none" strike="noStrike">
              <a:solidFill>
                <a:schemeClr val="accent1"/>
              </a:solidFill>
              <a:latin typeface="Lato"/>
              <a:ea typeface="Lato"/>
              <a:cs typeface="Lato"/>
              <a:sym typeface="Lato"/>
            </a:endParaRPr>
          </a:p>
        </p:txBody>
      </p:sp>
      <p:sp>
        <p:nvSpPr>
          <p:cNvPr id="345" name="Google Shape;345;g3a8f931dcef_3_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
        <p:nvSpPr>
          <p:cNvPr id="346" name="Google Shape;346;g3a8f931dcef_3_0"/>
          <p:cNvSpPr txBox="1"/>
          <p:nvPr/>
        </p:nvSpPr>
        <p:spPr>
          <a:xfrm>
            <a:off x="2292125" y="4415900"/>
            <a:ext cx="30435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chemeClr val="dk2"/>
                </a:solidFill>
                <a:latin typeface="Lato"/>
                <a:ea typeface="Lato"/>
                <a:cs typeface="Lato"/>
                <a:sym typeface="Lato"/>
              </a:rPr>
              <a:t>ログイン画面になります。</a:t>
            </a:r>
            <a:endParaRPr b="0" i="0" sz="1300" u="none" cap="none" strike="noStrike">
              <a:solidFill>
                <a:schemeClr val="dk2"/>
              </a:solidFill>
              <a:latin typeface="Lato"/>
              <a:ea typeface="Lato"/>
              <a:cs typeface="Lato"/>
              <a:sym typeface="Lato"/>
            </a:endParaRPr>
          </a:p>
        </p:txBody>
      </p:sp>
      <p:sp>
        <p:nvSpPr>
          <p:cNvPr id="347" name="Google Shape;347;g3a8f931dcef_3_0"/>
          <p:cNvSpPr txBox="1"/>
          <p:nvPr/>
        </p:nvSpPr>
        <p:spPr>
          <a:xfrm>
            <a:off x="1983075" y="1912800"/>
            <a:ext cx="3849000" cy="1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pic>
        <p:nvPicPr>
          <p:cNvPr id="348" name="Google Shape;348;g3a8f931dcef_3_0" title="スクリーンショット 2025-12-09 033153.png"/>
          <p:cNvPicPr preferRelativeResize="0"/>
          <p:nvPr/>
        </p:nvPicPr>
        <p:blipFill>
          <a:blip r:embed="rId3">
            <a:alphaModFix/>
          </a:blip>
          <a:stretch>
            <a:fillRect/>
          </a:stretch>
        </p:blipFill>
        <p:spPr>
          <a:xfrm>
            <a:off x="1537325" y="1308100"/>
            <a:ext cx="6231027" cy="29905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ae7dff236a_3_3"/>
          <p:cNvSpPr txBox="1"/>
          <p:nvPr/>
        </p:nvSpPr>
        <p:spPr>
          <a:xfrm>
            <a:off x="546400" y="675050"/>
            <a:ext cx="1497900" cy="57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500"/>
              <a:buFont typeface="Arial"/>
              <a:buNone/>
            </a:pPr>
            <a:r>
              <a:rPr b="1" i="0" lang="ja" sz="2500" u="none" cap="none" strike="noStrike">
                <a:solidFill>
                  <a:srgbClr val="000000"/>
                </a:solidFill>
                <a:latin typeface="Arial"/>
                <a:ea typeface="Arial"/>
                <a:cs typeface="Arial"/>
                <a:sym typeface="Arial"/>
              </a:rPr>
              <a:t>開発状況</a:t>
            </a:r>
            <a:endParaRPr b="0" i="0" sz="100" u="none" cap="none" strike="noStrike">
              <a:solidFill>
                <a:schemeClr val="accent1"/>
              </a:solidFill>
              <a:latin typeface="Lato"/>
              <a:ea typeface="Lato"/>
              <a:cs typeface="Lato"/>
              <a:sym typeface="Lato"/>
            </a:endParaRPr>
          </a:p>
        </p:txBody>
      </p:sp>
      <p:sp>
        <p:nvSpPr>
          <p:cNvPr id="354" name="Google Shape;354;g3ae7dff236a_3_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
        <p:nvSpPr>
          <p:cNvPr id="355" name="Google Shape;355;g3ae7dff236a_3_3"/>
          <p:cNvSpPr txBox="1"/>
          <p:nvPr/>
        </p:nvSpPr>
        <p:spPr>
          <a:xfrm>
            <a:off x="3143950" y="4400300"/>
            <a:ext cx="30435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lang="ja" sz="1300">
                <a:solidFill>
                  <a:schemeClr val="dk2"/>
                </a:solidFill>
                <a:latin typeface="Lato"/>
                <a:ea typeface="Lato"/>
                <a:cs typeface="Lato"/>
                <a:sym typeface="Lato"/>
              </a:rPr>
              <a:t>管理者新規登録画面です。</a:t>
            </a:r>
            <a:endParaRPr b="0" i="0" sz="1300" u="none" cap="none" strike="noStrike">
              <a:solidFill>
                <a:schemeClr val="dk2"/>
              </a:solidFill>
              <a:latin typeface="Lato"/>
              <a:ea typeface="Lato"/>
              <a:cs typeface="Lato"/>
              <a:sym typeface="Lato"/>
            </a:endParaRPr>
          </a:p>
        </p:txBody>
      </p:sp>
      <p:sp>
        <p:nvSpPr>
          <p:cNvPr id="356" name="Google Shape;356;g3ae7dff236a_3_3"/>
          <p:cNvSpPr txBox="1"/>
          <p:nvPr/>
        </p:nvSpPr>
        <p:spPr>
          <a:xfrm>
            <a:off x="1983075" y="1912800"/>
            <a:ext cx="3849000" cy="1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pic>
        <p:nvPicPr>
          <p:cNvPr id="357" name="Google Shape;357;g3ae7dff236a_3_3" title="スクリーンショット 2025-12-09 033207.png"/>
          <p:cNvPicPr preferRelativeResize="0"/>
          <p:nvPr/>
        </p:nvPicPr>
        <p:blipFill>
          <a:blip r:embed="rId3">
            <a:alphaModFix/>
          </a:blip>
          <a:stretch>
            <a:fillRect/>
          </a:stretch>
        </p:blipFill>
        <p:spPr>
          <a:xfrm>
            <a:off x="1531401" y="1296127"/>
            <a:ext cx="6268600" cy="2966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a9844eb2a7_0_0"/>
          <p:cNvSpPr txBox="1"/>
          <p:nvPr/>
        </p:nvSpPr>
        <p:spPr>
          <a:xfrm>
            <a:off x="546400" y="675050"/>
            <a:ext cx="1497900" cy="57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500"/>
              <a:buFont typeface="Arial"/>
              <a:buNone/>
            </a:pPr>
            <a:r>
              <a:rPr b="1" i="0" lang="ja" sz="2500" u="none" cap="none" strike="noStrike">
                <a:solidFill>
                  <a:srgbClr val="000000"/>
                </a:solidFill>
                <a:latin typeface="Arial"/>
                <a:ea typeface="Arial"/>
                <a:cs typeface="Arial"/>
                <a:sym typeface="Arial"/>
              </a:rPr>
              <a:t>開発状況</a:t>
            </a:r>
            <a:endParaRPr b="0" i="0" sz="100" u="none" cap="none" strike="noStrike">
              <a:solidFill>
                <a:schemeClr val="accent1"/>
              </a:solidFill>
              <a:latin typeface="Lato"/>
              <a:ea typeface="Lato"/>
              <a:cs typeface="Lato"/>
              <a:sym typeface="Lato"/>
            </a:endParaRPr>
          </a:p>
        </p:txBody>
      </p:sp>
      <p:sp>
        <p:nvSpPr>
          <p:cNvPr id="363" name="Google Shape;363;g3a9844eb2a7_0_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
        <p:nvSpPr>
          <p:cNvPr id="364" name="Google Shape;364;g3a9844eb2a7_0_0"/>
          <p:cNvSpPr txBox="1"/>
          <p:nvPr/>
        </p:nvSpPr>
        <p:spPr>
          <a:xfrm>
            <a:off x="2275350" y="4558500"/>
            <a:ext cx="45933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lang="ja" sz="1300">
                <a:solidFill>
                  <a:schemeClr val="accent1"/>
                </a:solidFill>
                <a:latin typeface="Lato"/>
                <a:ea typeface="Lato"/>
                <a:cs typeface="Lato"/>
                <a:sym typeface="Lato"/>
              </a:rPr>
              <a:t>TOPページです。</a:t>
            </a:r>
            <a:endParaRPr b="0" i="0" sz="1300" u="none" cap="none" strike="noStrike">
              <a:solidFill>
                <a:schemeClr val="accent1"/>
              </a:solidFill>
              <a:latin typeface="Lato"/>
              <a:ea typeface="Lato"/>
              <a:cs typeface="Lato"/>
              <a:sym typeface="Lato"/>
            </a:endParaRPr>
          </a:p>
        </p:txBody>
      </p:sp>
      <p:pic>
        <p:nvPicPr>
          <p:cNvPr id="365" name="Google Shape;365;g3a9844eb2a7_0_0" title="スクリーンショット 2025-12-09 033238.png"/>
          <p:cNvPicPr preferRelativeResize="0"/>
          <p:nvPr/>
        </p:nvPicPr>
        <p:blipFill>
          <a:blip r:embed="rId3">
            <a:alphaModFix/>
          </a:blip>
          <a:stretch>
            <a:fillRect/>
          </a:stretch>
        </p:blipFill>
        <p:spPr>
          <a:xfrm>
            <a:off x="1174550" y="1327775"/>
            <a:ext cx="6794902" cy="323071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ae7dff236a_3_13"/>
          <p:cNvSpPr txBox="1"/>
          <p:nvPr/>
        </p:nvSpPr>
        <p:spPr>
          <a:xfrm>
            <a:off x="546400" y="675050"/>
            <a:ext cx="1497900" cy="57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500"/>
              <a:buFont typeface="Arial"/>
              <a:buNone/>
            </a:pPr>
            <a:r>
              <a:rPr b="1" i="0" lang="ja" sz="2500" u="none" cap="none" strike="noStrike">
                <a:solidFill>
                  <a:srgbClr val="000000"/>
                </a:solidFill>
                <a:latin typeface="Arial"/>
                <a:ea typeface="Arial"/>
                <a:cs typeface="Arial"/>
                <a:sym typeface="Arial"/>
              </a:rPr>
              <a:t>開発状況</a:t>
            </a:r>
            <a:endParaRPr b="0" i="0" sz="100" u="none" cap="none" strike="noStrike">
              <a:solidFill>
                <a:schemeClr val="accent1"/>
              </a:solidFill>
              <a:latin typeface="Lato"/>
              <a:ea typeface="Lato"/>
              <a:cs typeface="Lato"/>
              <a:sym typeface="Lato"/>
            </a:endParaRPr>
          </a:p>
        </p:txBody>
      </p:sp>
      <p:sp>
        <p:nvSpPr>
          <p:cNvPr id="371" name="Google Shape;371;g3ae7dff236a_3_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
        <p:nvSpPr>
          <p:cNvPr id="372" name="Google Shape;372;g3ae7dff236a_3_13"/>
          <p:cNvSpPr txBox="1"/>
          <p:nvPr/>
        </p:nvSpPr>
        <p:spPr>
          <a:xfrm>
            <a:off x="2401975" y="4566325"/>
            <a:ext cx="47427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lang="ja" sz="1300">
                <a:solidFill>
                  <a:schemeClr val="accent1"/>
                </a:solidFill>
                <a:latin typeface="Lato"/>
                <a:ea typeface="Lato"/>
                <a:cs typeface="Lato"/>
                <a:sym typeface="Lato"/>
              </a:rPr>
              <a:t>対象者詳細</a:t>
            </a:r>
            <a:r>
              <a:rPr lang="ja" sz="1300">
                <a:solidFill>
                  <a:schemeClr val="accent1"/>
                </a:solidFill>
                <a:latin typeface="Lato"/>
                <a:ea typeface="Lato"/>
                <a:cs typeface="Lato"/>
                <a:sym typeface="Lato"/>
              </a:rPr>
              <a:t>ページです。</a:t>
            </a:r>
            <a:endParaRPr b="0" i="0" sz="1300" u="none" cap="none" strike="noStrike">
              <a:solidFill>
                <a:schemeClr val="accent1"/>
              </a:solidFill>
              <a:latin typeface="Lato"/>
              <a:ea typeface="Lato"/>
              <a:cs typeface="Lato"/>
              <a:sym typeface="Lato"/>
            </a:endParaRPr>
          </a:p>
        </p:txBody>
      </p:sp>
      <p:pic>
        <p:nvPicPr>
          <p:cNvPr id="373" name="Google Shape;373;g3ae7dff236a_3_13" title="スクリーンショット 2025-12-09 033412.png"/>
          <p:cNvPicPr preferRelativeResize="0"/>
          <p:nvPr/>
        </p:nvPicPr>
        <p:blipFill>
          <a:blip r:embed="rId3">
            <a:alphaModFix/>
          </a:blip>
          <a:stretch>
            <a:fillRect/>
          </a:stretch>
        </p:blipFill>
        <p:spPr>
          <a:xfrm>
            <a:off x="1375875" y="1303713"/>
            <a:ext cx="6794900" cy="320453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ae7dff236a_3_21"/>
          <p:cNvSpPr txBox="1"/>
          <p:nvPr/>
        </p:nvSpPr>
        <p:spPr>
          <a:xfrm>
            <a:off x="546400" y="675050"/>
            <a:ext cx="1497900" cy="57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500"/>
              <a:buFont typeface="Arial"/>
              <a:buNone/>
            </a:pPr>
            <a:r>
              <a:rPr b="1" i="0" lang="ja" sz="2500" u="none" cap="none" strike="noStrike">
                <a:solidFill>
                  <a:srgbClr val="000000"/>
                </a:solidFill>
                <a:latin typeface="Arial"/>
                <a:ea typeface="Arial"/>
                <a:cs typeface="Arial"/>
                <a:sym typeface="Arial"/>
              </a:rPr>
              <a:t>開発状況</a:t>
            </a:r>
            <a:endParaRPr b="0" i="0" sz="100" u="none" cap="none" strike="noStrike">
              <a:solidFill>
                <a:schemeClr val="accent1"/>
              </a:solidFill>
              <a:latin typeface="Lato"/>
              <a:ea typeface="Lato"/>
              <a:cs typeface="Lato"/>
              <a:sym typeface="Lato"/>
            </a:endParaRPr>
          </a:p>
        </p:txBody>
      </p:sp>
      <p:sp>
        <p:nvSpPr>
          <p:cNvPr id="379" name="Google Shape;379;g3ae7dff236a_3_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
        <p:nvSpPr>
          <p:cNvPr id="380" name="Google Shape;380;g3ae7dff236a_3_21"/>
          <p:cNvSpPr txBox="1"/>
          <p:nvPr/>
        </p:nvSpPr>
        <p:spPr>
          <a:xfrm>
            <a:off x="2200650" y="4558500"/>
            <a:ext cx="47427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lang="ja" sz="1300">
                <a:solidFill>
                  <a:schemeClr val="accent1"/>
                </a:solidFill>
                <a:latin typeface="Lato"/>
                <a:ea typeface="Lato"/>
                <a:cs typeface="Lato"/>
                <a:sym typeface="Lato"/>
              </a:rPr>
              <a:t>対象者一覧</a:t>
            </a:r>
            <a:r>
              <a:rPr lang="ja" sz="1300">
                <a:solidFill>
                  <a:schemeClr val="accent1"/>
                </a:solidFill>
                <a:latin typeface="Lato"/>
                <a:ea typeface="Lato"/>
                <a:cs typeface="Lato"/>
                <a:sym typeface="Lato"/>
              </a:rPr>
              <a:t>ページです。</a:t>
            </a:r>
            <a:endParaRPr b="0" i="0" sz="1300" u="none" cap="none" strike="noStrike">
              <a:solidFill>
                <a:schemeClr val="accent1"/>
              </a:solidFill>
              <a:latin typeface="Lato"/>
              <a:ea typeface="Lato"/>
              <a:cs typeface="Lato"/>
              <a:sym typeface="Lato"/>
            </a:endParaRPr>
          </a:p>
        </p:txBody>
      </p:sp>
      <p:pic>
        <p:nvPicPr>
          <p:cNvPr id="381" name="Google Shape;381;g3ae7dff236a_3_21" title="スクリーンショット 2025-12-09 033445.png"/>
          <p:cNvPicPr preferRelativeResize="0"/>
          <p:nvPr/>
        </p:nvPicPr>
        <p:blipFill>
          <a:blip r:embed="rId3">
            <a:alphaModFix/>
          </a:blip>
          <a:stretch>
            <a:fillRect/>
          </a:stretch>
        </p:blipFill>
        <p:spPr>
          <a:xfrm>
            <a:off x="1174550" y="1253450"/>
            <a:ext cx="6794898" cy="326428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ae7dff236a_3_29"/>
          <p:cNvSpPr txBox="1"/>
          <p:nvPr/>
        </p:nvSpPr>
        <p:spPr>
          <a:xfrm>
            <a:off x="546400" y="675050"/>
            <a:ext cx="1497900" cy="57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500"/>
              <a:buFont typeface="Arial"/>
              <a:buNone/>
            </a:pPr>
            <a:r>
              <a:rPr b="1" i="0" lang="ja" sz="2500" u="none" cap="none" strike="noStrike">
                <a:solidFill>
                  <a:srgbClr val="000000"/>
                </a:solidFill>
                <a:latin typeface="Arial"/>
                <a:ea typeface="Arial"/>
                <a:cs typeface="Arial"/>
                <a:sym typeface="Arial"/>
              </a:rPr>
              <a:t>開発状況</a:t>
            </a:r>
            <a:endParaRPr b="0" i="0" sz="100" u="none" cap="none" strike="noStrike">
              <a:solidFill>
                <a:schemeClr val="accent1"/>
              </a:solidFill>
              <a:latin typeface="Lato"/>
              <a:ea typeface="Lato"/>
              <a:cs typeface="Lato"/>
              <a:sym typeface="Lato"/>
            </a:endParaRPr>
          </a:p>
        </p:txBody>
      </p:sp>
      <p:sp>
        <p:nvSpPr>
          <p:cNvPr id="387" name="Google Shape;387;g3ae7dff236a_3_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sz="2100"/>
              <a:t>‹#›</a:t>
            </a:fld>
            <a:endParaRPr sz="2100"/>
          </a:p>
        </p:txBody>
      </p:sp>
      <p:sp>
        <p:nvSpPr>
          <p:cNvPr id="388" name="Google Shape;388;g3ae7dff236a_3_29"/>
          <p:cNvSpPr txBox="1"/>
          <p:nvPr/>
        </p:nvSpPr>
        <p:spPr>
          <a:xfrm>
            <a:off x="2200650" y="4566300"/>
            <a:ext cx="47427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lang="ja" sz="1300">
                <a:solidFill>
                  <a:schemeClr val="accent1"/>
                </a:solidFill>
                <a:latin typeface="Lato"/>
                <a:ea typeface="Lato"/>
                <a:cs typeface="Lato"/>
                <a:sym typeface="Lato"/>
              </a:rPr>
              <a:t>類似事例検索</a:t>
            </a:r>
            <a:r>
              <a:rPr lang="ja" sz="1300">
                <a:solidFill>
                  <a:schemeClr val="accent1"/>
                </a:solidFill>
                <a:latin typeface="Lato"/>
                <a:ea typeface="Lato"/>
                <a:cs typeface="Lato"/>
                <a:sym typeface="Lato"/>
              </a:rPr>
              <a:t>ページです。</a:t>
            </a:r>
            <a:endParaRPr b="0" i="0" sz="1300" u="none" cap="none" strike="noStrike">
              <a:solidFill>
                <a:schemeClr val="accent1"/>
              </a:solidFill>
              <a:latin typeface="Lato"/>
              <a:ea typeface="Lato"/>
              <a:cs typeface="Lato"/>
              <a:sym typeface="Lato"/>
            </a:endParaRPr>
          </a:p>
        </p:txBody>
      </p:sp>
      <p:pic>
        <p:nvPicPr>
          <p:cNvPr id="389" name="Google Shape;389;g3ae7dff236a_3_29" title="スクリーンショット 2025-12-09 033635.png"/>
          <p:cNvPicPr preferRelativeResize="0"/>
          <p:nvPr/>
        </p:nvPicPr>
        <p:blipFill>
          <a:blip r:embed="rId3">
            <a:alphaModFix/>
          </a:blip>
          <a:stretch>
            <a:fillRect/>
          </a:stretch>
        </p:blipFill>
        <p:spPr>
          <a:xfrm>
            <a:off x="1174550" y="1253450"/>
            <a:ext cx="6794902" cy="321298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