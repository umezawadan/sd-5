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y="5143500" cx="9144000"/>
  <p:notesSz cx="6858000" cy="9144000"/>
  <p:embeddedFontLst>
    <p:embeddedFont>
      <p:font typeface="Raleway"/>
      <p:regular r:id="rId34"/>
      <p:bold r:id="rId35"/>
      <p:italic r:id="rId36"/>
      <p:boldItalic r:id="rId37"/>
    </p:embeddedFont>
    <p:embeddedFont>
      <p:font typeface="Lato"/>
      <p:regular r:id="rId38"/>
      <p:bold r:id="rId39"/>
      <p:italic r:id="rId40"/>
      <p:boldItalic r:id="rId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42" roundtripDataSignature="AMtx7mjAptHrNtFXE50iEhqiTsgGmmCtN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163BFAA-ECF3-49D9-88D8-4B5A5BBD3548}">
  <a:tblStyle styleId="{A163BFAA-ECF3-49D9-88D8-4B5A5BBD3548}"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font" Target="fonts/Raleway-regular.fntdata"/><Relationship Id="rId35" Type="http://schemas.openxmlformats.org/officeDocument/2006/relationships/font" Target="fonts/Raleway-bold.fntdata"/><Relationship Id="rId36" Type="http://schemas.openxmlformats.org/officeDocument/2006/relationships/font" Target="fonts/Raleway-italic.fntdata"/><Relationship Id="rId37" Type="http://schemas.openxmlformats.org/officeDocument/2006/relationships/font" Target="fonts/Raleway-boldItalic.fntdata"/><Relationship Id="rId38" Type="http://schemas.openxmlformats.org/officeDocument/2006/relationships/font" Target="fonts/Lato-regular.fntdata"/><Relationship Id="rId39" Type="http://schemas.openxmlformats.org/officeDocument/2006/relationships/font" Target="fonts/Lato-bold.fntdata"/><Relationship Id="rId40" Type="http://schemas.openxmlformats.org/officeDocument/2006/relationships/font" Target="fonts/Lato-italic.fntdata"/><Relationship Id="rId41" Type="http://schemas.openxmlformats.org/officeDocument/2006/relationships/font" Target="fonts/Lato-boldItalic.fntdata"/><Relationship Id="rId42"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8" name="Google Shape;88;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9ccf8c6441_4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5" name="Google Shape;95;g39ccf8c6441_4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aab28b5710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3" name="Google Shape;103;g3aab28b5710_1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98e3b8d10d_4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0" name="Google Shape;110;g398e3b8d10d_4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ae8c7079b1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7" name="Google Shape;117;g3ae8c7079b1_0_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ae8c7079b1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5" name="Google Shape;125;g3ae8c7079b1_0_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ae8c7079b1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3" name="Google Shape;133;g3ae8c7079b1_0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71b2c4d255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g371b2c4d255_2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71b2c4d255_2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0" name="Google Shape;160;g371b2c4d255_2_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71b2c4d255_2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9" name="Google Shape;169;g371b2c4d255_2_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98e3b8d10d_4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6" name="Google Shape;176;g398e3b8d10d_4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6dcb7c9b5f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3" name="Google Shape;183;g36dcb7c9b5f_0_7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8ded9f09c7_2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7" name="Google Shape;197;g38ded9f09c7_2_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94f1a9a3dc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6" name="Google Shape;206;g394f1a9a3dc_0_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39b037d6f7e_4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4" name="Google Shape;214;g39b037d6f7e_4_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85e11747a1_3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3" name="Google Shape;223;g385e11747a1_3_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3aab28b5710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g3aab28b5710_1_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aa6b16614f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8" name="Google Shape;248;g3aa6b16614f_0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385f7ff001b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9" name="Google Shape;259;g385f7ff001b_2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aab28b5710_1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6" name="Google Shape;266;g3aab28b5710_1_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aab28b5710_1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3" name="Google Shape;273;g3aab28b5710_1_5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98e3b8d10d_3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0" name="Google Shape;280;g398e3b8d10d_3_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98e3b8d10d_1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8" name="Google Shape;288;g398e3b8d10d_1_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98e3b8d10d_1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9" name="Google Shape;299;g398e3b8d10d_1_6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a8f931dcef_2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3" name="Google Shape;313;g3a8f931dcef_2_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3a93dd1a12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0" name="Google Shape;320;g3a93dd1a128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6f8e1de706_4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8" name="Google Shape;328;g36f8e1de706_4_10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sp>
        <p:nvSpPr>
          <p:cNvPr id="10" name="Google Shape;10;g3739facb878_0_94"/>
          <p:cNvSpPr/>
          <p:nvPr/>
        </p:nvSpPr>
        <p:spPr>
          <a:xfrm>
            <a:off x="0" y="0"/>
            <a:ext cx="9144000" cy="4878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 name="Google Shape;11;g3739facb878_0_94"/>
          <p:cNvGrpSpPr/>
          <p:nvPr/>
        </p:nvGrpSpPr>
        <p:grpSpPr>
          <a:xfrm>
            <a:off x="830392" y="1191256"/>
            <a:ext cx="745763" cy="45826"/>
            <a:chOff x="4580561" y="2589004"/>
            <a:chExt cx="1064464" cy="25200"/>
          </a:xfrm>
        </p:grpSpPr>
        <p:sp>
          <p:nvSpPr>
            <p:cNvPr id="12" name="Google Shape;12;g3739facb878_0_94"/>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g3739facb878_0_94"/>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 name="Google Shape;14;g3739facb878_0_94"/>
          <p:cNvSpPr txBox="1"/>
          <p:nvPr>
            <p:ph type="ctrTitle"/>
          </p:nvPr>
        </p:nvSpPr>
        <p:spPr>
          <a:xfrm>
            <a:off x="729450" y="1322450"/>
            <a:ext cx="7688100" cy="1664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5" name="Google Shape;15;g3739facb878_0_94"/>
          <p:cNvSpPr txBox="1"/>
          <p:nvPr>
            <p:ph idx="1" type="subTitle"/>
          </p:nvPr>
        </p:nvSpPr>
        <p:spPr>
          <a:xfrm>
            <a:off x="729627" y="3172900"/>
            <a:ext cx="7688100" cy="541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1600"/>
              <a:buNone/>
              <a:defRPr sz="1600"/>
            </a:lvl1pPr>
            <a:lvl2pPr lvl="1" algn="l">
              <a:lnSpc>
                <a:spcPct val="100000"/>
              </a:lnSpc>
              <a:spcBef>
                <a:spcPts val="0"/>
              </a:spcBef>
              <a:spcAft>
                <a:spcPts val="0"/>
              </a:spcAft>
              <a:buSzPts val="1600"/>
              <a:buNone/>
              <a:defRPr sz="1600"/>
            </a:lvl2pPr>
            <a:lvl3pPr lvl="2" algn="l">
              <a:lnSpc>
                <a:spcPct val="100000"/>
              </a:lnSpc>
              <a:spcBef>
                <a:spcPts val="0"/>
              </a:spcBef>
              <a:spcAft>
                <a:spcPts val="0"/>
              </a:spcAft>
              <a:buSzPts val="1600"/>
              <a:buNone/>
              <a:defRPr sz="1600"/>
            </a:lvl3pPr>
            <a:lvl4pPr lvl="3" algn="l">
              <a:lnSpc>
                <a:spcPct val="100000"/>
              </a:lnSpc>
              <a:spcBef>
                <a:spcPts val="0"/>
              </a:spcBef>
              <a:spcAft>
                <a:spcPts val="0"/>
              </a:spcAft>
              <a:buSzPts val="1600"/>
              <a:buNone/>
              <a:defRPr sz="1600"/>
            </a:lvl4pPr>
            <a:lvl5pPr lvl="4" algn="l">
              <a:lnSpc>
                <a:spcPct val="100000"/>
              </a:lnSpc>
              <a:spcBef>
                <a:spcPts val="0"/>
              </a:spcBef>
              <a:spcAft>
                <a:spcPts val="0"/>
              </a:spcAft>
              <a:buSzPts val="1600"/>
              <a:buNone/>
              <a:defRPr sz="1600"/>
            </a:lvl5pPr>
            <a:lvl6pPr lvl="5" algn="l">
              <a:lnSpc>
                <a:spcPct val="100000"/>
              </a:lnSpc>
              <a:spcBef>
                <a:spcPts val="0"/>
              </a:spcBef>
              <a:spcAft>
                <a:spcPts val="0"/>
              </a:spcAft>
              <a:buSzPts val="1600"/>
              <a:buNone/>
              <a:defRPr sz="1600"/>
            </a:lvl6pPr>
            <a:lvl7pPr lvl="6" algn="l">
              <a:lnSpc>
                <a:spcPct val="100000"/>
              </a:lnSpc>
              <a:spcBef>
                <a:spcPts val="0"/>
              </a:spcBef>
              <a:spcAft>
                <a:spcPts val="0"/>
              </a:spcAft>
              <a:buSzPts val="1600"/>
              <a:buNone/>
              <a:defRPr sz="1600"/>
            </a:lvl7pPr>
            <a:lvl8pPr lvl="7" algn="l">
              <a:lnSpc>
                <a:spcPct val="100000"/>
              </a:lnSpc>
              <a:spcBef>
                <a:spcPts val="0"/>
              </a:spcBef>
              <a:spcAft>
                <a:spcPts val="0"/>
              </a:spcAft>
              <a:buSzPts val="1600"/>
              <a:buNone/>
              <a:defRPr sz="1600"/>
            </a:lvl8pPr>
            <a:lvl9pPr lvl="8" algn="l">
              <a:lnSpc>
                <a:spcPct val="100000"/>
              </a:lnSpc>
              <a:spcBef>
                <a:spcPts val="0"/>
              </a:spcBef>
              <a:spcAft>
                <a:spcPts val="0"/>
              </a:spcAft>
              <a:buSzPts val="1600"/>
              <a:buNone/>
              <a:defRPr sz="1600"/>
            </a:lvl9pPr>
          </a:lstStyle>
          <a:p/>
        </p:txBody>
      </p:sp>
      <p:sp>
        <p:nvSpPr>
          <p:cNvPr id="16" name="Google Shape;16;g3739facb878_0_94"/>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g3739facb878_0_108"/>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 name="Google Shape;19;g3739facb878_0_108"/>
          <p:cNvGrpSpPr/>
          <p:nvPr/>
        </p:nvGrpSpPr>
        <p:grpSpPr>
          <a:xfrm>
            <a:off x="830392" y="1191256"/>
            <a:ext cx="745763" cy="45826"/>
            <a:chOff x="4580561" y="2589004"/>
            <a:chExt cx="1064464" cy="25200"/>
          </a:xfrm>
        </p:grpSpPr>
        <p:sp>
          <p:nvSpPr>
            <p:cNvPr id="20" name="Google Shape;20;g3739facb878_0_108"/>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 name="Google Shape;21;g3739facb878_0_108"/>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 name="Google Shape;22;g3739facb878_0_108"/>
          <p:cNvSpPr txBox="1"/>
          <p:nvPr>
            <p:ph type="title"/>
          </p:nvPr>
        </p:nvSpPr>
        <p:spPr>
          <a:xfrm>
            <a:off x="729450" y="1318650"/>
            <a:ext cx="7688700" cy="535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
        <p:nvSpPr>
          <p:cNvPr id="23" name="Google Shape;23;g3739facb878_0_108"/>
          <p:cNvSpPr txBox="1"/>
          <p:nvPr>
            <p:ph idx="1" type="body"/>
          </p:nvPr>
        </p:nvSpPr>
        <p:spPr>
          <a:xfrm>
            <a:off x="729450" y="2078875"/>
            <a:ext cx="7688700" cy="22611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24" name="Google Shape;24;g3739facb878_0_108"/>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5" name="Shape 25"/>
        <p:cNvGrpSpPr/>
        <p:nvPr/>
      </p:nvGrpSpPr>
      <p:grpSpPr>
        <a:xfrm>
          <a:off x="0" y="0"/>
          <a:ext cx="0" cy="0"/>
          <a:chOff x="0" y="0"/>
          <a:chExt cx="0" cy="0"/>
        </a:xfrm>
      </p:grpSpPr>
      <p:sp>
        <p:nvSpPr>
          <p:cNvPr id="26" name="Google Shape;26;g3739facb878_0_116"/>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7" name="Google Shape;27;g3739facb878_0_116"/>
          <p:cNvGrpSpPr/>
          <p:nvPr/>
        </p:nvGrpSpPr>
        <p:grpSpPr>
          <a:xfrm>
            <a:off x="830392" y="1191256"/>
            <a:ext cx="745763" cy="45826"/>
            <a:chOff x="4580561" y="2589004"/>
            <a:chExt cx="1064464" cy="25200"/>
          </a:xfrm>
        </p:grpSpPr>
        <p:sp>
          <p:nvSpPr>
            <p:cNvPr id="28" name="Google Shape;28;g3739facb878_0_11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g3739facb878_0_11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 name="Google Shape;30;g3739facb878_0_116"/>
          <p:cNvSpPr txBox="1"/>
          <p:nvPr>
            <p:ph type="title"/>
          </p:nvPr>
        </p:nvSpPr>
        <p:spPr>
          <a:xfrm>
            <a:off x="729450" y="1318650"/>
            <a:ext cx="3774300" cy="535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
        <p:nvSpPr>
          <p:cNvPr id="31" name="Google Shape;31;g3739facb878_0_116"/>
          <p:cNvSpPr txBox="1"/>
          <p:nvPr>
            <p:ph idx="1" type="body"/>
          </p:nvPr>
        </p:nvSpPr>
        <p:spPr>
          <a:xfrm>
            <a:off x="729325" y="2078875"/>
            <a:ext cx="3774300" cy="22611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32" name="Google Shape;32;g3739facb878_0_116"/>
          <p:cNvSpPr txBox="1"/>
          <p:nvPr>
            <p:ph idx="2" type="body"/>
          </p:nvPr>
        </p:nvSpPr>
        <p:spPr>
          <a:xfrm>
            <a:off x="4643604" y="2078875"/>
            <a:ext cx="3774300" cy="22611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33" name="Google Shape;33;g3739facb878_0_116"/>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grpSp>
        <p:nvGrpSpPr>
          <p:cNvPr id="34" name="Google Shape;34;g3739facb878_0_116"/>
          <p:cNvGrpSpPr/>
          <p:nvPr/>
        </p:nvGrpSpPr>
        <p:grpSpPr>
          <a:xfrm>
            <a:off x="4744542" y="1191256"/>
            <a:ext cx="745763" cy="45826"/>
            <a:chOff x="4580561" y="2589004"/>
            <a:chExt cx="1064464" cy="25200"/>
          </a:xfrm>
        </p:grpSpPr>
        <p:sp>
          <p:nvSpPr>
            <p:cNvPr id="35" name="Google Shape;35;g3739facb878_0_11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g3739facb878_0_11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7" name="Google Shape;37;g3739facb878_0_116"/>
          <p:cNvSpPr txBox="1"/>
          <p:nvPr>
            <p:ph idx="3" type="title"/>
          </p:nvPr>
        </p:nvSpPr>
        <p:spPr>
          <a:xfrm>
            <a:off x="4643600" y="1318650"/>
            <a:ext cx="3774300" cy="535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 name="Shape 38"/>
        <p:cNvGrpSpPr/>
        <p:nvPr/>
      </p:nvGrpSpPr>
      <p:grpSpPr>
        <a:xfrm>
          <a:off x="0" y="0"/>
          <a:ext cx="0" cy="0"/>
          <a:chOff x="0" y="0"/>
          <a:chExt cx="0" cy="0"/>
        </a:xfrm>
      </p:grpSpPr>
      <p:sp>
        <p:nvSpPr>
          <p:cNvPr id="39" name="Google Shape;39;g3739facb878_0_155"/>
          <p:cNvSpPr txBox="1"/>
          <p:nvPr>
            <p:ph idx="1" type="body"/>
          </p:nvPr>
        </p:nvSpPr>
        <p:spPr>
          <a:xfrm>
            <a:off x="724950" y="4372551"/>
            <a:ext cx="7697400" cy="4605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300"/>
              <a:buNone/>
              <a:defRPr/>
            </a:lvl1pPr>
          </a:lstStyle>
          <a:p/>
        </p:txBody>
      </p:sp>
      <p:sp>
        <p:nvSpPr>
          <p:cNvPr id="40" name="Google Shape;40;g3739facb878_0_155"/>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41" name="Shape 41"/>
        <p:cNvGrpSpPr/>
        <p:nvPr/>
      </p:nvGrpSpPr>
      <p:grpSpPr>
        <a:xfrm>
          <a:off x="0" y="0"/>
          <a:ext cx="0" cy="0"/>
          <a:chOff x="0" y="0"/>
          <a:chExt cx="0" cy="0"/>
        </a:xfrm>
      </p:grpSpPr>
      <p:grpSp>
        <p:nvGrpSpPr>
          <p:cNvPr id="42" name="Google Shape;42;g3739facb878_0_102"/>
          <p:cNvGrpSpPr/>
          <p:nvPr/>
        </p:nvGrpSpPr>
        <p:grpSpPr>
          <a:xfrm>
            <a:off x="830392" y="1191256"/>
            <a:ext cx="745763" cy="45826"/>
            <a:chOff x="4580561" y="2589004"/>
            <a:chExt cx="1064464" cy="25200"/>
          </a:xfrm>
        </p:grpSpPr>
        <p:sp>
          <p:nvSpPr>
            <p:cNvPr id="43" name="Google Shape;43;g3739facb878_0_102"/>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 name="Google Shape;44;g3739facb878_0_102"/>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5" name="Google Shape;45;g3739facb878_0_102"/>
          <p:cNvSpPr txBox="1"/>
          <p:nvPr>
            <p:ph type="title"/>
          </p:nvPr>
        </p:nvSpPr>
        <p:spPr>
          <a:xfrm>
            <a:off x="729450" y="1322450"/>
            <a:ext cx="7688400" cy="1518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l">
              <a:lnSpc>
                <a:spcPct val="100000"/>
              </a:lnSpc>
              <a:spcBef>
                <a:spcPts val="0"/>
              </a:spcBef>
              <a:spcAft>
                <a:spcPts val="0"/>
              </a:spcAft>
              <a:buClr>
                <a:schemeClr val="lt1"/>
              </a:buClr>
              <a:buSzPts val="3600"/>
              <a:buNone/>
              <a:defRPr sz="3600">
                <a:solidFill>
                  <a:schemeClr val="lt1"/>
                </a:solidFill>
              </a:defRPr>
            </a:lvl2pPr>
            <a:lvl3pPr lvl="2" algn="l">
              <a:lnSpc>
                <a:spcPct val="100000"/>
              </a:lnSpc>
              <a:spcBef>
                <a:spcPts val="0"/>
              </a:spcBef>
              <a:spcAft>
                <a:spcPts val="0"/>
              </a:spcAft>
              <a:buClr>
                <a:schemeClr val="lt1"/>
              </a:buClr>
              <a:buSzPts val="3600"/>
              <a:buNone/>
              <a:defRPr sz="3600">
                <a:solidFill>
                  <a:schemeClr val="lt1"/>
                </a:solidFill>
              </a:defRPr>
            </a:lvl3pPr>
            <a:lvl4pPr lvl="3" algn="l">
              <a:lnSpc>
                <a:spcPct val="100000"/>
              </a:lnSpc>
              <a:spcBef>
                <a:spcPts val="0"/>
              </a:spcBef>
              <a:spcAft>
                <a:spcPts val="0"/>
              </a:spcAft>
              <a:buClr>
                <a:schemeClr val="lt1"/>
              </a:buClr>
              <a:buSzPts val="3600"/>
              <a:buNone/>
              <a:defRPr sz="3600">
                <a:solidFill>
                  <a:schemeClr val="lt1"/>
                </a:solidFill>
              </a:defRPr>
            </a:lvl4pPr>
            <a:lvl5pPr lvl="4" algn="l">
              <a:lnSpc>
                <a:spcPct val="100000"/>
              </a:lnSpc>
              <a:spcBef>
                <a:spcPts val="0"/>
              </a:spcBef>
              <a:spcAft>
                <a:spcPts val="0"/>
              </a:spcAft>
              <a:buClr>
                <a:schemeClr val="lt1"/>
              </a:buClr>
              <a:buSzPts val="3600"/>
              <a:buNone/>
              <a:defRPr sz="3600">
                <a:solidFill>
                  <a:schemeClr val="lt1"/>
                </a:solidFill>
              </a:defRPr>
            </a:lvl5pPr>
            <a:lvl6pPr lvl="5" algn="l">
              <a:lnSpc>
                <a:spcPct val="100000"/>
              </a:lnSpc>
              <a:spcBef>
                <a:spcPts val="0"/>
              </a:spcBef>
              <a:spcAft>
                <a:spcPts val="0"/>
              </a:spcAft>
              <a:buClr>
                <a:schemeClr val="lt1"/>
              </a:buClr>
              <a:buSzPts val="3600"/>
              <a:buNone/>
              <a:defRPr sz="3600">
                <a:solidFill>
                  <a:schemeClr val="lt1"/>
                </a:solidFill>
              </a:defRPr>
            </a:lvl6pPr>
            <a:lvl7pPr lvl="6" algn="l">
              <a:lnSpc>
                <a:spcPct val="100000"/>
              </a:lnSpc>
              <a:spcBef>
                <a:spcPts val="0"/>
              </a:spcBef>
              <a:spcAft>
                <a:spcPts val="0"/>
              </a:spcAft>
              <a:buClr>
                <a:schemeClr val="lt1"/>
              </a:buClr>
              <a:buSzPts val="3600"/>
              <a:buNone/>
              <a:defRPr sz="3600">
                <a:solidFill>
                  <a:schemeClr val="lt1"/>
                </a:solidFill>
              </a:defRPr>
            </a:lvl7pPr>
            <a:lvl8pPr lvl="7" algn="l">
              <a:lnSpc>
                <a:spcPct val="100000"/>
              </a:lnSpc>
              <a:spcBef>
                <a:spcPts val="0"/>
              </a:spcBef>
              <a:spcAft>
                <a:spcPts val="0"/>
              </a:spcAft>
              <a:buClr>
                <a:schemeClr val="lt1"/>
              </a:buClr>
              <a:buSzPts val="3600"/>
              <a:buNone/>
              <a:defRPr sz="3600">
                <a:solidFill>
                  <a:schemeClr val="lt1"/>
                </a:solidFill>
              </a:defRPr>
            </a:lvl8pPr>
            <a:lvl9pPr lvl="8" algn="l">
              <a:lnSpc>
                <a:spcPct val="100000"/>
              </a:lnSpc>
              <a:spcBef>
                <a:spcPts val="0"/>
              </a:spcBef>
              <a:spcAft>
                <a:spcPts val="0"/>
              </a:spcAft>
              <a:buClr>
                <a:schemeClr val="lt1"/>
              </a:buClr>
              <a:buSzPts val="3600"/>
              <a:buNone/>
              <a:defRPr sz="3600">
                <a:solidFill>
                  <a:schemeClr val="lt1"/>
                </a:solidFill>
              </a:defRPr>
            </a:lvl9pPr>
          </a:lstStyle>
          <a:p/>
        </p:txBody>
      </p:sp>
      <p:sp>
        <p:nvSpPr>
          <p:cNvPr id="46" name="Google Shape;46;g3739facb878_0_102"/>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7" name="Shape 47"/>
        <p:cNvGrpSpPr/>
        <p:nvPr/>
      </p:nvGrpSpPr>
      <p:grpSpPr>
        <a:xfrm>
          <a:off x="0" y="0"/>
          <a:ext cx="0" cy="0"/>
          <a:chOff x="0" y="0"/>
          <a:chExt cx="0" cy="0"/>
        </a:xfrm>
      </p:grpSpPr>
      <p:sp>
        <p:nvSpPr>
          <p:cNvPr id="48" name="Google Shape;48;g3739facb878_0_125"/>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9" name="Google Shape;49;g3739facb878_0_125"/>
          <p:cNvGrpSpPr/>
          <p:nvPr/>
        </p:nvGrpSpPr>
        <p:grpSpPr>
          <a:xfrm>
            <a:off x="830392" y="1191256"/>
            <a:ext cx="745763" cy="45826"/>
            <a:chOff x="4580561" y="2589004"/>
            <a:chExt cx="1064464" cy="25200"/>
          </a:xfrm>
        </p:grpSpPr>
        <p:sp>
          <p:nvSpPr>
            <p:cNvPr id="50" name="Google Shape;50;g3739facb878_0_125"/>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g3739facb878_0_125"/>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2" name="Google Shape;52;g3739facb878_0_125"/>
          <p:cNvSpPr txBox="1"/>
          <p:nvPr>
            <p:ph type="title"/>
          </p:nvPr>
        </p:nvSpPr>
        <p:spPr>
          <a:xfrm>
            <a:off x="729450" y="1318650"/>
            <a:ext cx="7688400" cy="535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
        <p:nvSpPr>
          <p:cNvPr id="53" name="Google Shape;53;g3739facb878_0_125"/>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54" name="Shape 54"/>
        <p:cNvGrpSpPr/>
        <p:nvPr/>
      </p:nvGrpSpPr>
      <p:grpSpPr>
        <a:xfrm>
          <a:off x="0" y="0"/>
          <a:ext cx="0" cy="0"/>
          <a:chOff x="0" y="0"/>
          <a:chExt cx="0" cy="0"/>
        </a:xfrm>
      </p:grpSpPr>
      <p:sp>
        <p:nvSpPr>
          <p:cNvPr id="55" name="Google Shape;55;g3739facb878_0_132"/>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6" name="Google Shape;56;g3739facb878_0_132"/>
          <p:cNvGrpSpPr/>
          <p:nvPr/>
        </p:nvGrpSpPr>
        <p:grpSpPr>
          <a:xfrm>
            <a:off x="830392" y="1191256"/>
            <a:ext cx="745763" cy="45826"/>
            <a:chOff x="4580561" y="2589004"/>
            <a:chExt cx="1064464" cy="25200"/>
          </a:xfrm>
        </p:grpSpPr>
        <p:sp>
          <p:nvSpPr>
            <p:cNvPr id="57" name="Google Shape;57;g3739facb878_0_132"/>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g3739facb878_0_132"/>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 name="Google Shape;59;g3739facb878_0_132"/>
          <p:cNvSpPr txBox="1"/>
          <p:nvPr>
            <p:ph type="title"/>
          </p:nvPr>
        </p:nvSpPr>
        <p:spPr>
          <a:xfrm>
            <a:off x="730000" y="1318650"/>
            <a:ext cx="3300900" cy="1381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
        <p:nvSpPr>
          <p:cNvPr id="60" name="Google Shape;60;g3739facb878_0_132"/>
          <p:cNvSpPr txBox="1"/>
          <p:nvPr>
            <p:ph idx="1" type="body"/>
          </p:nvPr>
        </p:nvSpPr>
        <p:spPr>
          <a:xfrm>
            <a:off x="721225" y="2781725"/>
            <a:ext cx="3300900" cy="15975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61" name="Google Shape;61;g3739facb878_0_132"/>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62" name="Shape 62"/>
        <p:cNvGrpSpPr/>
        <p:nvPr/>
      </p:nvGrpSpPr>
      <p:grpSpPr>
        <a:xfrm>
          <a:off x="0" y="0"/>
          <a:ext cx="0" cy="0"/>
          <a:chOff x="0" y="0"/>
          <a:chExt cx="0" cy="0"/>
        </a:xfrm>
      </p:grpSpPr>
      <p:grpSp>
        <p:nvGrpSpPr>
          <p:cNvPr id="63" name="Google Shape;63;g3739facb878_0_140"/>
          <p:cNvGrpSpPr/>
          <p:nvPr/>
        </p:nvGrpSpPr>
        <p:grpSpPr>
          <a:xfrm>
            <a:off x="830392" y="4169130"/>
            <a:ext cx="745763" cy="45826"/>
            <a:chOff x="4580561" y="2589004"/>
            <a:chExt cx="1064464" cy="25200"/>
          </a:xfrm>
        </p:grpSpPr>
        <p:sp>
          <p:nvSpPr>
            <p:cNvPr id="64" name="Google Shape;64;g3739facb878_0_140"/>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g3739facb878_0_140"/>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6" name="Google Shape;66;g3739facb878_0_140"/>
          <p:cNvSpPr txBox="1"/>
          <p:nvPr>
            <p:ph type="title"/>
          </p:nvPr>
        </p:nvSpPr>
        <p:spPr>
          <a:xfrm>
            <a:off x="729450" y="864300"/>
            <a:ext cx="7021200" cy="29850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l">
              <a:lnSpc>
                <a:spcPct val="100000"/>
              </a:lnSpc>
              <a:spcBef>
                <a:spcPts val="0"/>
              </a:spcBef>
              <a:spcAft>
                <a:spcPts val="0"/>
              </a:spcAft>
              <a:buClr>
                <a:schemeClr val="lt1"/>
              </a:buClr>
              <a:buSzPts val="3600"/>
              <a:buNone/>
              <a:defRPr sz="3600">
                <a:solidFill>
                  <a:schemeClr val="lt1"/>
                </a:solidFill>
              </a:defRPr>
            </a:lvl2pPr>
            <a:lvl3pPr lvl="2" algn="l">
              <a:lnSpc>
                <a:spcPct val="100000"/>
              </a:lnSpc>
              <a:spcBef>
                <a:spcPts val="0"/>
              </a:spcBef>
              <a:spcAft>
                <a:spcPts val="0"/>
              </a:spcAft>
              <a:buClr>
                <a:schemeClr val="lt1"/>
              </a:buClr>
              <a:buSzPts val="3600"/>
              <a:buNone/>
              <a:defRPr sz="3600">
                <a:solidFill>
                  <a:schemeClr val="lt1"/>
                </a:solidFill>
              </a:defRPr>
            </a:lvl3pPr>
            <a:lvl4pPr lvl="3" algn="l">
              <a:lnSpc>
                <a:spcPct val="100000"/>
              </a:lnSpc>
              <a:spcBef>
                <a:spcPts val="0"/>
              </a:spcBef>
              <a:spcAft>
                <a:spcPts val="0"/>
              </a:spcAft>
              <a:buClr>
                <a:schemeClr val="lt1"/>
              </a:buClr>
              <a:buSzPts val="3600"/>
              <a:buNone/>
              <a:defRPr sz="3600">
                <a:solidFill>
                  <a:schemeClr val="lt1"/>
                </a:solidFill>
              </a:defRPr>
            </a:lvl4pPr>
            <a:lvl5pPr lvl="4" algn="l">
              <a:lnSpc>
                <a:spcPct val="100000"/>
              </a:lnSpc>
              <a:spcBef>
                <a:spcPts val="0"/>
              </a:spcBef>
              <a:spcAft>
                <a:spcPts val="0"/>
              </a:spcAft>
              <a:buClr>
                <a:schemeClr val="lt1"/>
              </a:buClr>
              <a:buSzPts val="3600"/>
              <a:buNone/>
              <a:defRPr sz="3600">
                <a:solidFill>
                  <a:schemeClr val="lt1"/>
                </a:solidFill>
              </a:defRPr>
            </a:lvl5pPr>
            <a:lvl6pPr lvl="5" algn="l">
              <a:lnSpc>
                <a:spcPct val="100000"/>
              </a:lnSpc>
              <a:spcBef>
                <a:spcPts val="0"/>
              </a:spcBef>
              <a:spcAft>
                <a:spcPts val="0"/>
              </a:spcAft>
              <a:buClr>
                <a:schemeClr val="lt1"/>
              </a:buClr>
              <a:buSzPts val="3600"/>
              <a:buNone/>
              <a:defRPr sz="3600">
                <a:solidFill>
                  <a:schemeClr val="lt1"/>
                </a:solidFill>
              </a:defRPr>
            </a:lvl6pPr>
            <a:lvl7pPr lvl="6" algn="l">
              <a:lnSpc>
                <a:spcPct val="100000"/>
              </a:lnSpc>
              <a:spcBef>
                <a:spcPts val="0"/>
              </a:spcBef>
              <a:spcAft>
                <a:spcPts val="0"/>
              </a:spcAft>
              <a:buClr>
                <a:schemeClr val="lt1"/>
              </a:buClr>
              <a:buSzPts val="3600"/>
              <a:buNone/>
              <a:defRPr sz="3600">
                <a:solidFill>
                  <a:schemeClr val="lt1"/>
                </a:solidFill>
              </a:defRPr>
            </a:lvl7pPr>
            <a:lvl8pPr lvl="7" algn="l">
              <a:lnSpc>
                <a:spcPct val="100000"/>
              </a:lnSpc>
              <a:spcBef>
                <a:spcPts val="0"/>
              </a:spcBef>
              <a:spcAft>
                <a:spcPts val="0"/>
              </a:spcAft>
              <a:buClr>
                <a:schemeClr val="lt1"/>
              </a:buClr>
              <a:buSzPts val="3600"/>
              <a:buNone/>
              <a:defRPr sz="3600">
                <a:solidFill>
                  <a:schemeClr val="lt1"/>
                </a:solidFill>
              </a:defRPr>
            </a:lvl8pPr>
            <a:lvl9pPr lvl="8" algn="l">
              <a:lnSpc>
                <a:spcPct val="100000"/>
              </a:lnSpc>
              <a:spcBef>
                <a:spcPts val="0"/>
              </a:spcBef>
              <a:spcAft>
                <a:spcPts val="0"/>
              </a:spcAft>
              <a:buClr>
                <a:schemeClr val="lt1"/>
              </a:buClr>
              <a:buSzPts val="3600"/>
              <a:buNone/>
              <a:defRPr sz="3600">
                <a:solidFill>
                  <a:schemeClr val="lt1"/>
                </a:solidFill>
              </a:defRPr>
            </a:lvl9pPr>
          </a:lstStyle>
          <a:p/>
        </p:txBody>
      </p:sp>
      <p:sp>
        <p:nvSpPr>
          <p:cNvPr id="67" name="Google Shape;67;g3739facb878_0_140"/>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8" name="Shape 68"/>
        <p:cNvGrpSpPr/>
        <p:nvPr/>
      </p:nvGrpSpPr>
      <p:grpSpPr>
        <a:xfrm>
          <a:off x="0" y="0"/>
          <a:ext cx="0" cy="0"/>
          <a:chOff x="0" y="0"/>
          <a:chExt cx="0" cy="0"/>
        </a:xfrm>
      </p:grpSpPr>
      <p:sp>
        <p:nvSpPr>
          <p:cNvPr id="69" name="Google Shape;69;g3739facb878_0_146"/>
          <p:cNvSpPr/>
          <p:nvPr/>
        </p:nvSpPr>
        <p:spPr>
          <a:xfrm>
            <a:off x="0" y="0"/>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0" name="Google Shape;70;g3739facb878_0_146"/>
          <p:cNvGrpSpPr/>
          <p:nvPr/>
        </p:nvGrpSpPr>
        <p:grpSpPr>
          <a:xfrm>
            <a:off x="830392" y="1191256"/>
            <a:ext cx="745763" cy="45826"/>
            <a:chOff x="4580561" y="2589004"/>
            <a:chExt cx="1064464" cy="25200"/>
          </a:xfrm>
        </p:grpSpPr>
        <p:sp>
          <p:nvSpPr>
            <p:cNvPr id="71" name="Google Shape;71;g3739facb878_0_14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g3739facb878_0_14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3" name="Google Shape;73;g3739facb878_0_146"/>
          <p:cNvSpPr txBox="1"/>
          <p:nvPr>
            <p:ph type="title"/>
          </p:nvPr>
        </p:nvSpPr>
        <p:spPr>
          <a:xfrm>
            <a:off x="730000" y="1318650"/>
            <a:ext cx="3300900" cy="1687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
        <p:nvSpPr>
          <p:cNvPr id="74" name="Google Shape;74;g3739facb878_0_146"/>
          <p:cNvSpPr txBox="1"/>
          <p:nvPr>
            <p:ph idx="1" type="subTitle"/>
          </p:nvPr>
        </p:nvSpPr>
        <p:spPr>
          <a:xfrm>
            <a:off x="724950" y="3161525"/>
            <a:ext cx="3300900" cy="7590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1600"/>
              <a:buNone/>
              <a:defRPr sz="1600"/>
            </a:lvl1pPr>
            <a:lvl2pPr lvl="1" algn="l">
              <a:lnSpc>
                <a:spcPct val="100000"/>
              </a:lnSpc>
              <a:spcBef>
                <a:spcPts val="0"/>
              </a:spcBef>
              <a:spcAft>
                <a:spcPts val="0"/>
              </a:spcAft>
              <a:buSzPts val="1600"/>
              <a:buNone/>
              <a:defRPr sz="1600"/>
            </a:lvl2pPr>
            <a:lvl3pPr lvl="2" algn="l">
              <a:lnSpc>
                <a:spcPct val="100000"/>
              </a:lnSpc>
              <a:spcBef>
                <a:spcPts val="0"/>
              </a:spcBef>
              <a:spcAft>
                <a:spcPts val="0"/>
              </a:spcAft>
              <a:buSzPts val="1600"/>
              <a:buNone/>
              <a:defRPr sz="1600"/>
            </a:lvl3pPr>
            <a:lvl4pPr lvl="3" algn="l">
              <a:lnSpc>
                <a:spcPct val="100000"/>
              </a:lnSpc>
              <a:spcBef>
                <a:spcPts val="0"/>
              </a:spcBef>
              <a:spcAft>
                <a:spcPts val="0"/>
              </a:spcAft>
              <a:buSzPts val="1600"/>
              <a:buNone/>
              <a:defRPr sz="1600"/>
            </a:lvl4pPr>
            <a:lvl5pPr lvl="4" algn="l">
              <a:lnSpc>
                <a:spcPct val="100000"/>
              </a:lnSpc>
              <a:spcBef>
                <a:spcPts val="0"/>
              </a:spcBef>
              <a:spcAft>
                <a:spcPts val="0"/>
              </a:spcAft>
              <a:buSzPts val="1600"/>
              <a:buNone/>
              <a:defRPr sz="1600"/>
            </a:lvl5pPr>
            <a:lvl6pPr lvl="5" algn="l">
              <a:lnSpc>
                <a:spcPct val="100000"/>
              </a:lnSpc>
              <a:spcBef>
                <a:spcPts val="0"/>
              </a:spcBef>
              <a:spcAft>
                <a:spcPts val="0"/>
              </a:spcAft>
              <a:buSzPts val="1600"/>
              <a:buNone/>
              <a:defRPr sz="1600"/>
            </a:lvl6pPr>
            <a:lvl7pPr lvl="6" algn="l">
              <a:lnSpc>
                <a:spcPct val="100000"/>
              </a:lnSpc>
              <a:spcBef>
                <a:spcPts val="0"/>
              </a:spcBef>
              <a:spcAft>
                <a:spcPts val="0"/>
              </a:spcAft>
              <a:buSzPts val="1600"/>
              <a:buNone/>
              <a:defRPr sz="1600"/>
            </a:lvl7pPr>
            <a:lvl8pPr lvl="7" algn="l">
              <a:lnSpc>
                <a:spcPct val="100000"/>
              </a:lnSpc>
              <a:spcBef>
                <a:spcPts val="0"/>
              </a:spcBef>
              <a:spcAft>
                <a:spcPts val="0"/>
              </a:spcAft>
              <a:buSzPts val="1600"/>
              <a:buNone/>
              <a:defRPr sz="1600"/>
            </a:lvl8pPr>
            <a:lvl9pPr lvl="8" algn="l">
              <a:lnSpc>
                <a:spcPct val="100000"/>
              </a:lnSpc>
              <a:spcBef>
                <a:spcPts val="0"/>
              </a:spcBef>
              <a:spcAft>
                <a:spcPts val="0"/>
              </a:spcAft>
              <a:buSzPts val="1600"/>
              <a:buNone/>
              <a:defRPr sz="1600"/>
            </a:lvl9pPr>
          </a:lstStyle>
          <a:p/>
        </p:txBody>
      </p:sp>
      <p:sp>
        <p:nvSpPr>
          <p:cNvPr id="75" name="Google Shape;75;g3739facb878_0_146"/>
          <p:cNvSpPr txBox="1"/>
          <p:nvPr>
            <p:ph idx="2" type="body"/>
          </p:nvPr>
        </p:nvSpPr>
        <p:spPr>
          <a:xfrm>
            <a:off x="5174225" y="1352625"/>
            <a:ext cx="3374400" cy="30255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76" name="Google Shape;76;g3739facb878_0_146"/>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77" name="Shape 77"/>
        <p:cNvGrpSpPr/>
        <p:nvPr/>
      </p:nvGrpSpPr>
      <p:grpSpPr>
        <a:xfrm>
          <a:off x="0" y="0"/>
          <a:ext cx="0" cy="0"/>
          <a:chOff x="0" y="0"/>
          <a:chExt cx="0" cy="0"/>
        </a:xfrm>
      </p:grpSpPr>
      <p:grpSp>
        <p:nvGrpSpPr>
          <p:cNvPr id="78" name="Google Shape;78;g3739facb878_0_158"/>
          <p:cNvGrpSpPr/>
          <p:nvPr/>
        </p:nvGrpSpPr>
        <p:grpSpPr>
          <a:xfrm>
            <a:off x="830392" y="4169130"/>
            <a:ext cx="745763" cy="45826"/>
            <a:chOff x="4580561" y="2589004"/>
            <a:chExt cx="1064464" cy="25200"/>
          </a:xfrm>
        </p:grpSpPr>
        <p:sp>
          <p:nvSpPr>
            <p:cNvPr id="79" name="Google Shape;79;g3739facb878_0_158"/>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g3739facb878_0_158"/>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1" name="Google Shape;81;g3739facb878_0_158"/>
          <p:cNvSpPr txBox="1"/>
          <p:nvPr>
            <p:ph hasCustomPrompt="1" type="title"/>
          </p:nvPr>
        </p:nvSpPr>
        <p:spPr>
          <a:xfrm>
            <a:off x="729450" y="733950"/>
            <a:ext cx="7688400" cy="1244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8000"/>
              <a:buNone/>
              <a:defRPr sz="8000">
                <a:solidFill>
                  <a:schemeClr val="lt1"/>
                </a:solidFill>
              </a:defRPr>
            </a:lvl1pPr>
            <a:lvl2pPr lvl="1" algn="l">
              <a:lnSpc>
                <a:spcPct val="100000"/>
              </a:lnSpc>
              <a:spcBef>
                <a:spcPts val="0"/>
              </a:spcBef>
              <a:spcAft>
                <a:spcPts val="0"/>
              </a:spcAft>
              <a:buClr>
                <a:schemeClr val="lt1"/>
              </a:buClr>
              <a:buSzPts val="8000"/>
              <a:buNone/>
              <a:defRPr sz="8000">
                <a:solidFill>
                  <a:schemeClr val="lt1"/>
                </a:solidFill>
              </a:defRPr>
            </a:lvl2pPr>
            <a:lvl3pPr lvl="2" algn="l">
              <a:lnSpc>
                <a:spcPct val="100000"/>
              </a:lnSpc>
              <a:spcBef>
                <a:spcPts val="0"/>
              </a:spcBef>
              <a:spcAft>
                <a:spcPts val="0"/>
              </a:spcAft>
              <a:buClr>
                <a:schemeClr val="lt1"/>
              </a:buClr>
              <a:buSzPts val="8000"/>
              <a:buNone/>
              <a:defRPr sz="8000">
                <a:solidFill>
                  <a:schemeClr val="lt1"/>
                </a:solidFill>
              </a:defRPr>
            </a:lvl3pPr>
            <a:lvl4pPr lvl="3" algn="l">
              <a:lnSpc>
                <a:spcPct val="100000"/>
              </a:lnSpc>
              <a:spcBef>
                <a:spcPts val="0"/>
              </a:spcBef>
              <a:spcAft>
                <a:spcPts val="0"/>
              </a:spcAft>
              <a:buClr>
                <a:schemeClr val="lt1"/>
              </a:buClr>
              <a:buSzPts val="8000"/>
              <a:buNone/>
              <a:defRPr sz="8000">
                <a:solidFill>
                  <a:schemeClr val="lt1"/>
                </a:solidFill>
              </a:defRPr>
            </a:lvl4pPr>
            <a:lvl5pPr lvl="4" algn="l">
              <a:lnSpc>
                <a:spcPct val="100000"/>
              </a:lnSpc>
              <a:spcBef>
                <a:spcPts val="0"/>
              </a:spcBef>
              <a:spcAft>
                <a:spcPts val="0"/>
              </a:spcAft>
              <a:buClr>
                <a:schemeClr val="lt1"/>
              </a:buClr>
              <a:buSzPts val="8000"/>
              <a:buNone/>
              <a:defRPr sz="8000">
                <a:solidFill>
                  <a:schemeClr val="lt1"/>
                </a:solidFill>
              </a:defRPr>
            </a:lvl5pPr>
            <a:lvl6pPr lvl="5" algn="l">
              <a:lnSpc>
                <a:spcPct val="100000"/>
              </a:lnSpc>
              <a:spcBef>
                <a:spcPts val="0"/>
              </a:spcBef>
              <a:spcAft>
                <a:spcPts val="0"/>
              </a:spcAft>
              <a:buClr>
                <a:schemeClr val="lt1"/>
              </a:buClr>
              <a:buSzPts val="8000"/>
              <a:buNone/>
              <a:defRPr sz="8000">
                <a:solidFill>
                  <a:schemeClr val="lt1"/>
                </a:solidFill>
              </a:defRPr>
            </a:lvl6pPr>
            <a:lvl7pPr lvl="6" algn="l">
              <a:lnSpc>
                <a:spcPct val="100000"/>
              </a:lnSpc>
              <a:spcBef>
                <a:spcPts val="0"/>
              </a:spcBef>
              <a:spcAft>
                <a:spcPts val="0"/>
              </a:spcAft>
              <a:buClr>
                <a:schemeClr val="lt1"/>
              </a:buClr>
              <a:buSzPts val="8000"/>
              <a:buNone/>
              <a:defRPr sz="8000">
                <a:solidFill>
                  <a:schemeClr val="lt1"/>
                </a:solidFill>
              </a:defRPr>
            </a:lvl7pPr>
            <a:lvl8pPr lvl="7" algn="l">
              <a:lnSpc>
                <a:spcPct val="100000"/>
              </a:lnSpc>
              <a:spcBef>
                <a:spcPts val="0"/>
              </a:spcBef>
              <a:spcAft>
                <a:spcPts val="0"/>
              </a:spcAft>
              <a:buClr>
                <a:schemeClr val="lt1"/>
              </a:buClr>
              <a:buSzPts val="8000"/>
              <a:buNone/>
              <a:defRPr sz="8000">
                <a:solidFill>
                  <a:schemeClr val="lt1"/>
                </a:solidFill>
              </a:defRPr>
            </a:lvl8pPr>
            <a:lvl9pPr lvl="8" algn="l">
              <a:lnSpc>
                <a:spcPct val="100000"/>
              </a:lnSpc>
              <a:spcBef>
                <a:spcPts val="0"/>
              </a:spcBef>
              <a:spcAft>
                <a:spcPts val="0"/>
              </a:spcAft>
              <a:buClr>
                <a:schemeClr val="lt1"/>
              </a:buClr>
              <a:buSzPts val="8000"/>
              <a:buNone/>
              <a:defRPr sz="8000">
                <a:solidFill>
                  <a:schemeClr val="lt1"/>
                </a:solidFill>
              </a:defRPr>
            </a:lvl9pPr>
          </a:lstStyle>
          <a:p>
            <a:r>
              <a:t>xx%</a:t>
            </a:r>
          </a:p>
        </p:txBody>
      </p:sp>
      <p:sp>
        <p:nvSpPr>
          <p:cNvPr id="82" name="Google Shape;82;g3739facb878_0_158"/>
          <p:cNvSpPr txBox="1"/>
          <p:nvPr>
            <p:ph idx="1" type="body"/>
          </p:nvPr>
        </p:nvSpPr>
        <p:spPr>
          <a:xfrm>
            <a:off x="729450" y="2272888"/>
            <a:ext cx="7688400" cy="15804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Clr>
                <a:schemeClr val="lt1"/>
              </a:buClr>
              <a:buSzPts val="1300"/>
              <a:buChar char="●"/>
              <a:defRPr>
                <a:solidFill>
                  <a:schemeClr val="lt1"/>
                </a:solidFill>
              </a:defRPr>
            </a:lvl1pPr>
            <a:lvl2pPr indent="-298450" lvl="1" marL="914400" algn="l">
              <a:lnSpc>
                <a:spcPct val="115000"/>
              </a:lnSpc>
              <a:spcBef>
                <a:spcPts val="0"/>
              </a:spcBef>
              <a:spcAft>
                <a:spcPts val="0"/>
              </a:spcAft>
              <a:buClr>
                <a:schemeClr val="lt1"/>
              </a:buClr>
              <a:buSzPts val="1100"/>
              <a:buChar char="○"/>
              <a:defRPr>
                <a:solidFill>
                  <a:schemeClr val="lt1"/>
                </a:solidFill>
              </a:defRPr>
            </a:lvl2pPr>
            <a:lvl3pPr indent="-298450" lvl="2" marL="1371600" algn="l">
              <a:lnSpc>
                <a:spcPct val="115000"/>
              </a:lnSpc>
              <a:spcBef>
                <a:spcPts val="0"/>
              </a:spcBef>
              <a:spcAft>
                <a:spcPts val="0"/>
              </a:spcAft>
              <a:buClr>
                <a:schemeClr val="lt1"/>
              </a:buClr>
              <a:buSzPts val="1100"/>
              <a:buChar char="■"/>
              <a:defRPr>
                <a:solidFill>
                  <a:schemeClr val="lt1"/>
                </a:solidFill>
              </a:defRPr>
            </a:lvl3pPr>
            <a:lvl4pPr indent="-298450" lvl="3" marL="1828800" algn="l">
              <a:lnSpc>
                <a:spcPct val="115000"/>
              </a:lnSpc>
              <a:spcBef>
                <a:spcPts val="0"/>
              </a:spcBef>
              <a:spcAft>
                <a:spcPts val="0"/>
              </a:spcAft>
              <a:buClr>
                <a:schemeClr val="lt1"/>
              </a:buClr>
              <a:buSzPts val="1100"/>
              <a:buChar char="●"/>
              <a:defRPr>
                <a:solidFill>
                  <a:schemeClr val="lt1"/>
                </a:solidFill>
              </a:defRPr>
            </a:lvl4pPr>
            <a:lvl5pPr indent="-298450" lvl="4" marL="2286000" algn="l">
              <a:lnSpc>
                <a:spcPct val="115000"/>
              </a:lnSpc>
              <a:spcBef>
                <a:spcPts val="0"/>
              </a:spcBef>
              <a:spcAft>
                <a:spcPts val="0"/>
              </a:spcAft>
              <a:buClr>
                <a:schemeClr val="lt1"/>
              </a:buClr>
              <a:buSzPts val="1100"/>
              <a:buChar char="○"/>
              <a:defRPr>
                <a:solidFill>
                  <a:schemeClr val="lt1"/>
                </a:solidFill>
              </a:defRPr>
            </a:lvl5pPr>
            <a:lvl6pPr indent="-298450" lvl="5" marL="2743200" algn="l">
              <a:lnSpc>
                <a:spcPct val="115000"/>
              </a:lnSpc>
              <a:spcBef>
                <a:spcPts val="0"/>
              </a:spcBef>
              <a:spcAft>
                <a:spcPts val="0"/>
              </a:spcAft>
              <a:buClr>
                <a:schemeClr val="lt1"/>
              </a:buClr>
              <a:buSzPts val="1100"/>
              <a:buChar char="■"/>
              <a:defRPr>
                <a:solidFill>
                  <a:schemeClr val="lt1"/>
                </a:solidFill>
              </a:defRPr>
            </a:lvl6pPr>
            <a:lvl7pPr indent="-298450" lvl="6" marL="3200400" algn="l">
              <a:lnSpc>
                <a:spcPct val="115000"/>
              </a:lnSpc>
              <a:spcBef>
                <a:spcPts val="0"/>
              </a:spcBef>
              <a:spcAft>
                <a:spcPts val="0"/>
              </a:spcAft>
              <a:buClr>
                <a:schemeClr val="lt1"/>
              </a:buClr>
              <a:buSzPts val="1100"/>
              <a:buChar char="●"/>
              <a:defRPr>
                <a:solidFill>
                  <a:schemeClr val="lt1"/>
                </a:solidFill>
              </a:defRPr>
            </a:lvl7pPr>
            <a:lvl8pPr indent="-298450" lvl="7" marL="3657600" algn="l">
              <a:lnSpc>
                <a:spcPct val="115000"/>
              </a:lnSpc>
              <a:spcBef>
                <a:spcPts val="0"/>
              </a:spcBef>
              <a:spcAft>
                <a:spcPts val="0"/>
              </a:spcAft>
              <a:buClr>
                <a:schemeClr val="lt1"/>
              </a:buClr>
              <a:buSzPts val="1100"/>
              <a:buChar char="○"/>
              <a:defRPr>
                <a:solidFill>
                  <a:schemeClr val="lt1"/>
                </a:solidFill>
              </a:defRPr>
            </a:lvl8pPr>
            <a:lvl9pPr indent="-298450" lvl="8" marL="4114800" algn="l">
              <a:lnSpc>
                <a:spcPct val="115000"/>
              </a:lnSpc>
              <a:spcBef>
                <a:spcPts val="0"/>
              </a:spcBef>
              <a:spcAft>
                <a:spcPts val="0"/>
              </a:spcAft>
              <a:buClr>
                <a:schemeClr val="lt1"/>
              </a:buClr>
              <a:buSzPts val="1100"/>
              <a:buChar char="■"/>
              <a:defRPr>
                <a:solidFill>
                  <a:schemeClr val="lt1"/>
                </a:solidFill>
              </a:defRPr>
            </a:lvl9pPr>
          </a:lstStyle>
          <a:p/>
        </p:txBody>
      </p:sp>
      <p:sp>
        <p:nvSpPr>
          <p:cNvPr id="83" name="Google Shape;83;g3739facb878_0_158"/>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4" name="Shape 84"/>
        <p:cNvGrpSpPr/>
        <p:nvPr/>
      </p:nvGrpSpPr>
      <p:grpSpPr>
        <a:xfrm>
          <a:off x="0" y="0"/>
          <a:ext cx="0" cy="0"/>
          <a:chOff x="0" y="0"/>
          <a:chExt cx="0" cy="0"/>
        </a:xfrm>
      </p:grpSpPr>
      <p:sp>
        <p:nvSpPr>
          <p:cNvPr id="85" name="Google Shape;85;g3739facb878_0_165"/>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treamline">
    <p:bg>
      <p:bgPr>
        <a:solidFill>
          <a:schemeClr val="lt1"/>
        </a:solidFill>
      </p:bgPr>
    </p:bg>
    <p:spTree>
      <p:nvGrpSpPr>
        <p:cNvPr id="5" name="Shape 5"/>
        <p:cNvGrpSpPr/>
        <p:nvPr/>
      </p:nvGrpSpPr>
      <p:grpSpPr>
        <a:xfrm>
          <a:off x="0" y="0"/>
          <a:ext cx="0" cy="0"/>
          <a:chOff x="0" y="0"/>
          <a:chExt cx="0" cy="0"/>
        </a:xfrm>
      </p:grpSpPr>
      <p:sp>
        <p:nvSpPr>
          <p:cNvPr id="6" name="Google Shape;6;g3739facb878_0_9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1pPr>
            <a:lvl2pPr lvl="1"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2pPr>
            <a:lvl3pPr lvl="2"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3pPr>
            <a:lvl4pPr lvl="3"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4pPr>
            <a:lvl5pPr lvl="4"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5pPr>
            <a:lvl6pPr lvl="5"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6pPr>
            <a:lvl7pPr lvl="6"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7pPr>
            <a:lvl8pPr lvl="7"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8pPr>
            <a:lvl9pPr lvl="8"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9pPr>
          </a:lstStyle>
          <a:p/>
        </p:txBody>
      </p:sp>
      <p:sp>
        <p:nvSpPr>
          <p:cNvPr id="7" name="Google Shape;7;g3739facb878_0_9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marR="0" rtl="0" algn="l">
              <a:lnSpc>
                <a:spcPct val="115000"/>
              </a:lnSpc>
              <a:spcBef>
                <a:spcPts val="0"/>
              </a:spcBef>
              <a:spcAft>
                <a:spcPts val="0"/>
              </a:spcAft>
              <a:buClr>
                <a:schemeClr val="accent1"/>
              </a:buClr>
              <a:buSzPts val="1300"/>
              <a:buFont typeface="Lato"/>
              <a:buChar char="●"/>
              <a:defRPr b="0" i="0" sz="1300" u="none" cap="none" strike="noStrike">
                <a:solidFill>
                  <a:schemeClr val="accent1"/>
                </a:solidFill>
                <a:latin typeface="Lato"/>
                <a:ea typeface="Lato"/>
                <a:cs typeface="Lato"/>
                <a:sym typeface="Lato"/>
              </a:defRPr>
            </a:lvl1pPr>
            <a:lvl2pPr indent="-298450" lvl="1" marL="9144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2pPr>
            <a:lvl3pPr indent="-298450" lvl="2" marL="13716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3pPr>
            <a:lvl4pPr indent="-298450" lvl="3" marL="18288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4pPr>
            <a:lvl5pPr indent="-298450" lvl="4" marL="22860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5pPr>
            <a:lvl6pPr indent="-298450" lvl="5" marL="27432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6pPr>
            <a:lvl7pPr indent="-298450" lvl="6" marL="32004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7pPr>
            <a:lvl8pPr indent="-298450" lvl="7" marL="36576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8pPr>
            <a:lvl9pPr indent="-298450" lvl="8" marL="41148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9pPr>
          </a:lstStyle>
          <a:p/>
        </p:txBody>
      </p:sp>
      <p:sp>
        <p:nvSpPr>
          <p:cNvPr id="8" name="Google Shape;8;g3739facb878_0_90"/>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mhlw.go.jp/content/12300000/001484892.pd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hlw.go.jp/content/12300000/001484892.pd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www.city.chigasaki.kanagawa.jp/_res/projects/default_project/_page_/001/010/988/120312.pdf" TargetMode="External"/><Relationship Id="rId4" Type="http://schemas.openxmlformats.org/officeDocument/2006/relationships/hyperlink" Target="https://www.mhlw.go.jp/file/06-Seisakujouhou-12600000-Seisakutoukatsukan/0000035310.pdf" TargetMode="External"/><Relationship Id="rId5" Type="http://schemas.openxmlformats.org/officeDocument/2006/relationships/hyperlink" Target="https://www.tyojyu.or.jp/kankoubutsu/gyoseki/pdf/h30-5-3.pdf" TargetMode="External"/><Relationship Id="rId6" Type="http://schemas.openxmlformats.org/officeDocument/2006/relationships/hyperlink" Target="https://www.city.chigasaki.kanagawa.jp/_res/projects/default_project/_page_/001/057/442/dai9kikeikaku.pdf" TargetMode="External"/><Relationship Id="rId7" Type="http://schemas.openxmlformats.org/officeDocument/2006/relationships/hyperlink" Target="https://www.mhlw.go.jp/file/06-Seisakujouhou-12600000-Seisakutoukatsukan/0000035310.pdf" TargetMode="External"/><Relationship Id="rId8" Type="http://schemas.openxmlformats.org/officeDocument/2006/relationships/hyperlink" Target="https://www.city.chigasaki.kanagawa.jp/_res/projects/default_project/_page_/001/010/988/120312.pdf"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city.chigasaki.kanagawa.jp/_res/projects/default_project/_page_/001/010/988/120312.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hyperlink" Target="https://dasc.jp/wp-content/uploads/2014/05/b22f358c9eaab1027fe1769620109c71.pdf" TargetMode="External"/><Relationship Id="rId4" Type="http://schemas.openxmlformats.org/officeDocument/2006/relationships/hyperlink" Target="https://dasc.jp/about" TargetMode="External"/><Relationship Id="rId5" Type="http://schemas.openxmlformats.org/officeDocument/2006/relationships/hyperlink" Target="https://www.mhlw.go.jp/content/12301000/001242315.docx" TargetMode="External"/><Relationship Id="rId6" Type="http://schemas.openxmlformats.org/officeDocument/2006/relationships/hyperlink" Target="https://rehab.cloud/mag/1566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www.city.hakodate.hokkaido.jp/docs/2014030500056/file_contents/2014030500056_hk_docs_2014030500056_files_4youshiki23-42.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www.city.hakodate.hokkaido.jp/docs/2020110600011/file_contents/2020110600011_hk_docs_2020110600011_files_ikkatsu.pdf"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www.pref.kanagawa.jp/documents/25830/syokisyuutyuujireisyuu.pdf" TargetMode="External"/><Relationship Id="rId4" Type="http://schemas.openxmlformats.org/officeDocument/2006/relationships/hyperlink" Target="https://www.ncgg.go.jp/ncgg-kenkyu/documents/R3_Casestudies2.pdf"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FEF"/>
        </a:solidFill>
      </p:bgPr>
    </p:bg>
    <p:spTree>
      <p:nvGrpSpPr>
        <p:cNvPr id="89" name="Shape 89"/>
        <p:cNvGrpSpPr/>
        <p:nvPr/>
      </p:nvGrpSpPr>
      <p:grpSpPr>
        <a:xfrm>
          <a:off x="0" y="0"/>
          <a:ext cx="0" cy="0"/>
          <a:chOff x="0" y="0"/>
          <a:chExt cx="0" cy="0"/>
        </a:xfrm>
      </p:grpSpPr>
      <p:sp>
        <p:nvSpPr>
          <p:cNvPr id="90" name="Google Shape;90;p1"/>
          <p:cNvSpPr txBox="1"/>
          <p:nvPr/>
        </p:nvSpPr>
        <p:spPr>
          <a:xfrm>
            <a:off x="505200" y="3384125"/>
            <a:ext cx="82611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0" i="0" lang="ja" sz="2000" u="none" cap="none" strike="noStrike">
                <a:solidFill>
                  <a:srgbClr val="1A1A1A"/>
                </a:solidFill>
                <a:latin typeface="Arial"/>
                <a:ea typeface="Arial"/>
                <a:cs typeface="Arial"/>
                <a:sym typeface="Arial"/>
              </a:rPr>
              <a:t>SD-5：</a:t>
            </a:r>
            <a:endParaRPr b="0" i="0" sz="20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500"/>
              <a:buFont typeface="Arial"/>
              <a:buNone/>
            </a:pPr>
            <a:r>
              <a:t/>
            </a:r>
            <a:endParaRPr b="0" i="0" sz="2500" u="none" cap="none" strike="noStrike">
              <a:solidFill>
                <a:schemeClr val="dk2"/>
              </a:solidFill>
              <a:latin typeface="Arial"/>
              <a:ea typeface="Arial"/>
              <a:cs typeface="Arial"/>
              <a:sym typeface="Arial"/>
            </a:endParaRPr>
          </a:p>
        </p:txBody>
      </p:sp>
      <p:sp>
        <p:nvSpPr>
          <p:cNvPr id="91" name="Google Shape;91;p1"/>
          <p:cNvSpPr txBox="1"/>
          <p:nvPr/>
        </p:nvSpPr>
        <p:spPr>
          <a:xfrm>
            <a:off x="819000" y="1853075"/>
            <a:ext cx="7506000" cy="806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600"/>
              <a:buFont typeface="Arial"/>
              <a:buNone/>
            </a:pPr>
            <a:r>
              <a:rPr b="1" i="0" lang="ja" sz="2500" u="none" cap="none" strike="noStrike">
                <a:solidFill>
                  <a:srgbClr val="1A1A1A"/>
                </a:solidFill>
                <a:latin typeface="Lato"/>
                <a:ea typeface="Lato"/>
                <a:cs typeface="Lato"/>
                <a:sym typeface="Lato"/>
              </a:rPr>
              <a:t>茅ヶ崎市基幹型地域包括支援センター向け</a:t>
            </a:r>
            <a:endParaRPr b="1" i="0" sz="2500" u="none" cap="none" strike="noStrike">
              <a:solidFill>
                <a:srgbClr val="1A1A1A"/>
              </a:solidFill>
              <a:latin typeface="Lato"/>
              <a:ea typeface="Lato"/>
              <a:cs typeface="Lato"/>
              <a:sym typeface="Lato"/>
            </a:endParaRPr>
          </a:p>
          <a:p>
            <a:pPr indent="0" lvl="0" marL="0" marR="0" rtl="0" algn="ctr">
              <a:lnSpc>
                <a:spcPct val="100000"/>
              </a:lnSpc>
              <a:spcBef>
                <a:spcPts val="0"/>
              </a:spcBef>
              <a:spcAft>
                <a:spcPts val="0"/>
              </a:spcAft>
              <a:buClr>
                <a:srgbClr val="000000"/>
              </a:buClr>
              <a:buSzPts val="3600"/>
              <a:buFont typeface="Arial"/>
              <a:buNone/>
            </a:pPr>
            <a:r>
              <a:rPr b="1" i="0" lang="ja" sz="2500" u="none" cap="none" strike="noStrike">
                <a:solidFill>
                  <a:srgbClr val="1A1A1A"/>
                </a:solidFill>
                <a:latin typeface="Lato"/>
                <a:ea typeface="Lato"/>
                <a:cs typeface="Lato"/>
                <a:sym typeface="Lato"/>
              </a:rPr>
              <a:t>認知症初期支援業務管理システム開発プロジェクト</a:t>
            </a:r>
            <a:endParaRPr b="1" i="0" sz="2500" u="none" cap="none" strike="noStrike">
              <a:solidFill>
                <a:srgbClr val="1A1A1A"/>
              </a:solidFill>
              <a:latin typeface="Lato"/>
              <a:ea typeface="Lato"/>
              <a:cs typeface="Lato"/>
              <a:sym typeface="Lato"/>
            </a:endParaRPr>
          </a:p>
        </p:txBody>
      </p:sp>
      <p:sp>
        <p:nvSpPr>
          <p:cNvPr id="92" name="Google Shape;92;p1"/>
          <p:cNvSpPr txBox="1"/>
          <p:nvPr/>
        </p:nvSpPr>
        <p:spPr>
          <a:xfrm>
            <a:off x="8766300" y="4632900"/>
            <a:ext cx="377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1</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g39ccf8c6441_4_0"/>
          <p:cNvSpPr txBox="1"/>
          <p:nvPr>
            <p:ph idx="1" type="body"/>
          </p:nvPr>
        </p:nvSpPr>
        <p:spPr>
          <a:xfrm>
            <a:off x="0" y="2255100"/>
            <a:ext cx="9144000" cy="2216400"/>
          </a:xfrm>
          <a:prstGeom prst="rect">
            <a:avLst/>
          </a:prstGeom>
          <a:noFill/>
          <a:ln>
            <a:noFill/>
          </a:ln>
        </p:spPr>
        <p:txBody>
          <a:bodyPr anchorCtr="0" anchor="t" bIns="91425" lIns="91425" spcFirstLastPara="1" rIns="91425" wrap="square" tIns="91425">
            <a:noAutofit/>
          </a:bodyPr>
          <a:lstStyle/>
          <a:p>
            <a:pPr indent="-298450" lvl="1" marL="9144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目標が妥当ではありません</a:t>
            </a:r>
            <a:endParaRPr>
              <a:solidFill>
                <a:srgbClr val="000000"/>
              </a:solidFill>
              <a:latin typeface="Arial"/>
              <a:ea typeface="Arial"/>
              <a:cs typeface="Arial"/>
              <a:sym typeface="Arial"/>
            </a:endParaRPr>
          </a:p>
          <a:p>
            <a:pPr indent="-298450" lvl="2" marL="13716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結果を出す速度は品質として設定するのは妥当ではありません</a:t>
            </a:r>
            <a:endParaRPr>
              <a:solidFill>
                <a:srgbClr val="000000"/>
              </a:solidFill>
              <a:latin typeface="Arial"/>
              <a:ea typeface="Arial"/>
              <a:cs typeface="Arial"/>
              <a:sym typeface="Arial"/>
            </a:endParaRPr>
          </a:p>
          <a:p>
            <a:pPr indent="-298450" lvl="2" marL="13716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通常は判定の妥当性とかでは？</a:t>
            </a:r>
            <a:endParaRPr>
              <a:solidFill>
                <a:srgbClr val="000000"/>
              </a:solidFill>
              <a:latin typeface="Arial"/>
              <a:ea typeface="Arial"/>
              <a:cs typeface="Arial"/>
              <a:sym typeface="Arial"/>
            </a:endParaRPr>
          </a:p>
          <a:p>
            <a:pPr indent="-298450" lvl="2" marL="13716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類似ケースのコサイン相関0.75とは結果として出力する閾値ですので，目標の数値ではありません</a:t>
            </a:r>
            <a:endParaRPr>
              <a:solidFill>
                <a:srgbClr val="000000"/>
              </a:solidFill>
              <a:latin typeface="Arial"/>
              <a:ea typeface="Arial"/>
              <a:cs typeface="Arial"/>
              <a:sym typeface="Arial"/>
            </a:endParaRPr>
          </a:p>
          <a:p>
            <a:pPr indent="0" lvl="0" marL="0" rtl="0" algn="l">
              <a:lnSpc>
                <a:spcPct val="115000"/>
              </a:lnSpc>
              <a:spcBef>
                <a:spcPts val="0"/>
              </a:spcBef>
              <a:spcAft>
                <a:spcPts val="0"/>
              </a:spcAft>
              <a:buSzPts val="1300"/>
              <a:buNone/>
            </a:pPr>
            <a:r>
              <a:rPr lang="ja" sz="1100">
                <a:solidFill>
                  <a:srgbClr val="000000"/>
                </a:solidFill>
                <a:latin typeface="Arial"/>
                <a:ea typeface="Arial"/>
                <a:cs typeface="Arial"/>
                <a:sym typeface="Arial"/>
              </a:rPr>
              <a:t>		　→目標を変更することで対応しました。</a:t>
            </a:r>
            <a:endParaRPr sz="1000">
              <a:solidFill>
                <a:srgbClr val="000000"/>
              </a:solidFill>
              <a:latin typeface="Arial"/>
              <a:ea typeface="Arial"/>
              <a:cs typeface="Arial"/>
              <a:sym typeface="Arial"/>
            </a:endParaRPr>
          </a:p>
        </p:txBody>
      </p:sp>
      <p:sp>
        <p:nvSpPr>
          <p:cNvPr id="98" name="Google Shape;98;g39ccf8c6441_4_0"/>
          <p:cNvSpPr txBox="1"/>
          <p:nvPr/>
        </p:nvSpPr>
        <p:spPr>
          <a:xfrm>
            <a:off x="4324800" y="1549138"/>
            <a:ext cx="4472400" cy="354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100"/>
              <a:buFont typeface="Arial"/>
              <a:buNone/>
            </a:pPr>
            <a:r>
              <a:rPr b="0" i="0" lang="ja" sz="1100" u="sng" cap="none" strike="noStrike">
                <a:solidFill>
                  <a:schemeClr val="accent5"/>
                </a:solidFill>
                <a:latin typeface="Arial"/>
                <a:ea typeface="Arial"/>
                <a:cs typeface="Arial"/>
                <a:sym typeface="Arial"/>
                <a:hlinkClick r:id="rId3">
                  <a:extLst>
                    <a:ext uri="{A12FA001-AC4F-418D-AE19-62706E023703}">
                      <ahyp:hlinkClr val="tx"/>
                    </a:ext>
                  </a:extLst>
                </a:hlinkClick>
              </a:rPr>
              <a:t>意思決定支援ガイドラインをより理解するための事例集［464KB］</a:t>
            </a:r>
            <a:endParaRPr b="0" i="0" sz="1400" u="none" cap="none" strike="noStrike">
              <a:solidFill>
                <a:srgbClr val="000000"/>
              </a:solidFill>
              <a:latin typeface="Arial"/>
              <a:ea typeface="Arial"/>
              <a:cs typeface="Arial"/>
              <a:sym typeface="Arial"/>
            </a:endParaRPr>
          </a:p>
        </p:txBody>
      </p:sp>
      <p:sp>
        <p:nvSpPr>
          <p:cNvPr id="99" name="Google Shape;99;g39ccf8c6441_4_0"/>
          <p:cNvSpPr txBox="1"/>
          <p:nvPr/>
        </p:nvSpPr>
        <p:spPr>
          <a:xfrm>
            <a:off x="8742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2</a:t>
            </a:r>
            <a:endParaRPr b="0" i="0" sz="2100" u="none" cap="none" strike="noStrike">
              <a:solidFill>
                <a:schemeClr val="accent1"/>
              </a:solidFill>
              <a:latin typeface="Lato"/>
              <a:ea typeface="Lato"/>
              <a:cs typeface="Lato"/>
              <a:sym typeface="Lato"/>
            </a:endParaRPr>
          </a:p>
        </p:txBody>
      </p:sp>
      <p:sp>
        <p:nvSpPr>
          <p:cNvPr id="100" name="Google Shape;100;g39ccf8c6441_4_0"/>
          <p:cNvSpPr txBox="1"/>
          <p:nvPr>
            <p:ph type="title"/>
          </p:nvPr>
        </p:nvSpPr>
        <p:spPr>
          <a:xfrm>
            <a:off x="519350" y="682075"/>
            <a:ext cx="50508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前回の</a:t>
            </a:r>
            <a:r>
              <a:rPr lang="ja" sz="2400"/>
              <a:t>教員コメントへの</a:t>
            </a:r>
            <a:r>
              <a:rPr lang="ja" sz="2400"/>
              <a:t>対応状況</a:t>
            </a:r>
            <a:endParaRPr sz="24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g3aab28b5710_1_0"/>
          <p:cNvSpPr txBox="1"/>
          <p:nvPr>
            <p:ph idx="1" type="body"/>
          </p:nvPr>
        </p:nvSpPr>
        <p:spPr>
          <a:xfrm>
            <a:off x="0" y="1343700"/>
            <a:ext cx="8758500" cy="3444600"/>
          </a:xfrm>
          <a:prstGeom prst="rect">
            <a:avLst/>
          </a:prstGeom>
          <a:noFill/>
          <a:ln>
            <a:noFill/>
          </a:ln>
        </p:spPr>
        <p:txBody>
          <a:bodyPr anchorCtr="0" anchor="t" bIns="91425" lIns="91425" spcFirstLastPara="1" rIns="91425" wrap="square" tIns="91425">
            <a:noAutofit/>
          </a:bodyPr>
          <a:lstStyle/>
          <a:p>
            <a:pPr indent="-298450" lvl="1" marL="9144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認知症判定の方法として，DASC-21等を用いるのはよいですが，それを判定するための具体的な入力を何にするのかという点を明らかにしてください</a:t>
            </a:r>
            <a:endParaRPr>
              <a:solidFill>
                <a:srgbClr val="000000"/>
              </a:solidFill>
              <a:latin typeface="Arial"/>
              <a:ea typeface="Arial"/>
              <a:cs typeface="Arial"/>
              <a:sym typeface="Arial"/>
            </a:endParaRPr>
          </a:p>
          <a:p>
            <a:pPr indent="-298450" lvl="2" marL="13716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具体的に何をシステムに入力するのかという点が曖昧ですので，システムがどのような機能であるかが見えてきません</a:t>
            </a:r>
            <a:endParaRPr>
              <a:solidFill>
                <a:srgbClr val="000000"/>
              </a:solidFill>
              <a:latin typeface="Arial"/>
              <a:ea typeface="Arial"/>
              <a:cs typeface="Arial"/>
              <a:sym typeface="Arial"/>
            </a:endParaRPr>
          </a:p>
          <a:p>
            <a:pPr indent="0" lvl="0" marL="1371600" rtl="0" algn="l">
              <a:lnSpc>
                <a:spcPct val="105000"/>
              </a:lnSpc>
              <a:spcBef>
                <a:spcPts val="0"/>
              </a:spcBef>
              <a:spcAft>
                <a:spcPts val="0"/>
              </a:spcAft>
              <a:buSzPts val="935"/>
              <a:buNone/>
            </a:pPr>
            <a:r>
              <a:rPr lang="ja" sz="1100">
                <a:solidFill>
                  <a:srgbClr val="000000"/>
                </a:solidFill>
                <a:latin typeface="Arial"/>
                <a:ea typeface="Arial"/>
                <a:cs typeface="Arial"/>
                <a:sym typeface="Arial"/>
              </a:rPr>
              <a:t>→スライドを改善し対応しました。(P.14,15)</a:t>
            </a:r>
            <a:endParaRPr sz="1100">
              <a:solidFill>
                <a:srgbClr val="000000"/>
              </a:solidFill>
              <a:latin typeface="Arial"/>
              <a:ea typeface="Arial"/>
              <a:cs typeface="Arial"/>
              <a:sym typeface="Arial"/>
            </a:endParaRPr>
          </a:p>
          <a:p>
            <a:pPr indent="0" lvl="0" marL="1371600" rtl="0" algn="l">
              <a:lnSpc>
                <a:spcPct val="105000"/>
              </a:lnSpc>
              <a:spcBef>
                <a:spcPts val="0"/>
              </a:spcBef>
              <a:spcAft>
                <a:spcPts val="0"/>
              </a:spcAft>
              <a:buSzPts val="935"/>
              <a:buNone/>
            </a:pPr>
            <a:r>
              <a:t/>
            </a:r>
            <a:endParaRPr sz="1100">
              <a:solidFill>
                <a:srgbClr val="000000"/>
              </a:solidFill>
              <a:latin typeface="Arial"/>
              <a:ea typeface="Arial"/>
              <a:cs typeface="Arial"/>
              <a:sym typeface="Arial"/>
            </a:endParaRPr>
          </a:p>
          <a:p>
            <a:pPr indent="-298450" lvl="2" marL="13716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明確にどういった情報を何項目，各何文字程度，どのような画面からどういった内容を入力するのかという実際の操作が分かるレベルの具体的な例を示す等をしてください</a:t>
            </a:r>
            <a:endParaRPr>
              <a:solidFill>
                <a:srgbClr val="000000"/>
              </a:solidFill>
              <a:latin typeface="Arial"/>
              <a:ea typeface="Arial"/>
              <a:cs typeface="Arial"/>
              <a:sym typeface="Arial"/>
            </a:endParaRPr>
          </a:p>
          <a:p>
            <a:pPr indent="0" lvl="0" marL="1371600" rtl="0" algn="l">
              <a:lnSpc>
                <a:spcPct val="105000"/>
              </a:lnSpc>
              <a:spcBef>
                <a:spcPts val="0"/>
              </a:spcBef>
              <a:spcAft>
                <a:spcPts val="0"/>
              </a:spcAft>
              <a:buSzPts val="935"/>
              <a:buNone/>
            </a:pPr>
            <a:r>
              <a:rPr lang="ja" sz="1100">
                <a:solidFill>
                  <a:srgbClr val="000000"/>
                </a:solidFill>
                <a:latin typeface="Arial"/>
                <a:ea typeface="Arial"/>
                <a:cs typeface="Arial"/>
                <a:sym typeface="Arial"/>
              </a:rPr>
              <a:t>→ スライドを改善し対応しました。(p17,18)</a:t>
            </a:r>
            <a:endParaRPr sz="1100">
              <a:solidFill>
                <a:srgbClr val="000000"/>
              </a:solidFill>
              <a:latin typeface="Arial"/>
              <a:ea typeface="Arial"/>
              <a:cs typeface="Arial"/>
              <a:sym typeface="Arial"/>
            </a:endParaRPr>
          </a:p>
          <a:p>
            <a:pPr indent="0" lvl="0" marL="0" rtl="0" algn="l">
              <a:lnSpc>
                <a:spcPct val="105000"/>
              </a:lnSpc>
              <a:spcBef>
                <a:spcPts val="0"/>
              </a:spcBef>
              <a:spcAft>
                <a:spcPts val="0"/>
              </a:spcAft>
              <a:buSzPts val="935"/>
              <a:buNone/>
            </a:pPr>
            <a:r>
              <a:t/>
            </a:r>
            <a:endParaRPr sz="1100">
              <a:solidFill>
                <a:srgbClr val="000000"/>
              </a:solidFill>
              <a:latin typeface="Arial"/>
              <a:ea typeface="Arial"/>
              <a:cs typeface="Arial"/>
              <a:sym typeface="Arial"/>
            </a:endParaRPr>
          </a:p>
          <a:p>
            <a:pPr indent="-298450" lvl="2" marL="13716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想定しているシートの入力は，一定の経験のある担当者が記入することを前提としたものでは？これをシステムでの穴埋め問題のような形にして代替が可能ですか？</a:t>
            </a:r>
            <a:endParaRPr>
              <a:solidFill>
                <a:srgbClr val="000000"/>
              </a:solidFill>
              <a:latin typeface="Arial"/>
              <a:ea typeface="Arial"/>
              <a:cs typeface="Arial"/>
              <a:sym typeface="Arial"/>
            </a:endParaRPr>
          </a:p>
          <a:p>
            <a:pPr indent="-298450" lvl="3" marL="18288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このあたりを具体的に説明を入れてください</a:t>
            </a:r>
            <a:endParaRPr>
              <a:solidFill>
                <a:srgbClr val="000000"/>
              </a:solidFill>
              <a:latin typeface="Arial"/>
              <a:ea typeface="Arial"/>
              <a:cs typeface="Arial"/>
              <a:sym typeface="Arial"/>
            </a:endParaRPr>
          </a:p>
          <a:p>
            <a:pPr indent="-298450" lvl="3" marL="18288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ある程度は知識のある人が操作する前提でないと少し難しいように感じます</a:t>
            </a:r>
            <a:endParaRPr>
              <a:solidFill>
                <a:srgbClr val="000000"/>
              </a:solidFill>
              <a:latin typeface="Arial"/>
              <a:ea typeface="Arial"/>
              <a:cs typeface="Arial"/>
              <a:sym typeface="Arial"/>
            </a:endParaRPr>
          </a:p>
          <a:p>
            <a:pPr indent="0" lvl="0" marL="0" rtl="0" algn="l">
              <a:lnSpc>
                <a:spcPct val="105000"/>
              </a:lnSpc>
              <a:spcBef>
                <a:spcPts val="0"/>
              </a:spcBef>
              <a:spcAft>
                <a:spcPts val="0"/>
              </a:spcAft>
              <a:buSzPts val="935"/>
              <a:buNone/>
            </a:pPr>
            <a:r>
              <a:rPr lang="ja" sz="1100">
                <a:solidFill>
                  <a:srgbClr val="000000"/>
                </a:solidFill>
                <a:latin typeface="Arial"/>
                <a:ea typeface="Arial"/>
                <a:cs typeface="Arial"/>
                <a:sym typeface="Arial"/>
              </a:rPr>
              <a:t>			→ 本システムは認知症初期集中支援チームに向けたものである為、経験のある職員が入力します。</a:t>
            </a:r>
            <a:endParaRPr sz="1100">
              <a:solidFill>
                <a:srgbClr val="000000"/>
              </a:solidFill>
              <a:latin typeface="Arial"/>
              <a:ea typeface="Arial"/>
              <a:cs typeface="Arial"/>
              <a:sym typeface="Arial"/>
            </a:endParaRPr>
          </a:p>
          <a:p>
            <a:pPr indent="0" lvl="0" marL="0" rtl="0" algn="l">
              <a:lnSpc>
                <a:spcPct val="105000"/>
              </a:lnSpc>
              <a:spcBef>
                <a:spcPts val="0"/>
              </a:spcBef>
              <a:spcAft>
                <a:spcPts val="0"/>
              </a:spcAft>
              <a:buSzPts val="935"/>
              <a:buNone/>
            </a:pPr>
            <a:r>
              <a:t/>
            </a:r>
            <a:endParaRPr sz="1100">
              <a:solidFill>
                <a:srgbClr val="000000"/>
              </a:solidFill>
              <a:latin typeface="Arial"/>
              <a:ea typeface="Arial"/>
              <a:cs typeface="Arial"/>
              <a:sym typeface="Arial"/>
            </a:endParaRPr>
          </a:p>
          <a:p>
            <a:pPr indent="-298450" lvl="2" marL="13716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学習の元データはどこから？</a:t>
            </a:r>
            <a:endParaRPr>
              <a:solidFill>
                <a:srgbClr val="000000"/>
              </a:solidFill>
              <a:latin typeface="Arial"/>
              <a:ea typeface="Arial"/>
              <a:cs typeface="Arial"/>
              <a:sym typeface="Arial"/>
            </a:endParaRPr>
          </a:p>
          <a:p>
            <a:pPr indent="0" lvl="0" marL="1371600" rtl="0" algn="l">
              <a:lnSpc>
                <a:spcPct val="105000"/>
              </a:lnSpc>
              <a:spcBef>
                <a:spcPts val="0"/>
              </a:spcBef>
              <a:spcAft>
                <a:spcPts val="0"/>
              </a:spcAft>
              <a:buSzPts val="935"/>
              <a:buNone/>
            </a:pPr>
            <a:r>
              <a:rPr lang="ja" sz="1100">
                <a:solidFill>
                  <a:srgbClr val="000000"/>
                </a:solidFill>
                <a:latin typeface="Arial"/>
                <a:ea typeface="Arial"/>
                <a:cs typeface="Arial"/>
                <a:sym typeface="Arial"/>
              </a:rPr>
              <a:t>→ 認知症初期集中支援チームの活動事例集を学習データとして使用します。(P.23)</a:t>
            </a:r>
            <a:endParaRPr sz="1100">
              <a:solidFill>
                <a:srgbClr val="000000"/>
              </a:solidFill>
              <a:latin typeface="Arial"/>
              <a:ea typeface="Arial"/>
              <a:cs typeface="Arial"/>
              <a:sym typeface="Arial"/>
            </a:endParaRPr>
          </a:p>
          <a:p>
            <a:pPr indent="0" lvl="0" marL="0" rtl="0" algn="l">
              <a:lnSpc>
                <a:spcPct val="105000"/>
              </a:lnSpc>
              <a:spcBef>
                <a:spcPts val="0"/>
              </a:spcBef>
              <a:spcAft>
                <a:spcPts val="0"/>
              </a:spcAft>
              <a:buSzPts val="935"/>
              <a:buNone/>
            </a:pPr>
            <a:r>
              <a:t/>
            </a:r>
            <a:endParaRPr sz="1405"/>
          </a:p>
        </p:txBody>
      </p:sp>
      <p:sp>
        <p:nvSpPr>
          <p:cNvPr id="106" name="Google Shape;106;g3aab28b5710_1_0"/>
          <p:cNvSpPr txBox="1"/>
          <p:nvPr/>
        </p:nvSpPr>
        <p:spPr>
          <a:xfrm>
            <a:off x="8758500" y="4635600"/>
            <a:ext cx="385500" cy="507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3</a:t>
            </a:r>
            <a:endParaRPr b="0" i="0" sz="2100" u="none" cap="none" strike="noStrike">
              <a:solidFill>
                <a:schemeClr val="accent1"/>
              </a:solidFill>
              <a:latin typeface="Lato"/>
              <a:ea typeface="Lato"/>
              <a:cs typeface="Lato"/>
              <a:sym typeface="Lato"/>
            </a:endParaRPr>
          </a:p>
        </p:txBody>
      </p:sp>
      <p:sp>
        <p:nvSpPr>
          <p:cNvPr id="107" name="Google Shape;107;g3aab28b5710_1_0"/>
          <p:cNvSpPr txBox="1"/>
          <p:nvPr>
            <p:ph type="title"/>
          </p:nvPr>
        </p:nvSpPr>
        <p:spPr>
          <a:xfrm>
            <a:off x="519350" y="682075"/>
            <a:ext cx="50508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前回の教員コメントへの対応状況</a:t>
            </a:r>
            <a:endParaRPr sz="24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g398e3b8d10d_4_11"/>
          <p:cNvSpPr txBox="1"/>
          <p:nvPr>
            <p:ph idx="1" type="body"/>
          </p:nvPr>
        </p:nvSpPr>
        <p:spPr>
          <a:xfrm>
            <a:off x="0" y="1575475"/>
            <a:ext cx="9144000" cy="3213000"/>
          </a:xfrm>
          <a:prstGeom prst="rect">
            <a:avLst/>
          </a:prstGeom>
          <a:noFill/>
          <a:ln>
            <a:noFill/>
          </a:ln>
        </p:spPr>
        <p:txBody>
          <a:bodyPr anchorCtr="0" anchor="ctr" bIns="91425" lIns="91425" spcFirstLastPara="1" rIns="91425" wrap="square" tIns="91425">
            <a:noAutofit/>
          </a:bodyPr>
          <a:lstStyle/>
          <a:p>
            <a:pPr indent="-298450" lvl="1" marL="9144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類似ケースとして使用するデータに関して、エクセルにまとめるなどして、合計何件のデータを対象とするかを示してください。</a:t>
            </a:r>
            <a:endParaRPr>
              <a:solidFill>
                <a:srgbClr val="000000"/>
              </a:solidFill>
              <a:latin typeface="Arial"/>
              <a:ea typeface="Arial"/>
              <a:cs typeface="Arial"/>
              <a:sym typeface="Arial"/>
            </a:endParaRPr>
          </a:p>
          <a:p>
            <a:pPr indent="0" lvl="0" marL="914400" rtl="0" algn="l">
              <a:lnSpc>
                <a:spcPct val="115000"/>
              </a:lnSpc>
              <a:spcBef>
                <a:spcPts val="0"/>
              </a:spcBef>
              <a:spcAft>
                <a:spcPts val="0"/>
              </a:spcAft>
              <a:buSzPts val="1300"/>
              <a:buNone/>
            </a:pPr>
            <a:r>
              <a:rPr lang="ja">
                <a:solidFill>
                  <a:srgbClr val="000000"/>
                </a:solidFill>
                <a:latin typeface="Arial"/>
                <a:ea typeface="Arial"/>
                <a:cs typeface="Arial"/>
                <a:sym typeface="Arial"/>
              </a:rPr>
              <a:t>→</a:t>
            </a:r>
            <a:r>
              <a:rPr lang="ja" sz="1100">
                <a:solidFill>
                  <a:srgbClr val="000000"/>
                </a:solidFill>
                <a:latin typeface="Arial"/>
                <a:ea typeface="Arial"/>
                <a:cs typeface="Arial"/>
                <a:sym typeface="Arial"/>
              </a:rPr>
              <a:t>2つの資料に載っている事例、計77件を対象としてデータを使用します。(P.23)</a:t>
            </a:r>
            <a:endParaRPr sz="1100">
              <a:solidFill>
                <a:srgbClr val="000000"/>
              </a:solidFill>
              <a:latin typeface="Arial"/>
              <a:ea typeface="Arial"/>
              <a:cs typeface="Arial"/>
              <a:sym typeface="Arial"/>
            </a:endParaRPr>
          </a:p>
          <a:p>
            <a:pPr indent="0" lvl="0" marL="914400" rtl="0" algn="l">
              <a:lnSpc>
                <a:spcPct val="115000"/>
              </a:lnSpc>
              <a:spcBef>
                <a:spcPts val="0"/>
              </a:spcBef>
              <a:spcAft>
                <a:spcPts val="0"/>
              </a:spcAft>
              <a:buSzPts val="1300"/>
              <a:buNone/>
            </a:pPr>
            <a:r>
              <a:t/>
            </a:r>
            <a:endParaRPr sz="1100">
              <a:solidFill>
                <a:srgbClr val="000000"/>
              </a:solidFill>
              <a:latin typeface="Arial"/>
              <a:ea typeface="Arial"/>
              <a:cs typeface="Arial"/>
              <a:sym typeface="Arial"/>
            </a:endParaRPr>
          </a:p>
          <a:p>
            <a:pPr indent="0" lvl="0" marL="914400" rtl="0" algn="l">
              <a:lnSpc>
                <a:spcPct val="115000"/>
              </a:lnSpc>
              <a:spcBef>
                <a:spcPts val="0"/>
              </a:spcBef>
              <a:spcAft>
                <a:spcPts val="0"/>
              </a:spcAft>
              <a:buSzPts val="1300"/>
              <a:buNone/>
            </a:pPr>
            <a:r>
              <a:rPr lang="ja" sz="1100">
                <a:solidFill>
                  <a:srgbClr val="000000"/>
                </a:solidFill>
                <a:latin typeface="Arial"/>
                <a:ea typeface="Arial"/>
                <a:cs typeface="Arial"/>
                <a:sym typeface="Arial"/>
              </a:rPr>
              <a:t>類似ケースの出力結果の妥当性はどのように評価しますか。コサイン類似度が高いからと言って、それが正しい支援策と定義して問題ないでしょうか。</a:t>
            </a:r>
            <a:endParaRPr sz="1100">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a:solidFill>
                  <a:srgbClr val="000000"/>
                </a:solidFill>
                <a:latin typeface="Arial"/>
                <a:ea typeface="Arial"/>
                <a:cs typeface="Arial"/>
                <a:sym typeface="Arial"/>
              </a:rPr>
              <a:t>　　　</a:t>
            </a:r>
            <a:r>
              <a:rPr lang="ja" sz="1100">
                <a:solidFill>
                  <a:srgbClr val="000000"/>
                </a:solidFill>
                <a:latin typeface="Arial"/>
                <a:ea typeface="Arial"/>
                <a:cs typeface="Arial"/>
                <a:sym typeface="Arial"/>
              </a:rPr>
              <a:t>→目標の修正を行って対応しました。</a:t>
            </a:r>
            <a:endParaRPr sz="1135">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sz="1135">
                <a:solidFill>
                  <a:srgbClr val="000000"/>
                </a:solidFill>
                <a:latin typeface="Arial"/>
                <a:ea typeface="Arial"/>
                <a:cs typeface="Arial"/>
                <a:sym typeface="Arial"/>
              </a:rPr>
              <a:t>　　　　 まず、使用する過去の事例の一部を学習データに含めず除外し、除外したケースを入力として類似検索を行う。</a:t>
            </a:r>
            <a:endParaRPr sz="1135">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sz="1135">
                <a:solidFill>
                  <a:srgbClr val="000000"/>
                </a:solidFill>
                <a:latin typeface="Arial"/>
                <a:ea typeface="Arial"/>
                <a:cs typeface="Arial"/>
                <a:sym typeface="Arial"/>
              </a:rPr>
              <a:t>　　　　 次に、類似ケースとして提示された事例に含まれる支援事例が除外したケースで実際に行われ、</a:t>
            </a:r>
            <a:endParaRPr sz="1135">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sz="1135">
                <a:solidFill>
                  <a:srgbClr val="000000"/>
                </a:solidFill>
                <a:latin typeface="Arial"/>
                <a:ea typeface="Arial"/>
                <a:cs typeface="Arial"/>
                <a:sym typeface="Arial"/>
              </a:rPr>
              <a:t>　　　　 成功した支援内容とどのくらい一致しているかで妥当性の評価を行う。</a:t>
            </a:r>
            <a:endParaRPr sz="1100">
              <a:solidFill>
                <a:srgbClr val="000000"/>
              </a:solidFill>
              <a:latin typeface="Arial"/>
              <a:ea typeface="Arial"/>
              <a:cs typeface="Arial"/>
              <a:sym typeface="Arial"/>
            </a:endParaRPr>
          </a:p>
          <a:p>
            <a:pPr indent="-298450" lvl="1" marL="9144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（再掲）「システムの実装期間」の進捗報告となりますので、技術要素などの開発状況に関する進捗報告のスライドを含めてく　　　　　ださい。</a:t>
            </a:r>
            <a:endParaRPr>
              <a:solidFill>
                <a:srgbClr val="000000"/>
              </a:solidFill>
              <a:latin typeface="Arial"/>
              <a:ea typeface="Arial"/>
              <a:cs typeface="Arial"/>
              <a:sym typeface="Arial"/>
            </a:endParaRPr>
          </a:p>
          <a:p>
            <a:pPr indent="-298450" lvl="2" marL="13716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箇条書きで完成度を記載しただけでは、どのような状況かがわからないので、具体的にキャプチャやデモなどで説明してください。</a:t>
            </a:r>
            <a:endParaRPr>
              <a:solidFill>
                <a:srgbClr val="000000"/>
              </a:solidFill>
              <a:latin typeface="Arial"/>
              <a:ea typeface="Arial"/>
              <a:cs typeface="Arial"/>
              <a:sym typeface="Arial"/>
            </a:endParaRPr>
          </a:p>
          <a:p>
            <a:pPr indent="0" lvl="0" marL="0" rtl="0" algn="l">
              <a:lnSpc>
                <a:spcPct val="115000"/>
              </a:lnSpc>
              <a:spcBef>
                <a:spcPts val="0"/>
              </a:spcBef>
              <a:spcAft>
                <a:spcPts val="0"/>
              </a:spcAft>
              <a:buSzPts val="1300"/>
              <a:buNone/>
            </a:pPr>
            <a:r>
              <a:rPr lang="ja" sz="1100">
                <a:solidFill>
                  <a:srgbClr val="000000"/>
                </a:solidFill>
                <a:latin typeface="Arial"/>
                <a:ea typeface="Arial"/>
                <a:cs typeface="Arial"/>
                <a:sym typeface="Arial"/>
              </a:rPr>
              <a:t>		→ スライドを改善し対応しました。</a:t>
            </a:r>
            <a:r>
              <a:rPr lang="ja" sz="1135">
                <a:solidFill>
                  <a:srgbClr val="000000"/>
                </a:solidFill>
                <a:latin typeface="Arial"/>
                <a:ea typeface="Arial"/>
                <a:cs typeface="Arial"/>
                <a:sym typeface="Arial"/>
              </a:rPr>
              <a:t>(P.25,26,27)</a:t>
            </a:r>
            <a:endParaRPr sz="1200">
              <a:solidFill>
                <a:srgbClr val="000000"/>
              </a:solidFill>
              <a:latin typeface="Arial"/>
              <a:ea typeface="Arial"/>
              <a:cs typeface="Arial"/>
              <a:sym typeface="Arial"/>
            </a:endParaRPr>
          </a:p>
        </p:txBody>
      </p:sp>
      <p:sp>
        <p:nvSpPr>
          <p:cNvPr id="113" name="Google Shape;113;g398e3b8d10d_4_11"/>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4</a:t>
            </a:r>
            <a:endParaRPr b="0" i="0" sz="2100" u="none" cap="none" strike="noStrike">
              <a:solidFill>
                <a:schemeClr val="accent1"/>
              </a:solidFill>
              <a:latin typeface="Lato"/>
              <a:ea typeface="Lato"/>
              <a:cs typeface="Lato"/>
              <a:sym typeface="Lato"/>
            </a:endParaRPr>
          </a:p>
        </p:txBody>
      </p:sp>
      <p:sp>
        <p:nvSpPr>
          <p:cNvPr id="114" name="Google Shape;114;g398e3b8d10d_4_11"/>
          <p:cNvSpPr txBox="1"/>
          <p:nvPr>
            <p:ph type="title"/>
          </p:nvPr>
        </p:nvSpPr>
        <p:spPr>
          <a:xfrm>
            <a:off x="519350" y="682075"/>
            <a:ext cx="50508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前回の教員コメントへの対応状況</a:t>
            </a:r>
            <a:endParaRPr sz="24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g3ae8c7079b1_0_2"/>
          <p:cNvSpPr txBox="1"/>
          <p:nvPr>
            <p:ph type="title"/>
          </p:nvPr>
        </p:nvSpPr>
        <p:spPr>
          <a:xfrm>
            <a:off x="519350" y="682075"/>
            <a:ext cx="48786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今回の教員コメントへの</a:t>
            </a:r>
            <a:r>
              <a:rPr lang="ja" sz="2400"/>
              <a:t>対応状況</a:t>
            </a:r>
            <a:endParaRPr sz="2400"/>
          </a:p>
        </p:txBody>
      </p:sp>
      <p:sp>
        <p:nvSpPr>
          <p:cNvPr id="120" name="Google Shape;120;g3ae8c7079b1_0_2"/>
          <p:cNvSpPr txBox="1"/>
          <p:nvPr/>
        </p:nvSpPr>
        <p:spPr>
          <a:xfrm>
            <a:off x="4269900" y="1143450"/>
            <a:ext cx="4472400" cy="354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100"/>
              <a:buFont typeface="Arial"/>
              <a:buNone/>
            </a:pPr>
            <a:r>
              <a:rPr b="0" i="0" lang="ja" sz="1100" u="sng" cap="none" strike="noStrike">
                <a:solidFill>
                  <a:schemeClr val="accent5"/>
                </a:solidFill>
                <a:latin typeface="Arial"/>
                <a:ea typeface="Arial"/>
                <a:cs typeface="Arial"/>
                <a:sym typeface="Arial"/>
                <a:hlinkClick r:id="rId3">
                  <a:extLst>
                    <a:ext uri="{A12FA001-AC4F-418D-AE19-62706E023703}">
                      <ahyp:hlinkClr val="tx"/>
                    </a:ext>
                  </a:extLst>
                </a:hlinkClick>
              </a:rPr>
              <a:t>意思決定支援ガイドラインをより理解するための事例集［464KB］</a:t>
            </a:r>
            <a:endParaRPr b="0" i="0" sz="1400" u="none" cap="none" strike="noStrike">
              <a:solidFill>
                <a:srgbClr val="000000"/>
              </a:solidFill>
              <a:latin typeface="Arial"/>
              <a:ea typeface="Arial"/>
              <a:cs typeface="Arial"/>
              <a:sym typeface="Arial"/>
            </a:endParaRPr>
          </a:p>
        </p:txBody>
      </p:sp>
      <p:sp>
        <p:nvSpPr>
          <p:cNvPr id="121" name="Google Shape;121;g3ae8c7079b1_0_2"/>
          <p:cNvSpPr txBox="1"/>
          <p:nvPr/>
        </p:nvSpPr>
        <p:spPr>
          <a:xfrm>
            <a:off x="8742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2</a:t>
            </a:r>
            <a:endParaRPr b="0" i="0" sz="2100" u="none" cap="none" strike="noStrike">
              <a:solidFill>
                <a:schemeClr val="accent1"/>
              </a:solidFill>
              <a:latin typeface="Lato"/>
              <a:ea typeface="Lato"/>
              <a:cs typeface="Lato"/>
              <a:sym typeface="Lato"/>
            </a:endParaRPr>
          </a:p>
        </p:txBody>
      </p:sp>
      <p:sp>
        <p:nvSpPr>
          <p:cNvPr id="122" name="Google Shape;122;g3ae8c7079b1_0_2"/>
          <p:cNvSpPr txBox="1"/>
          <p:nvPr/>
        </p:nvSpPr>
        <p:spPr>
          <a:xfrm>
            <a:off x="0" y="1455800"/>
            <a:ext cx="9144000" cy="3177000"/>
          </a:xfrm>
          <a:prstGeom prst="rect">
            <a:avLst/>
          </a:prstGeom>
          <a:noFill/>
          <a:ln>
            <a:noFill/>
          </a:ln>
        </p:spPr>
        <p:txBody>
          <a:bodyPr anchorCtr="0" anchor="t" bIns="91425" lIns="91425" spcFirstLastPara="1" rIns="91425" wrap="square" tIns="91425">
            <a:noAutofit/>
          </a:bodyPr>
          <a:lstStyle/>
          <a:p>
            <a:pPr indent="-298450" lvl="1" marL="914400" marR="0" rtl="0" algn="l">
              <a:lnSpc>
                <a:spcPct val="115000"/>
              </a:lnSpc>
              <a:spcBef>
                <a:spcPts val="0"/>
              </a:spcBef>
              <a:spcAft>
                <a:spcPts val="0"/>
              </a:spcAft>
              <a:buClr>
                <a:srgbClr val="000000"/>
              </a:buClr>
              <a:buSzPts val="1100"/>
              <a:buFont typeface="Arial"/>
              <a:buChar char="○"/>
              <a:defRPr sz="1100"/>
            </a:pPr>
            <a:r>
              <a:t>目標において，同一入力に対する再現性というのが，入力に対して同じ答えを出すようにするということを指すのであれば，</a:t>
            </a:r>
            <a:br/>
            <a:r>
              <a:t>それは目標としては，適切ではないと思います</a:t>
            </a:r>
            <a:br/>
            <a:r>
              <a:t>→ 「同一入力に対する再現性」は数値目標ではなく設計上の前提と位置付け直しました。</a:t>
            </a:r>
            <a:br/>
            <a:r>
              <a:t>　 目標からは削除し、設計方針として「決定論的な実装とする」と明記しました。(p.9)</a:t>
            </a:r>
            <a:br/>
            <a:br/>
            <a:r>
              <a:t>目標の2個目の記載（類似ケース～～）が，何を言いたいのかがよく分かりません</a:t>
            </a:r>
            <a:br/>
            <a:r>
              <a:t>→ 類似度の数値ではなく、「学生が妥当と判断した支援方針が上位3件に含まれる割合」と</a:t>
            </a:r>
            <a:br/>
            <a:r>
              <a:t>　 「学生が類似と判断した事例の割合」という、学生が検証可能な指標に変更しました。(p.9)</a:t>
            </a:r>
            <a:br/>
            <a:br/>
            <a:r>
              <a:t>目的を見れば，効率性についての数値を出すか，作成された支援方針についての品質の測定かと思います</a:t>
            </a:r>
            <a:br/>
            <a:r>
              <a:t>良い支援方針とは何か？という点を考えてみましょう</a:t>
            </a:r>
            <a:br/>
            <a:r>
              <a:t>→ 業務効率は学生では検証できないため、本発表では「支援方針の質」に絞って評価を行います。</a:t>
            </a:r>
            <a:br/>
            <a:r>
              <a:t>　 「良い支援方針」を、事例集を参照して学生が妥当と判断できる支援内容と定義しました。</a:t>
            </a:r>
            <a:br/>
            <a:br/>
            <a:r>
              <a:t>システム利用のためのストーリーとして，認定前の高齢者を対象ということだと思いますが，</a:t>
            </a:r>
            <a:br/>
            <a:r>
              <a:t>実際のシステム利用の流れを具体的に示してください</a:t>
            </a:r>
            <a:br/>
            <a:r>
              <a:t>何のきっかけで対象者を誰が訪問して，どういったデータを取ることを想定しているのかを具体的に示してください</a:t>
            </a:r>
            <a:br/>
            <a:r>
              <a:t>→ スライド12で行政上の支援フローを示しています。(p.12)</a:t>
            </a:r>
            <a:br/>
            <a:br/>
            <a:r>
              <a:t>情報の入力まではなんとなく見えるのですが，処理の中身（入力をどのように処理するのか）や</a:t>
            </a:r>
            <a:br/>
            <a:r>
              <a:t>最終的な出力についてが見えてきませんので，具体的な内容を早期に示してください</a:t>
            </a:r>
            <a:br/>
            <a:r>
              <a:t>→ スライド22〜24で入出力例を示しています。処理の流れ：入力テキスト→TF-IDF（文字n-gram 2〜4）</a:t>
            </a:r>
            <a:br/>
            <a:r>
              <a:t>　 →コサイン類似度計算→上位10件の類似事例と支援方針を出力。(p.22-24)</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g3ae8c7079b1_0_9"/>
          <p:cNvSpPr txBox="1"/>
          <p:nvPr/>
        </p:nvSpPr>
        <p:spPr>
          <a:xfrm>
            <a:off x="8758500" y="4635600"/>
            <a:ext cx="385500" cy="507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3</a:t>
            </a:r>
            <a:endParaRPr b="0" i="0" sz="2100" u="none" cap="none" strike="noStrike">
              <a:solidFill>
                <a:schemeClr val="accent1"/>
              </a:solidFill>
              <a:latin typeface="Lato"/>
              <a:ea typeface="Lato"/>
              <a:cs typeface="Lato"/>
              <a:sym typeface="Lato"/>
            </a:endParaRPr>
          </a:p>
        </p:txBody>
      </p:sp>
      <p:sp>
        <p:nvSpPr>
          <p:cNvPr id="128" name="Google Shape;128;g3ae8c7079b1_0_9"/>
          <p:cNvSpPr txBox="1"/>
          <p:nvPr/>
        </p:nvSpPr>
        <p:spPr>
          <a:xfrm>
            <a:off x="2942050" y="2110150"/>
            <a:ext cx="6219000" cy="384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chemeClr val="accent1"/>
              </a:solidFill>
              <a:latin typeface="Lato"/>
              <a:ea typeface="Lato"/>
              <a:cs typeface="Lato"/>
              <a:sym typeface="Lato"/>
            </a:endParaRPr>
          </a:p>
        </p:txBody>
      </p:sp>
      <p:sp>
        <p:nvSpPr>
          <p:cNvPr id="129" name="Google Shape;129;g3ae8c7079b1_0_9"/>
          <p:cNvSpPr txBox="1"/>
          <p:nvPr/>
        </p:nvSpPr>
        <p:spPr>
          <a:xfrm>
            <a:off x="-8400" y="1843598"/>
            <a:ext cx="9160800" cy="2518800"/>
          </a:xfrm>
          <a:prstGeom prst="rect">
            <a:avLst/>
          </a:prstGeom>
          <a:noFill/>
          <a:ln>
            <a:noFill/>
          </a:ln>
        </p:spPr>
        <p:txBody>
          <a:bodyPr anchorCtr="0" anchor="t" bIns="91425" lIns="91425" spcFirstLastPara="1" rIns="91425" wrap="square" tIns="91425">
            <a:noAutofit/>
          </a:bodyPr>
          <a:lstStyle/>
          <a:p>
            <a:pPr indent="-298450" lvl="1" marL="914400" marR="0" rtl="0" algn="l">
              <a:lnSpc>
                <a:spcPct val="115000"/>
              </a:lnSpc>
              <a:spcBef>
                <a:spcPts val="0"/>
              </a:spcBef>
              <a:spcAft>
                <a:spcPts val="0"/>
              </a:spcAft>
              <a:buClr>
                <a:srgbClr val="000000"/>
              </a:buClr>
              <a:buSzPts val="1100"/>
              <a:buFont typeface="Arial"/>
              <a:buChar char="○"/>
              <a:defRPr sz="1100"/>
            </a:pPr>
            <a:r>
              <a:t>形態素を利用したTF-IDFという記載がある点から統計的手法によるテキストの意味を把握するようなものかと思いますが，</a:t>
            </a:r>
            <a:br/>
            <a:r>
              <a:t>高齢者の会話のみで個人レベルで差異が出るほどの細かな違いが判定できそうですか？</a:t>
            </a:r>
            <a:br/>
            <a:r>
              <a:t>どのあたりの違いなら判定でき，どのあたりは判定できないのかを事例等から分かりやすく説明できるようにしてください</a:t>
            </a:r>
            <a:br/>
            <a:r>
              <a:t>→ 判定しやすい点：キーワードレベルで明確に書かれている症状（妄想、徘徊等）、生活状況（独居、老老介護等）</a:t>
            </a:r>
            <a:br/>
            <a:r>
              <a:t>　 判定しにくい点：心理的ニュアンス、文脈に依存する意味、暗黙の前提</a:t>
            </a:r>
            <a:br/>
            <a:r>
              <a:t>　 TF-IDF＋コサイン類似度は「単語の出現パターンの類似性」を測るため、明示的なキーワードの一致に強い。</a:t>
            </a:r>
            <a:br/>
            <a:br/>
            <a:r>
              <a:t>提示されている事例集のみでは学習量は少ないように思いますが，それでどの程度の判定ができるのかを確認してください</a:t>
            </a:r>
            <a:br/>
            <a:r>
              <a:t>実際に動かした上で，精度の見込みを示してください</a:t>
            </a:r>
            <a:br/>
            <a:r>
              <a:t>→ 67件という少量データを前提に、評価用ケースを選定し、学生による妥当性判断で評価を行います。</a:t>
            </a:r>
            <a:br/>
            <a:r>
              <a:t>　 現在の実装：4つの事例集（大阪大学、さいたま市、国立長寿医療研究センター、神奈川県）から</a:t>
            </a:r>
            <a:br/>
            <a:r>
              <a:t>　 67件を抽出済み。評価計画に基づき、目標達成状況を報告予定です。(p.25-26, 評価スライド参照)</a:t>
            </a:r>
            <a:br/>
            <a:br/>
            <a:r>
              <a:t>TF-IDFの場合は，パラメータの計算のために，どのように文章等を分割するのかという点も示してください</a:t>
            </a:r>
            <a:br/>
            <a:r>
              <a:t>→ 文字n-gram（2〜4文字）を使用。形態素解析なしで日本語テキストの特徴を捉えます。</a:t>
            </a:r>
            <a:br/>
            <a:r>
              <a:t>　 各事例の「訪問記録」「認知機能」「精神症状」「身体状況」「生活状況」「本人/介護者の意向」</a:t>
            </a:r>
            <a:br/>
            <a:r>
              <a:t>　 「判断・支援内容」を結合し、1つの文書として扱います。max_features=1000で特徴量を制限。</a:t>
            </a:r>
            <a:endParaRPr b="0" i="0" sz="1100" u="none" cap="none" strike="noStrike">
              <a:solidFill>
                <a:srgbClr val="000000"/>
              </a:solidFill>
              <a:latin typeface="Arial"/>
              <a:ea typeface="Arial"/>
              <a:cs typeface="Arial"/>
              <a:sym typeface="Arial"/>
            </a:endParaRPr>
          </a:p>
        </p:txBody>
      </p:sp>
      <p:sp>
        <p:nvSpPr>
          <p:cNvPr id="130" name="Google Shape;130;g3ae8c7079b1_0_9"/>
          <p:cNvSpPr txBox="1"/>
          <p:nvPr>
            <p:ph type="title"/>
          </p:nvPr>
        </p:nvSpPr>
        <p:spPr>
          <a:xfrm>
            <a:off x="519350" y="682075"/>
            <a:ext cx="48786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今回の教員コメントへの対応状況</a:t>
            </a:r>
            <a:endParaRPr sz="24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g3ae8c7079b1_0_16"/>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4</a:t>
            </a:r>
            <a:endParaRPr b="0" i="0" sz="2100" u="none" cap="none" strike="noStrike">
              <a:solidFill>
                <a:schemeClr val="accent1"/>
              </a:solidFill>
              <a:latin typeface="Lato"/>
              <a:ea typeface="Lato"/>
              <a:cs typeface="Lato"/>
              <a:sym typeface="Lato"/>
            </a:endParaRPr>
          </a:p>
        </p:txBody>
      </p:sp>
      <p:sp>
        <p:nvSpPr>
          <p:cNvPr id="136" name="Google Shape;136;g3ae8c7079b1_0_16"/>
          <p:cNvSpPr txBox="1"/>
          <p:nvPr/>
        </p:nvSpPr>
        <p:spPr>
          <a:xfrm>
            <a:off x="16850" y="1744925"/>
            <a:ext cx="9144000" cy="2106300"/>
          </a:xfrm>
          <a:prstGeom prst="rect">
            <a:avLst/>
          </a:prstGeom>
          <a:noFill/>
          <a:ln>
            <a:noFill/>
          </a:ln>
        </p:spPr>
        <p:txBody>
          <a:bodyPr anchorCtr="0" anchor="t" bIns="91425" lIns="91425" spcFirstLastPara="1" rIns="91425" wrap="square" tIns="91425">
            <a:spAutoFit/>
          </a:bodyPr>
          <a:lstStyle/>
          <a:p>
            <a:pPr indent="-298450" lvl="1" marL="914400" marR="0" rtl="0" algn="l">
              <a:lnSpc>
                <a:spcPct val="115000"/>
              </a:lnSpc>
              <a:spcBef>
                <a:spcPts val="0"/>
              </a:spcBef>
              <a:spcAft>
                <a:spcPts val="0"/>
              </a:spcAft>
              <a:buClr>
                <a:srgbClr val="000000"/>
              </a:buClr>
              <a:buSzPts val="1100"/>
              <a:buFont typeface="Arial"/>
              <a:buChar char="○"/>
              <a:defRPr sz="1100"/>
            </a:pPr>
            <a:r>
              <a:t>学習データの出典をそのまま記載するのではなく、元データをどのように加工し、</a:t>
            </a:r>
            <a:br/>
            <a:r>
              <a:t>どのように学習しているかがわかるように説明してください。</a:t>
            </a:r>
            <a:br/>
            <a:r>
              <a:t>→ データ加工の流れ：PDF事例集→pdfplumberでテキスト抽出→正規表現で困難キーワード・支援キーワード・</a:t>
            </a:r>
            <a:br/>
            <a:r>
              <a:t>　 事例内容を抽出→JSON形式に構造化→TF-IDF（文字n-gram 2〜4）でベクトル化→類似検索用に使用。(p.25-26)</a:t>
            </a:r>
            <a:br/>
            <a:br/>
            <a:r>
              <a:t>機能を開発した後、目標に対する評価を実施したスライドを含めてください。</a:t>
            </a:r>
            <a:br/>
            <a:r>
              <a:t>→ 評価計画：評価用ケース10〜20件を選定し、学生が類似事例検索結果の妥当性を判断。</a:t>
            </a:r>
            <a:br/>
            <a:r>
              <a:t>　 目標1（支援方針の妥当性70%以上）、目標2（類似事例の妥当性60%以上）の達成状況を報告予定。</a:t>
            </a:r>
            <a:br/>
            <a:br/>
            <a:r>
              <a:t>目標に関して、目的を達成するための、技術要素に関する内容を含めてください。</a:t>
            </a:r>
            <a:br/>
            <a:r>
              <a:t>→ 目標1・2の達成に貢献する技術要素：scikit-learn TF-IDF（類似検索）、Flask（Webアプリ）、</a:t>
            </a:r>
            <a:br/>
            <a:r>
              <a:t>　 MySQL（データ管理）、pdfplumber（PDF解析）、openpyxl（Excel出力）。(p.25)</a:t>
            </a:r>
            <a:br/>
            <a:br/>
            <a:r>
              <a:t>実際のデータを用いて、テキストマイニングの入力データ、処理内容、</a:t>
            </a:r>
            <a:br/>
            <a:r>
              <a:t>出力データの一連の流れを説明するスライドを追加してください。そのうえで、デモ等で開発状況を示してください。</a:t>
            </a:r>
            <a:br/>
            <a:r>
              <a:t>→ スライド24で入出力例を示しています。発表時にはデモも行う予定です。(p.24)</a:t>
            </a:r>
            <a:endParaRPr b="0" i="0" sz="1100" u="none" cap="none" strike="noStrike">
              <a:solidFill>
                <a:srgbClr val="000000"/>
              </a:solidFill>
              <a:latin typeface="Arial"/>
              <a:ea typeface="Arial"/>
              <a:cs typeface="Arial"/>
              <a:sym typeface="Arial"/>
            </a:endParaRPr>
          </a:p>
        </p:txBody>
      </p:sp>
      <p:sp>
        <p:nvSpPr>
          <p:cNvPr id="137" name="Google Shape;137;g3ae8c7079b1_0_16"/>
          <p:cNvSpPr txBox="1"/>
          <p:nvPr>
            <p:ph type="title"/>
          </p:nvPr>
        </p:nvSpPr>
        <p:spPr>
          <a:xfrm>
            <a:off x="519350" y="682075"/>
            <a:ext cx="48786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今回の教員コメントへの対応状況</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g371b2c4d255_2_0"/>
          <p:cNvSpPr txBox="1"/>
          <p:nvPr/>
        </p:nvSpPr>
        <p:spPr>
          <a:xfrm>
            <a:off x="4341150" y="1877413"/>
            <a:ext cx="4576500" cy="869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3300"/>
              <a:buFont typeface="Arial"/>
              <a:buNone/>
            </a:pPr>
            <a:r>
              <a:rPr b="0" i="0" lang="ja" sz="1000" u="none" cap="none" strike="noStrike">
                <a:solidFill>
                  <a:srgbClr val="000000"/>
                </a:solidFill>
                <a:latin typeface="Arial"/>
                <a:ea typeface="Arial"/>
                <a:cs typeface="Arial"/>
                <a:sym typeface="Arial"/>
              </a:rPr>
              <a:t>第9期茅ヶ崎市高齢者福祉計画・介護保険事業計画にて、認知症の早期発見と認知症高齢者を支える体制作りを目指して支援体制作りを行うことが明記されており、それに向けた取り組みとして「認知症初期集中支援推進事業が実施されている。</a:t>
            </a:r>
            <a:endParaRPr b="0" i="0" sz="1000" u="none" cap="none" strike="noStrike">
              <a:solidFill>
                <a:srgbClr val="1A1A1A"/>
              </a:solidFill>
              <a:latin typeface="Lato"/>
              <a:ea typeface="Lato"/>
              <a:cs typeface="Lato"/>
              <a:sym typeface="Lato"/>
            </a:endParaRPr>
          </a:p>
        </p:txBody>
      </p:sp>
      <p:sp>
        <p:nvSpPr>
          <p:cNvPr id="143" name="Google Shape;143;g371b2c4d255_2_0"/>
          <p:cNvSpPr txBox="1"/>
          <p:nvPr>
            <p:ph type="title"/>
          </p:nvPr>
        </p:nvSpPr>
        <p:spPr>
          <a:xfrm>
            <a:off x="4688775" y="728300"/>
            <a:ext cx="933600" cy="423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891"/>
              <a:buNone/>
            </a:pPr>
            <a:r>
              <a:rPr lang="ja" sz="2336"/>
              <a:t>背景</a:t>
            </a:r>
            <a:endParaRPr sz="2336"/>
          </a:p>
        </p:txBody>
      </p:sp>
      <p:sp>
        <p:nvSpPr>
          <p:cNvPr id="144" name="Google Shape;144;g371b2c4d255_2_0"/>
          <p:cNvSpPr txBox="1"/>
          <p:nvPr>
            <p:ph idx="2" type="body"/>
          </p:nvPr>
        </p:nvSpPr>
        <p:spPr>
          <a:xfrm>
            <a:off x="191400" y="1274700"/>
            <a:ext cx="3774300" cy="423000"/>
          </a:xfrm>
          <a:prstGeom prst="rect">
            <a:avLst/>
          </a:prstGeom>
          <a:noFill/>
          <a:ln>
            <a:noFill/>
          </a:ln>
        </p:spPr>
        <p:txBody>
          <a:bodyPr anchorCtr="0" anchor="t" bIns="91425" lIns="91425" spcFirstLastPara="1" rIns="91425" wrap="square" tIns="91425">
            <a:normAutofit fontScale="25000" lnSpcReduction="20000"/>
          </a:bodyPr>
          <a:lstStyle/>
          <a:p>
            <a:pPr indent="0" lvl="0" marL="0" rtl="0" algn="ctr">
              <a:lnSpc>
                <a:spcPct val="115000"/>
              </a:lnSpc>
              <a:spcBef>
                <a:spcPts val="1200"/>
              </a:spcBef>
              <a:spcAft>
                <a:spcPts val="0"/>
              </a:spcAft>
              <a:buSzPct val="50429"/>
              <a:buNone/>
            </a:pPr>
            <a:r>
              <a:rPr b="1" lang="ja" sz="6443" u="sng">
                <a:solidFill>
                  <a:schemeClr val="dk2"/>
                </a:solidFill>
              </a:rPr>
              <a:t>茅ヶ崎市 基幹型地域包括支援センター</a:t>
            </a:r>
            <a:endParaRPr sz="5743" u="sng">
              <a:solidFill>
                <a:schemeClr val="dk2"/>
              </a:solidFill>
            </a:endParaRPr>
          </a:p>
          <a:p>
            <a:pPr indent="0" lvl="0" marL="0" rtl="0" algn="l">
              <a:lnSpc>
                <a:spcPct val="115000"/>
              </a:lnSpc>
              <a:spcBef>
                <a:spcPts val="0"/>
              </a:spcBef>
              <a:spcAft>
                <a:spcPts val="1200"/>
              </a:spcAft>
              <a:buSzPct val="250000"/>
              <a:buNone/>
            </a:pPr>
            <a:r>
              <a:t/>
            </a:r>
            <a:endParaRPr u="sng"/>
          </a:p>
        </p:txBody>
      </p:sp>
      <p:sp>
        <p:nvSpPr>
          <p:cNvPr id="145" name="Google Shape;145;g371b2c4d255_2_0"/>
          <p:cNvSpPr txBox="1"/>
          <p:nvPr>
            <p:ph idx="3" type="title"/>
          </p:nvPr>
        </p:nvSpPr>
        <p:spPr>
          <a:xfrm>
            <a:off x="234575" y="728300"/>
            <a:ext cx="2076300" cy="423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340"/>
              <a:t>クライアント</a:t>
            </a:r>
            <a:endParaRPr sz="2340"/>
          </a:p>
        </p:txBody>
      </p:sp>
      <p:sp>
        <p:nvSpPr>
          <p:cNvPr id="146" name="Google Shape;146;g371b2c4d255_2_0"/>
          <p:cNvSpPr txBox="1"/>
          <p:nvPr/>
        </p:nvSpPr>
        <p:spPr>
          <a:xfrm>
            <a:off x="521400" y="3492175"/>
            <a:ext cx="33876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50000"/>
              </a:lnSpc>
              <a:spcBef>
                <a:spcPts val="1200"/>
              </a:spcBef>
              <a:spcAft>
                <a:spcPts val="0"/>
              </a:spcAft>
              <a:buClr>
                <a:srgbClr val="000000"/>
              </a:buClr>
              <a:buSzPts val="1000"/>
              <a:buFont typeface="Arial"/>
              <a:buNone/>
            </a:pPr>
            <a:r>
              <a:rPr b="0" i="0" lang="ja" sz="1000" u="none" cap="none" strike="noStrike">
                <a:solidFill>
                  <a:schemeClr val="dk2"/>
                </a:solidFill>
                <a:latin typeface="Lato"/>
                <a:ea typeface="Lato"/>
                <a:cs typeface="Lato"/>
                <a:sym typeface="Lato"/>
              </a:rPr>
              <a:t>なぜクライアントが認知症初期集中支援チームではなく</a:t>
            </a:r>
            <a:endParaRPr b="0" i="0" sz="1000" u="none" cap="none" strike="noStrike">
              <a:solidFill>
                <a:schemeClr val="dk2"/>
              </a:solidFill>
              <a:latin typeface="Lato"/>
              <a:ea typeface="Lato"/>
              <a:cs typeface="Lato"/>
              <a:sym typeface="Lato"/>
            </a:endParaRPr>
          </a:p>
          <a:p>
            <a:pPr indent="0" lvl="0" marL="0" marR="0" rtl="0" algn="ctr">
              <a:lnSpc>
                <a:spcPct val="50000"/>
              </a:lnSpc>
              <a:spcBef>
                <a:spcPts val="120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基幹型地域包括支援センター</a:t>
            </a:r>
            <a:r>
              <a:rPr b="0" i="0" lang="ja" sz="1000" u="none" cap="none" strike="noStrike">
                <a:solidFill>
                  <a:schemeClr val="dk2"/>
                </a:solidFill>
                <a:latin typeface="Lato"/>
                <a:ea typeface="Lato"/>
                <a:cs typeface="Lato"/>
                <a:sym typeface="Lato"/>
              </a:rPr>
              <a:t>なのか</a:t>
            </a:r>
            <a:endParaRPr b="0" i="0" sz="1000" u="none" cap="none" strike="noStrike">
              <a:solidFill>
                <a:schemeClr val="dk2"/>
              </a:solidFill>
              <a:latin typeface="Lato"/>
              <a:ea typeface="Lato"/>
              <a:cs typeface="Lato"/>
              <a:sym typeface="Lato"/>
            </a:endParaRPr>
          </a:p>
        </p:txBody>
      </p:sp>
      <p:sp>
        <p:nvSpPr>
          <p:cNvPr id="147" name="Google Shape;147;g371b2c4d255_2_0"/>
          <p:cNvSpPr txBox="1"/>
          <p:nvPr/>
        </p:nvSpPr>
        <p:spPr>
          <a:xfrm>
            <a:off x="191400" y="3984775"/>
            <a:ext cx="4047600" cy="8928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1200"/>
              </a:spcBef>
              <a:spcAft>
                <a:spcPts val="0"/>
              </a:spcAft>
              <a:buClr>
                <a:srgbClr val="000000"/>
              </a:buClr>
              <a:buSzPts val="1000"/>
              <a:buFont typeface="Arial"/>
              <a:buNone/>
            </a:pPr>
            <a:r>
              <a:t/>
            </a:r>
            <a:endParaRPr b="0" i="0" sz="1000" u="none" cap="none" strike="noStrike">
              <a:solidFill>
                <a:schemeClr val="dk2"/>
              </a:solidFill>
              <a:latin typeface="Lato"/>
              <a:ea typeface="Lato"/>
              <a:cs typeface="Lato"/>
              <a:sym typeface="Lato"/>
            </a:endParaRPr>
          </a:p>
          <a:p>
            <a:pPr indent="0" lvl="0" marL="0" marR="0" rtl="0" algn="ctr">
              <a:lnSpc>
                <a:spcPct val="50000"/>
              </a:lnSpc>
              <a:spcBef>
                <a:spcPts val="1200"/>
              </a:spcBef>
              <a:spcAft>
                <a:spcPts val="0"/>
              </a:spcAft>
              <a:buClr>
                <a:srgbClr val="000000"/>
              </a:buClr>
              <a:buSzPts val="1000"/>
              <a:buFont typeface="Arial"/>
              <a:buNone/>
            </a:pPr>
            <a:r>
              <a:rPr b="0" i="0" lang="ja" sz="1000" u="none" cap="none" strike="noStrike">
                <a:solidFill>
                  <a:schemeClr val="dk2"/>
                </a:solidFill>
                <a:latin typeface="Lato"/>
                <a:ea typeface="Lato"/>
                <a:cs typeface="Lato"/>
                <a:sym typeface="Lato"/>
              </a:rPr>
              <a:t>認知症初期集中支援チームは</a:t>
            </a:r>
            <a:endParaRPr b="0" i="0" sz="1000" u="none" cap="none" strike="noStrike">
              <a:solidFill>
                <a:schemeClr val="dk2"/>
              </a:solidFill>
              <a:latin typeface="Lato"/>
              <a:ea typeface="Lato"/>
              <a:cs typeface="Lato"/>
              <a:sym typeface="Lato"/>
            </a:endParaRPr>
          </a:p>
          <a:p>
            <a:pPr indent="0" lvl="0" marL="0" marR="0" rtl="0" algn="ctr">
              <a:lnSpc>
                <a:spcPct val="50000"/>
              </a:lnSpc>
              <a:spcBef>
                <a:spcPts val="120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基幹型地域包括支援センターの業務に位置付けられている為</a:t>
            </a:r>
            <a:endParaRPr b="1" i="0" sz="1000" u="none" cap="none" strike="noStrike">
              <a:solidFill>
                <a:schemeClr val="dk2"/>
              </a:solidFill>
              <a:latin typeface="Lato"/>
              <a:ea typeface="Lato"/>
              <a:cs typeface="Lato"/>
              <a:sym typeface="Lato"/>
            </a:endParaRPr>
          </a:p>
          <a:p>
            <a:pPr indent="0" lvl="0" marL="0" marR="0" rtl="0" algn="ctr">
              <a:lnSpc>
                <a:spcPct val="100000"/>
              </a:lnSpc>
              <a:spcBef>
                <a:spcPts val="0"/>
              </a:spcBef>
              <a:spcAft>
                <a:spcPts val="0"/>
              </a:spcAft>
              <a:buClr>
                <a:srgbClr val="000000"/>
              </a:buClr>
              <a:buSzPts val="600"/>
              <a:buFont typeface="Arial"/>
              <a:buNone/>
            </a:pPr>
            <a:r>
              <a:t/>
            </a:r>
            <a:endParaRPr b="0" i="0" sz="600" u="none" cap="none" strike="noStrike">
              <a:solidFill>
                <a:schemeClr val="dk2"/>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600"/>
              <a:buFont typeface="Arial"/>
              <a:buNone/>
            </a:pPr>
            <a:r>
              <a:rPr b="0" i="0" lang="ja" sz="600" u="none" cap="none" strike="noStrike">
                <a:solidFill>
                  <a:schemeClr val="dk2"/>
                </a:solidFill>
                <a:latin typeface="Arial"/>
                <a:ea typeface="Arial"/>
                <a:cs typeface="Arial"/>
                <a:sym typeface="Arial"/>
              </a:rPr>
              <a:t>参考 : </a:t>
            </a:r>
            <a:r>
              <a:rPr b="0" i="0" lang="ja" sz="600" u="sng" cap="none" strike="noStrike">
                <a:solidFill>
                  <a:schemeClr val="accent5"/>
                </a:solidFill>
                <a:latin typeface="Arial"/>
                <a:ea typeface="Arial"/>
                <a:cs typeface="Arial"/>
                <a:sym typeface="Arial"/>
                <a:hlinkClick r:id="rId3">
                  <a:extLst>
                    <a:ext uri="{A12FA001-AC4F-418D-AE19-62706E023703}">
                      <ahyp:hlinkClr val="tx"/>
                    </a:ext>
                  </a:extLst>
                </a:hlinkClick>
              </a:rPr>
              <a:t>https://www.city.chigasaki.kanagawa.jp/_res/projects/default_project/_page_/001/010/988/120312.pdf</a:t>
            </a:r>
            <a:endParaRPr b="0" i="0" sz="600" u="none" cap="none" strike="noStrike">
              <a:solidFill>
                <a:schemeClr val="accent5"/>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600"/>
              <a:buFont typeface="Arial"/>
              <a:buNone/>
            </a:pPr>
            <a:r>
              <a:t/>
            </a:r>
            <a:endParaRPr b="0" i="0" sz="600" u="none" cap="none" strike="noStrike">
              <a:solidFill>
                <a:schemeClr val="accent1"/>
              </a:solidFill>
              <a:latin typeface="Lato"/>
              <a:ea typeface="Lato"/>
              <a:cs typeface="Lato"/>
              <a:sym typeface="Lato"/>
            </a:endParaRPr>
          </a:p>
        </p:txBody>
      </p:sp>
      <p:sp>
        <p:nvSpPr>
          <p:cNvPr id="148" name="Google Shape;148;g371b2c4d255_2_0"/>
          <p:cNvSpPr/>
          <p:nvPr/>
        </p:nvSpPr>
        <p:spPr>
          <a:xfrm>
            <a:off x="2115750" y="4016600"/>
            <a:ext cx="198900" cy="211800"/>
          </a:xfrm>
          <a:prstGeom prst="down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t/>
            </a:r>
            <a:endParaRPr b="0" i="0" sz="1000" u="none" cap="none" strike="noStrike">
              <a:solidFill>
                <a:srgbClr val="000000"/>
              </a:solidFill>
              <a:latin typeface="Lato"/>
              <a:ea typeface="Lato"/>
              <a:cs typeface="Lato"/>
              <a:sym typeface="Lato"/>
            </a:endParaRPr>
          </a:p>
        </p:txBody>
      </p:sp>
      <p:sp>
        <p:nvSpPr>
          <p:cNvPr id="149" name="Google Shape;149;g371b2c4d255_2_0"/>
          <p:cNvSpPr txBox="1"/>
          <p:nvPr/>
        </p:nvSpPr>
        <p:spPr>
          <a:xfrm>
            <a:off x="4213500" y="1302475"/>
            <a:ext cx="1408800" cy="306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600" u="none" cap="none" strike="noStrike">
                <a:solidFill>
                  <a:srgbClr val="1A1A1A"/>
                </a:solidFill>
                <a:latin typeface="Lato"/>
                <a:ea typeface="Lato"/>
                <a:cs typeface="Lato"/>
                <a:sym typeface="Lato"/>
              </a:rPr>
              <a:t>茅ヶ崎市では</a:t>
            </a:r>
            <a:endParaRPr b="0" i="0" sz="1600" u="none" cap="none" strike="noStrike">
              <a:solidFill>
                <a:srgbClr val="1A1A1A"/>
              </a:solidFill>
              <a:latin typeface="Lato"/>
              <a:ea typeface="Lato"/>
              <a:cs typeface="Lato"/>
              <a:sym typeface="Lato"/>
            </a:endParaRPr>
          </a:p>
        </p:txBody>
      </p:sp>
      <p:sp>
        <p:nvSpPr>
          <p:cNvPr id="150" name="Google Shape;150;g371b2c4d255_2_0"/>
          <p:cNvSpPr txBox="1"/>
          <p:nvPr/>
        </p:nvSpPr>
        <p:spPr>
          <a:xfrm>
            <a:off x="60300" y="1790550"/>
            <a:ext cx="4178700" cy="15855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rgbClr val="000000"/>
              </a:buClr>
              <a:buSzPts val="1300"/>
              <a:buFont typeface="Arial"/>
              <a:buNone/>
            </a:pPr>
            <a:r>
              <a:rPr b="1" i="0" lang="ja" sz="1400" u="none" cap="none" strike="noStrike">
                <a:solidFill>
                  <a:srgbClr val="1A1A1A"/>
                </a:solidFill>
                <a:latin typeface="Lato"/>
                <a:ea typeface="Lato"/>
                <a:cs typeface="Lato"/>
                <a:sym typeface="Lato"/>
              </a:rPr>
              <a:t>認知症初期集中支援チームとは</a:t>
            </a:r>
            <a:endParaRPr b="1" i="0" sz="1400" u="none" cap="none" strike="noStrike">
              <a:solidFill>
                <a:srgbClr val="1A1A1A"/>
              </a:solidFill>
              <a:latin typeface="Lato"/>
              <a:ea typeface="Lato"/>
              <a:cs typeface="Lato"/>
              <a:sym typeface="Lato"/>
            </a:endParaRPr>
          </a:p>
          <a:p>
            <a:pPr indent="0" lvl="0" marL="0" marR="0" rtl="0" algn="l">
              <a:lnSpc>
                <a:spcPct val="150000"/>
              </a:lnSpc>
              <a:spcBef>
                <a:spcPts val="0"/>
              </a:spcBef>
              <a:spcAft>
                <a:spcPts val="0"/>
              </a:spcAft>
              <a:buClr>
                <a:srgbClr val="000000"/>
              </a:buClr>
              <a:buSzPts val="1000"/>
              <a:buFont typeface="Arial"/>
              <a:buNone/>
            </a:pPr>
            <a:r>
              <a:rPr b="0" i="0" lang="ja" sz="1000" u="none" cap="none" strike="noStrike">
                <a:solidFill>
                  <a:srgbClr val="1A1A1A"/>
                </a:solidFill>
                <a:latin typeface="Lato"/>
                <a:ea typeface="Lato"/>
                <a:cs typeface="Lato"/>
                <a:sym typeface="Lato"/>
              </a:rPr>
              <a:t>支援センター職員が認知症の疑いがある人やその家族を訪問し、</a:t>
            </a:r>
            <a:endParaRPr b="0" i="0" sz="1000" u="none" cap="none" strike="noStrike">
              <a:solidFill>
                <a:srgbClr val="1A1A1A"/>
              </a:solidFill>
              <a:latin typeface="Lato"/>
              <a:ea typeface="Lato"/>
              <a:cs typeface="Lato"/>
              <a:sym typeface="Lato"/>
            </a:endParaRPr>
          </a:p>
          <a:p>
            <a:pPr indent="0" lvl="0" marL="0" marR="0" rtl="0" algn="l">
              <a:lnSpc>
                <a:spcPct val="150000"/>
              </a:lnSpc>
              <a:spcBef>
                <a:spcPts val="0"/>
              </a:spcBef>
              <a:spcAft>
                <a:spcPts val="0"/>
              </a:spcAft>
              <a:buClr>
                <a:srgbClr val="000000"/>
              </a:buClr>
              <a:buSzPts val="1000"/>
              <a:buFont typeface="Arial"/>
              <a:buNone/>
            </a:pPr>
            <a:r>
              <a:rPr b="0" i="0" lang="ja" sz="1000" u="none" cap="none" strike="noStrike">
                <a:solidFill>
                  <a:srgbClr val="1A1A1A"/>
                </a:solidFill>
                <a:latin typeface="Lato"/>
                <a:ea typeface="Lato"/>
                <a:cs typeface="Lato"/>
                <a:sym typeface="Lato"/>
              </a:rPr>
              <a:t>対象者の状態を把握した後、適切な支援・サポートを行うチーム。</a:t>
            </a:r>
            <a:endParaRPr b="0" i="0" sz="1000" u="none" cap="none" strike="noStrike">
              <a:solidFill>
                <a:srgbClr val="1A1A1A"/>
              </a:solidFill>
              <a:latin typeface="Lato"/>
              <a:ea typeface="Lato"/>
              <a:cs typeface="Lato"/>
              <a:sym typeface="Lato"/>
            </a:endParaRPr>
          </a:p>
          <a:p>
            <a:pPr indent="0" lvl="0" marL="0" marR="0" rtl="0" algn="l">
              <a:lnSpc>
                <a:spcPct val="150000"/>
              </a:lnSpc>
              <a:spcBef>
                <a:spcPts val="0"/>
              </a:spcBef>
              <a:spcAft>
                <a:spcPts val="0"/>
              </a:spcAft>
              <a:buClr>
                <a:srgbClr val="000000"/>
              </a:buClr>
              <a:buSzPts val="1000"/>
              <a:buFont typeface="Arial"/>
              <a:buNone/>
            </a:pPr>
            <a:r>
              <a:rPr b="0" i="0" lang="ja" sz="1000" u="none" cap="none" strike="noStrike">
                <a:solidFill>
                  <a:srgbClr val="1A1A1A"/>
                </a:solidFill>
                <a:latin typeface="Lato"/>
                <a:ea typeface="Lato"/>
                <a:cs typeface="Lato"/>
                <a:sym typeface="Lato"/>
              </a:rPr>
              <a:t>・</a:t>
            </a:r>
            <a:r>
              <a:rPr b="1" i="0" lang="ja" sz="1000" u="none" cap="none" strike="noStrike">
                <a:solidFill>
                  <a:srgbClr val="1A1A1A"/>
                </a:solidFill>
                <a:latin typeface="Lato"/>
                <a:ea typeface="Lato"/>
                <a:cs typeface="Lato"/>
                <a:sym typeface="Lato"/>
              </a:rPr>
              <a:t>地域包括支援センター</a:t>
            </a:r>
            <a:r>
              <a:rPr b="0" i="0" lang="ja" sz="1000" u="none" cap="none" strike="noStrike">
                <a:solidFill>
                  <a:srgbClr val="1A1A1A"/>
                </a:solidFill>
                <a:latin typeface="Lato"/>
                <a:ea typeface="Lato"/>
                <a:cs typeface="Lato"/>
                <a:sym typeface="Lato"/>
              </a:rPr>
              <a:t>等に設置</a:t>
            </a:r>
            <a:endParaRPr b="0" i="0" sz="1000" u="none" cap="none" strike="noStrike">
              <a:solidFill>
                <a:srgbClr val="1A1A1A"/>
              </a:solidFill>
              <a:latin typeface="Lato"/>
              <a:ea typeface="Lato"/>
              <a:cs typeface="Lato"/>
              <a:sym typeface="Lato"/>
            </a:endParaRPr>
          </a:p>
          <a:p>
            <a:pPr indent="0" lvl="0" marL="0" marR="0" rtl="0" algn="l">
              <a:lnSpc>
                <a:spcPct val="150000"/>
              </a:lnSpc>
              <a:spcBef>
                <a:spcPts val="0"/>
              </a:spcBef>
              <a:spcAft>
                <a:spcPts val="0"/>
              </a:spcAft>
              <a:buClr>
                <a:srgbClr val="000000"/>
              </a:buClr>
              <a:buSzPts val="1000"/>
              <a:buFont typeface="Arial"/>
              <a:buNone/>
            </a:pPr>
            <a:r>
              <a:rPr b="0" i="0" lang="ja" sz="1000" u="none" cap="none" strike="noStrike">
                <a:solidFill>
                  <a:srgbClr val="1A1A1A"/>
                </a:solidFill>
                <a:latin typeface="Lato"/>
                <a:ea typeface="Lato"/>
                <a:cs typeface="Lato"/>
                <a:sym typeface="Lato"/>
              </a:rPr>
              <a:t>・</a:t>
            </a:r>
            <a:r>
              <a:rPr b="1" i="0" lang="ja" sz="1000" u="none" cap="none" strike="noStrike">
                <a:solidFill>
                  <a:srgbClr val="1A1A1A"/>
                </a:solidFill>
                <a:latin typeface="Lato"/>
                <a:ea typeface="Lato"/>
                <a:cs typeface="Lato"/>
                <a:sym typeface="Lato"/>
              </a:rPr>
              <a:t>厚生労働省</a:t>
            </a:r>
            <a:r>
              <a:rPr b="0" i="0" lang="ja" sz="1000" u="none" cap="none" strike="noStrike">
                <a:solidFill>
                  <a:srgbClr val="1A1A1A"/>
                </a:solidFill>
                <a:latin typeface="Lato"/>
                <a:ea typeface="Lato"/>
                <a:cs typeface="Lato"/>
                <a:sym typeface="Lato"/>
              </a:rPr>
              <a:t>が提唱</a:t>
            </a:r>
            <a:endParaRPr b="0" i="0" sz="1000" u="none" cap="none" strike="noStrike">
              <a:solidFill>
                <a:srgbClr val="1A1A1A"/>
              </a:solidFill>
              <a:latin typeface="Lato"/>
              <a:ea typeface="Lato"/>
              <a:cs typeface="Lato"/>
              <a:sym typeface="Lato"/>
            </a:endParaRPr>
          </a:p>
          <a:p>
            <a:pPr indent="0" lvl="0" marL="0" marR="0" rtl="0" algn="l">
              <a:lnSpc>
                <a:spcPct val="150000"/>
              </a:lnSpc>
              <a:spcBef>
                <a:spcPts val="0"/>
              </a:spcBef>
              <a:spcAft>
                <a:spcPts val="0"/>
              </a:spcAft>
              <a:buClr>
                <a:srgbClr val="000000"/>
              </a:buClr>
              <a:buSzPts val="1000"/>
              <a:buFont typeface="Arial"/>
              <a:buNone/>
            </a:pPr>
            <a:r>
              <a:rPr b="0" i="0" lang="ja" sz="1000" u="none" cap="none" strike="noStrike">
                <a:solidFill>
                  <a:srgbClr val="1A1A1A"/>
                </a:solidFill>
                <a:latin typeface="Lato"/>
                <a:ea typeface="Lato"/>
                <a:cs typeface="Lato"/>
                <a:sym typeface="Lato"/>
              </a:rPr>
              <a:t>・</a:t>
            </a:r>
            <a:r>
              <a:rPr b="1" i="0" lang="ja" sz="1000" u="none" cap="none" strike="noStrike">
                <a:solidFill>
                  <a:srgbClr val="1A1A1A"/>
                </a:solidFill>
                <a:latin typeface="Lato"/>
                <a:ea typeface="Lato"/>
                <a:cs typeface="Lato"/>
                <a:sym typeface="Lato"/>
              </a:rPr>
              <a:t>各市町村</a:t>
            </a:r>
            <a:r>
              <a:rPr b="0" i="0" lang="ja" sz="1000" u="none" cap="none" strike="noStrike">
                <a:solidFill>
                  <a:srgbClr val="1A1A1A"/>
                </a:solidFill>
                <a:latin typeface="Lato"/>
                <a:ea typeface="Lato"/>
                <a:cs typeface="Lato"/>
                <a:sym typeface="Lato"/>
              </a:rPr>
              <a:t>に設置を義務付け</a:t>
            </a:r>
            <a:endParaRPr b="0" i="0" sz="1000" u="none" cap="none" strike="noStrike">
              <a:solidFill>
                <a:srgbClr val="1A1A1A"/>
              </a:solidFill>
              <a:latin typeface="Lato"/>
              <a:ea typeface="Lato"/>
              <a:cs typeface="Lato"/>
              <a:sym typeface="Lato"/>
            </a:endParaRPr>
          </a:p>
        </p:txBody>
      </p:sp>
      <p:sp>
        <p:nvSpPr>
          <p:cNvPr id="151" name="Google Shape;151;g371b2c4d255_2_0"/>
          <p:cNvSpPr txBox="1"/>
          <p:nvPr/>
        </p:nvSpPr>
        <p:spPr>
          <a:xfrm>
            <a:off x="1879200" y="2746325"/>
            <a:ext cx="23598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700"/>
              <a:buFont typeface="Arial"/>
              <a:buNone/>
            </a:pPr>
            <a:r>
              <a:rPr b="0" i="0" lang="ja" sz="700" u="none" cap="none" strike="noStrike">
                <a:solidFill>
                  <a:srgbClr val="000000"/>
                </a:solidFill>
                <a:latin typeface="Arial"/>
                <a:ea typeface="Arial"/>
                <a:cs typeface="Arial"/>
                <a:sym typeface="Arial"/>
              </a:rPr>
              <a:t>参考元：</a:t>
            </a:r>
            <a:r>
              <a:rPr b="0" i="0" lang="ja" sz="600" u="sng" cap="none" strike="noStrike">
                <a:solidFill>
                  <a:schemeClr val="accent5"/>
                </a:solidFill>
                <a:latin typeface="Arial"/>
                <a:ea typeface="Arial"/>
                <a:cs typeface="Arial"/>
                <a:sym typeface="Arial"/>
                <a:hlinkClick r:id="rId4">
                  <a:extLst>
                    <a:ext uri="{A12FA001-AC4F-418D-AE19-62706E023703}">
                      <ahyp:hlinkClr val="tx"/>
                    </a:ext>
                  </a:extLst>
                </a:hlinkClick>
              </a:rPr>
              <a:t>https://www.mhlw.go.jp/file/06-Seisakujouhou-12600000-Seisakutoukatsukan/0000035310.pdf</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600"/>
              <a:buFont typeface="Arial"/>
              <a:buNone/>
            </a:pPr>
            <a:r>
              <a:rPr b="0" i="0" lang="ja" sz="600" u="sng" cap="none" strike="noStrike">
                <a:solidFill>
                  <a:schemeClr val="accent5"/>
                </a:solidFill>
                <a:latin typeface="Arial"/>
                <a:ea typeface="Arial"/>
                <a:cs typeface="Arial"/>
                <a:sym typeface="Arial"/>
                <a:hlinkClick r:id="rId5">
                  <a:extLst>
                    <a:ext uri="{A12FA001-AC4F-418D-AE19-62706E023703}">
                      <ahyp:hlinkClr val="tx"/>
                    </a:ext>
                  </a:extLst>
                </a:hlinkClick>
              </a:rPr>
              <a:t>https://www.tyojyu.or.jp/kankoubutsu/gyoseki/pdf/h30-5-3.pdf</a:t>
            </a:r>
            <a:endParaRPr b="0" i="0" sz="600" u="none" cap="none" strike="noStrike">
              <a:solidFill>
                <a:srgbClr val="000000"/>
              </a:solidFill>
              <a:latin typeface="Arial"/>
              <a:ea typeface="Arial"/>
              <a:cs typeface="Arial"/>
              <a:sym typeface="Arial"/>
            </a:endParaRPr>
          </a:p>
        </p:txBody>
      </p:sp>
      <p:sp>
        <p:nvSpPr>
          <p:cNvPr id="152" name="Google Shape;152;g371b2c4d255_2_0"/>
          <p:cNvSpPr txBox="1"/>
          <p:nvPr/>
        </p:nvSpPr>
        <p:spPr>
          <a:xfrm>
            <a:off x="4242450" y="4334750"/>
            <a:ext cx="4773900" cy="661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100"/>
              <a:buFont typeface="Arial"/>
              <a:buNone/>
            </a:pPr>
            <a:r>
              <a:rPr b="0" i="0" lang="ja" sz="1600" u="none" cap="none" strike="noStrike">
                <a:solidFill>
                  <a:schemeClr val="dk2"/>
                </a:solidFill>
                <a:latin typeface="Lato"/>
                <a:ea typeface="Lato"/>
                <a:cs typeface="Lato"/>
                <a:sym typeface="Lato"/>
              </a:rPr>
              <a:t>そこで</a:t>
            </a:r>
            <a:endParaRPr b="0" i="0" sz="1600" u="none" cap="none" strike="noStrike">
              <a:solidFill>
                <a:schemeClr val="dk2"/>
              </a:solidFill>
              <a:latin typeface="Lato"/>
              <a:ea typeface="Lato"/>
              <a:cs typeface="Lato"/>
              <a:sym typeface="Lato"/>
            </a:endParaRPr>
          </a:p>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2"/>
              </a:solidFill>
              <a:latin typeface="Lato"/>
              <a:ea typeface="Lato"/>
              <a:cs typeface="Lato"/>
              <a:sym typeface="Lato"/>
            </a:endParaRPr>
          </a:p>
          <a:p>
            <a:pPr indent="0" lvl="0" marL="0" marR="0" rtl="0" algn="l">
              <a:lnSpc>
                <a:spcPct val="100000"/>
              </a:lnSpc>
              <a:spcBef>
                <a:spcPts val="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認知症の状態の把握および支援方針の検討業務を援助するシステム</a:t>
            </a:r>
            <a:r>
              <a:rPr b="0" i="0" lang="ja" sz="1000" u="none" cap="none" strike="noStrike">
                <a:solidFill>
                  <a:schemeClr val="dk2"/>
                </a:solidFill>
                <a:latin typeface="Lato"/>
                <a:ea typeface="Lato"/>
                <a:cs typeface="Lato"/>
                <a:sym typeface="Lato"/>
              </a:rPr>
              <a:t>を考案</a:t>
            </a:r>
            <a:endParaRPr b="0" i="0" sz="1400" u="none" cap="none" strike="noStrike">
              <a:solidFill>
                <a:srgbClr val="000000"/>
              </a:solidFill>
              <a:latin typeface="Arial"/>
              <a:ea typeface="Arial"/>
              <a:cs typeface="Arial"/>
              <a:sym typeface="Arial"/>
            </a:endParaRPr>
          </a:p>
        </p:txBody>
      </p:sp>
      <p:sp>
        <p:nvSpPr>
          <p:cNvPr id="153" name="Google Shape;153;g371b2c4d255_2_0"/>
          <p:cNvSpPr txBox="1"/>
          <p:nvPr/>
        </p:nvSpPr>
        <p:spPr>
          <a:xfrm>
            <a:off x="6169200" y="2508250"/>
            <a:ext cx="2876100" cy="686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800"/>
              <a:buFont typeface="Arial"/>
              <a:buNone/>
            </a:pPr>
            <a:r>
              <a:rPr b="0" i="0" lang="ja" sz="600" u="none" cap="none" strike="noStrike">
                <a:solidFill>
                  <a:srgbClr val="1A1A1A"/>
                </a:solidFill>
                <a:latin typeface="Lato"/>
                <a:ea typeface="Lato"/>
                <a:cs typeface="Lato"/>
                <a:sym typeface="Lato"/>
              </a:rPr>
              <a:t>参考元：</a:t>
            </a:r>
            <a:r>
              <a:rPr b="0" i="0" lang="ja" sz="650" u="none" cap="none" strike="noStrike">
                <a:solidFill>
                  <a:srgbClr val="333333"/>
                </a:solidFill>
                <a:highlight>
                  <a:srgbClr val="FFFFFF"/>
                </a:highlight>
                <a:latin typeface="Lato"/>
                <a:ea typeface="Lato"/>
                <a:cs typeface="Lato"/>
                <a:sym typeface="Lato"/>
              </a:rPr>
              <a:t>第9期茅ヶ崎市高齢者福祉計画・介護保険事業計画 P71より抜粋</a:t>
            </a:r>
            <a:endParaRPr b="0" i="0" sz="600" u="none" cap="none" strike="noStrike">
              <a:solidFill>
                <a:srgbClr val="1A1A1A"/>
              </a:solidFill>
              <a:latin typeface="Lato"/>
              <a:ea typeface="Lato"/>
              <a:cs typeface="Lato"/>
              <a:sym typeface="Lato"/>
            </a:endParaRPr>
          </a:p>
          <a:p>
            <a:pPr indent="0" lvl="0" marL="0" marR="0" rtl="0" algn="l">
              <a:lnSpc>
                <a:spcPct val="100000"/>
              </a:lnSpc>
              <a:spcBef>
                <a:spcPts val="0"/>
              </a:spcBef>
              <a:spcAft>
                <a:spcPts val="0"/>
              </a:spcAft>
              <a:buClr>
                <a:srgbClr val="000000"/>
              </a:buClr>
              <a:buSzPts val="800"/>
              <a:buFont typeface="Arial"/>
              <a:buNone/>
            </a:pPr>
            <a:r>
              <a:rPr b="0" i="0" lang="ja" sz="600" u="sng" cap="none" strike="noStrike">
                <a:solidFill>
                  <a:schemeClr val="hlink"/>
                </a:solidFill>
                <a:latin typeface="Lato"/>
                <a:ea typeface="Lato"/>
                <a:cs typeface="Lato"/>
                <a:sym typeface="Lato"/>
                <a:hlinkClick r:id="rId6"/>
              </a:rPr>
              <a:t>https://www.city.chigasaki.kanagawa.jp/_res/projects/default_project/_page_/001/057/442/dai9kikeikaku.pdf</a:t>
            </a:r>
            <a:endParaRPr b="0" i="0" sz="600" u="none" cap="none" strike="noStrike">
              <a:solidFill>
                <a:srgbClr val="1A1A1A"/>
              </a:solidFill>
              <a:latin typeface="Lato"/>
              <a:ea typeface="Lato"/>
              <a:cs typeface="Lato"/>
              <a:sym typeface="Lato"/>
            </a:endParaRPr>
          </a:p>
        </p:txBody>
      </p:sp>
      <p:sp>
        <p:nvSpPr>
          <p:cNvPr id="154" name="Google Shape;154;g371b2c4d255_2_0"/>
          <p:cNvSpPr txBox="1"/>
          <p:nvPr/>
        </p:nvSpPr>
        <p:spPr>
          <a:xfrm>
            <a:off x="4213500" y="3016050"/>
            <a:ext cx="3065400" cy="306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600" u="none" cap="none" strike="noStrike">
                <a:solidFill>
                  <a:srgbClr val="1A1A1A"/>
                </a:solidFill>
                <a:latin typeface="Lato"/>
                <a:ea typeface="Lato"/>
                <a:cs typeface="Lato"/>
                <a:sym typeface="Lato"/>
              </a:rPr>
              <a:t>認知症初期集中支援チームでは</a:t>
            </a:r>
            <a:endParaRPr b="0" i="0" sz="1600" u="none" cap="none" strike="noStrike">
              <a:solidFill>
                <a:srgbClr val="1A1A1A"/>
              </a:solidFill>
              <a:latin typeface="Lato"/>
              <a:ea typeface="Lato"/>
              <a:cs typeface="Lato"/>
              <a:sym typeface="Lato"/>
            </a:endParaRPr>
          </a:p>
        </p:txBody>
      </p:sp>
      <p:sp>
        <p:nvSpPr>
          <p:cNvPr id="155" name="Google Shape;155;g371b2c4d255_2_0"/>
          <p:cNvSpPr txBox="1"/>
          <p:nvPr/>
        </p:nvSpPr>
        <p:spPr>
          <a:xfrm>
            <a:off x="4341150" y="3439100"/>
            <a:ext cx="4576500" cy="515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3300"/>
              <a:buFont typeface="Arial"/>
              <a:buNone/>
            </a:pPr>
            <a:r>
              <a:rPr b="0" i="0" lang="ja" sz="1000" u="none" cap="none" strike="noStrike">
                <a:solidFill>
                  <a:srgbClr val="1A1A1A"/>
                </a:solidFill>
                <a:latin typeface="Lato"/>
                <a:ea typeface="Lato"/>
                <a:cs typeface="Lato"/>
                <a:sym typeface="Lato"/>
              </a:rPr>
              <a:t>住み慣れた地域のよい環境で暮らし続けられるために、早期診断・早期対応に向けた支援体制を構築することを目的としている。</a:t>
            </a:r>
            <a:endParaRPr b="0" i="0" sz="1000" u="none" cap="none" strike="noStrike">
              <a:solidFill>
                <a:srgbClr val="1A1A1A"/>
              </a:solidFill>
              <a:latin typeface="Lato"/>
              <a:ea typeface="Lato"/>
              <a:cs typeface="Lato"/>
              <a:sym typeface="Lato"/>
            </a:endParaRPr>
          </a:p>
        </p:txBody>
      </p:sp>
      <p:sp>
        <p:nvSpPr>
          <p:cNvPr id="156" name="Google Shape;156;g371b2c4d255_2_0"/>
          <p:cNvSpPr txBox="1"/>
          <p:nvPr/>
        </p:nvSpPr>
        <p:spPr>
          <a:xfrm>
            <a:off x="6169200" y="3895850"/>
            <a:ext cx="2946000" cy="515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800"/>
              <a:buFont typeface="Arial"/>
              <a:buNone/>
            </a:pPr>
            <a:r>
              <a:rPr b="0" i="0" lang="ja" sz="600" u="none" cap="none" strike="noStrike">
                <a:solidFill>
                  <a:srgbClr val="1A1A1A"/>
                </a:solidFill>
                <a:latin typeface="Lato"/>
                <a:ea typeface="Lato"/>
                <a:cs typeface="Lato"/>
                <a:sym typeface="Lato"/>
              </a:rPr>
              <a:t>参考元：</a:t>
            </a:r>
            <a:endParaRPr b="0" i="0" sz="600" u="none" cap="none" strike="noStrike">
              <a:solidFill>
                <a:srgbClr val="1A1A1A"/>
              </a:solidFill>
              <a:latin typeface="Lato"/>
              <a:ea typeface="Lato"/>
              <a:cs typeface="Lato"/>
              <a:sym typeface="Lato"/>
            </a:endParaRPr>
          </a:p>
          <a:p>
            <a:pPr indent="0" lvl="0" marL="0" marR="0" rtl="0" algn="l">
              <a:lnSpc>
                <a:spcPct val="100000"/>
              </a:lnSpc>
              <a:spcBef>
                <a:spcPts val="0"/>
              </a:spcBef>
              <a:spcAft>
                <a:spcPts val="0"/>
              </a:spcAft>
              <a:buClr>
                <a:srgbClr val="000000"/>
              </a:buClr>
              <a:buSzPts val="800"/>
              <a:buFont typeface="Arial"/>
              <a:buNone/>
            </a:pPr>
            <a:r>
              <a:rPr b="0" i="0" lang="ja" sz="600" u="sng" cap="none" strike="noStrike">
                <a:solidFill>
                  <a:schemeClr val="hlink"/>
                </a:solidFill>
                <a:latin typeface="Lato"/>
                <a:ea typeface="Lato"/>
                <a:cs typeface="Lato"/>
                <a:sym typeface="Lato"/>
                <a:hlinkClick r:id="rId7"/>
              </a:rPr>
              <a:t>https://www.mhlw.go.jp/file/06-Seisakujouhou-12600000-Seisakutoukatsukan/0000035310.pdf</a:t>
            </a:r>
            <a:endParaRPr b="0" i="0" sz="600" u="none" cap="none" strike="noStrike">
              <a:solidFill>
                <a:srgbClr val="1A1A1A"/>
              </a:solidFill>
              <a:latin typeface="Lato"/>
              <a:ea typeface="Lato"/>
              <a:cs typeface="Lato"/>
              <a:sym typeface="Lato"/>
            </a:endParaRPr>
          </a:p>
          <a:p>
            <a:pPr indent="0" lvl="0" marL="0" marR="0" rtl="0" algn="l">
              <a:lnSpc>
                <a:spcPct val="100000"/>
              </a:lnSpc>
              <a:spcBef>
                <a:spcPts val="0"/>
              </a:spcBef>
              <a:spcAft>
                <a:spcPts val="0"/>
              </a:spcAft>
              <a:buClr>
                <a:srgbClr val="000000"/>
              </a:buClr>
              <a:buSzPts val="800"/>
              <a:buFont typeface="Arial"/>
              <a:buNone/>
            </a:pPr>
            <a:r>
              <a:rPr b="0" i="0" lang="ja" sz="600" u="sng" cap="none" strike="noStrike">
                <a:solidFill>
                  <a:schemeClr val="hlink"/>
                </a:solidFill>
                <a:latin typeface="Lato"/>
                <a:ea typeface="Lato"/>
                <a:cs typeface="Lato"/>
                <a:sym typeface="Lato"/>
                <a:hlinkClick r:id="rId8"/>
              </a:rPr>
              <a:t>https://www.city.chigasaki.kanagawa.jp/_res/projects/default_project/_page_/001/010/988/120312.pdf</a:t>
            </a:r>
            <a:endParaRPr b="0" i="0" sz="600" u="none" cap="none" strike="noStrike">
              <a:solidFill>
                <a:srgbClr val="1A1A1A"/>
              </a:solidFill>
              <a:latin typeface="Lato"/>
              <a:ea typeface="Lato"/>
              <a:cs typeface="Lato"/>
              <a:sym typeface="Lato"/>
            </a:endParaRPr>
          </a:p>
        </p:txBody>
      </p:sp>
      <p:sp>
        <p:nvSpPr>
          <p:cNvPr id="157" name="Google Shape;157;g371b2c4d255_2_0"/>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5</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g371b2c4d255_2_7"/>
          <p:cNvSpPr txBox="1"/>
          <p:nvPr>
            <p:ph type="title"/>
          </p:nvPr>
        </p:nvSpPr>
        <p:spPr>
          <a:xfrm>
            <a:off x="805550" y="709050"/>
            <a:ext cx="858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目的</a:t>
            </a:r>
            <a:endParaRPr/>
          </a:p>
        </p:txBody>
      </p:sp>
      <p:sp>
        <p:nvSpPr>
          <p:cNvPr id="163" name="Google Shape;163;g371b2c4d255_2_7"/>
          <p:cNvSpPr txBox="1"/>
          <p:nvPr>
            <p:ph type="title"/>
          </p:nvPr>
        </p:nvSpPr>
        <p:spPr>
          <a:xfrm>
            <a:off x="4719800" y="709050"/>
            <a:ext cx="858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目標</a:t>
            </a:r>
            <a:endParaRPr/>
          </a:p>
        </p:txBody>
      </p:sp>
      <p:sp>
        <p:nvSpPr>
          <p:cNvPr id="164" name="Google Shape;164;g371b2c4d255_2_7"/>
          <p:cNvSpPr txBox="1"/>
          <p:nvPr>
            <p:ph idx="2" type="body"/>
          </p:nvPr>
        </p:nvSpPr>
        <p:spPr>
          <a:xfrm>
            <a:off x="4402800" y="2411150"/>
            <a:ext cx="4741200" cy="1280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SzPts val="770"/>
              <a:buNone/>
              <a:defRPr sz="1400"/>
            </a:pPr>
            <a:r>
              <a:t>【目標1：支援方針の妥当性】</a:t>
            </a:r>
            <a:br/>
            <a:r>
              <a:t>評価用ケース（10〜20件）について、類似事例検索を行い、</a:t>
            </a:r>
            <a:br/>
            <a:r>
              <a:t>学生が「妥当な支援方針が含まれている」と判断した事例が</a:t>
            </a:r>
            <a:br/>
            <a:r>
              <a:t>上位3件以内に含まれる割合を70%以上とする。</a:t>
            </a:r>
            <a:br/>
            <a:br/>
            <a:r>
              <a:t>【目標2：類似事例検索の妥当性】</a:t>
            </a:r>
            <a:br/>
            <a:r>
              <a:t>評価用ケースについて、上位5件の検索結果のうち、</a:t>
            </a:r>
            <a:br/>
            <a:r>
              <a:t>学生が「状況が類似している」と判断した事例の</a:t>
            </a:r>
            <a:br/>
            <a:r>
              <a:t>割合の平均を60%以上とする。</a:t>
            </a:r>
            <a:endParaRPr sz="1600">
              <a:solidFill>
                <a:srgbClr val="000000"/>
              </a:solidFill>
              <a:latin typeface="Arial"/>
              <a:ea typeface="Arial"/>
              <a:cs typeface="Arial"/>
              <a:sym typeface="Arial"/>
            </a:endParaRPr>
          </a:p>
        </p:txBody>
      </p:sp>
      <p:sp>
        <p:nvSpPr>
          <p:cNvPr id="165" name="Google Shape;165;g371b2c4d255_2_7"/>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6</a:t>
            </a:r>
            <a:endParaRPr b="0" i="0" sz="2100" u="none" cap="none" strike="noStrike">
              <a:solidFill>
                <a:schemeClr val="accent1"/>
              </a:solidFill>
              <a:latin typeface="Lato"/>
              <a:ea typeface="Lato"/>
              <a:cs typeface="Lato"/>
              <a:sym typeface="Lato"/>
            </a:endParaRPr>
          </a:p>
        </p:txBody>
      </p:sp>
      <p:sp>
        <p:nvSpPr>
          <p:cNvPr id="166" name="Google Shape;166;g371b2c4d255_2_7"/>
          <p:cNvSpPr txBox="1"/>
          <p:nvPr/>
        </p:nvSpPr>
        <p:spPr>
          <a:xfrm>
            <a:off x="0" y="2497400"/>
            <a:ext cx="4402800" cy="1108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500"/>
              <a:buFont typeface="Arial"/>
              <a:buNone/>
            </a:pPr>
            <a:r>
              <a:rPr b="0" i="0" lang="ja" sz="1500" u="none" cap="none" strike="noStrike">
                <a:solidFill>
                  <a:schemeClr val="dk2"/>
                </a:solidFill>
                <a:latin typeface="Lato"/>
                <a:ea typeface="Lato"/>
                <a:cs typeface="Lato"/>
                <a:sym typeface="Lato"/>
              </a:rPr>
              <a:t>関係職員がWEB上で対象者の情報や</a:t>
            </a:r>
            <a:endParaRPr b="0" i="0" sz="1500" u="none" cap="none" strike="noStrike">
              <a:solidFill>
                <a:schemeClr val="dk2"/>
              </a:solidFill>
              <a:latin typeface="Lato"/>
              <a:ea typeface="Lato"/>
              <a:cs typeface="Lato"/>
              <a:sym typeface="Lato"/>
            </a:endParaRPr>
          </a:p>
          <a:p>
            <a:pPr indent="0" lvl="0" marL="0" marR="0" rtl="0" algn="l">
              <a:lnSpc>
                <a:spcPct val="100000"/>
              </a:lnSpc>
              <a:spcBef>
                <a:spcPts val="0"/>
              </a:spcBef>
              <a:spcAft>
                <a:spcPts val="0"/>
              </a:spcAft>
              <a:buClr>
                <a:srgbClr val="000000"/>
              </a:buClr>
              <a:buSzPts val="1500"/>
              <a:buFont typeface="Arial"/>
              <a:buNone/>
            </a:pPr>
            <a:r>
              <a:rPr b="0" i="0" lang="ja" sz="1500" u="none" cap="none" strike="noStrike">
                <a:solidFill>
                  <a:schemeClr val="dk2"/>
                </a:solidFill>
                <a:latin typeface="Lato"/>
                <a:ea typeface="Lato"/>
                <a:cs typeface="Lato"/>
                <a:sym typeface="Lato"/>
              </a:rPr>
              <a:t>支援履歴を記録・共有できる環境の整備および、</a:t>
            </a:r>
            <a:endParaRPr b="0" i="0" sz="1500" u="none" cap="none" strike="noStrike">
              <a:solidFill>
                <a:schemeClr val="dk2"/>
              </a:solidFill>
              <a:latin typeface="Lato"/>
              <a:ea typeface="Lato"/>
              <a:cs typeface="Lato"/>
              <a:sym typeface="Lato"/>
            </a:endParaRPr>
          </a:p>
          <a:p>
            <a:pPr indent="0" lvl="0" marL="0" marR="0" rtl="0" algn="l">
              <a:lnSpc>
                <a:spcPct val="100000"/>
              </a:lnSpc>
              <a:spcBef>
                <a:spcPts val="0"/>
              </a:spcBef>
              <a:spcAft>
                <a:spcPts val="0"/>
              </a:spcAft>
              <a:buClr>
                <a:srgbClr val="000000"/>
              </a:buClr>
              <a:buSzPts val="1500"/>
              <a:buFont typeface="Arial"/>
              <a:buNone/>
            </a:pPr>
            <a:r>
              <a:rPr b="0" i="0" lang="ja" sz="1500" u="none" cap="none" strike="noStrike">
                <a:solidFill>
                  <a:schemeClr val="dk2"/>
                </a:solidFill>
                <a:latin typeface="Lato"/>
                <a:ea typeface="Lato"/>
                <a:cs typeface="Lato"/>
                <a:sym typeface="Lato"/>
              </a:rPr>
              <a:t>効率的な支援方針の立案を援助するシステムの</a:t>
            </a:r>
            <a:endParaRPr b="0" i="0" sz="1500" u="none" cap="none" strike="noStrike">
              <a:solidFill>
                <a:schemeClr val="dk2"/>
              </a:solidFill>
              <a:latin typeface="Lato"/>
              <a:ea typeface="Lato"/>
              <a:cs typeface="Lato"/>
              <a:sym typeface="Lato"/>
            </a:endParaRPr>
          </a:p>
          <a:p>
            <a:pPr indent="0" lvl="0" marL="0" marR="0" rtl="0" algn="l">
              <a:lnSpc>
                <a:spcPct val="100000"/>
              </a:lnSpc>
              <a:spcBef>
                <a:spcPts val="0"/>
              </a:spcBef>
              <a:spcAft>
                <a:spcPts val="0"/>
              </a:spcAft>
              <a:buClr>
                <a:srgbClr val="000000"/>
              </a:buClr>
              <a:buSzPts val="1500"/>
              <a:buFont typeface="Arial"/>
              <a:buNone/>
            </a:pPr>
            <a:r>
              <a:rPr b="0" i="0" lang="ja" sz="1500" u="none" cap="none" strike="noStrike">
                <a:solidFill>
                  <a:schemeClr val="dk2"/>
                </a:solidFill>
                <a:latin typeface="Lato"/>
                <a:ea typeface="Lato"/>
                <a:cs typeface="Lato"/>
                <a:sym typeface="Lato"/>
              </a:rPr>
              <a:t>構築をする。</a:t>
            </a:r>
            <a:endParaRPr b="0" i="0" sz="1500" u="none" cap="none" strike="noStrike">
              <a:solidFill>
                <a:schemeClr val="dk2"/>
              </a:solidFill>
              <a:latin typeface="Lato"/>
              <a:ea typeface="Lato"/>
              <a:cs typeface="Lato"/>
              <a:sym typeface="Lato"/>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g371b2c4d255_2_81"/>
          <p:cNvSpPr txBox="1"/>
          <p:nvPr>
            <p:ph type="title"/>
          </p:nvPr>
        </p:nvSpPr>
        <p:spPr>
          <a:xfrm>
            <a:off x="117725" y="667075"/>
            <a:ext cx="3861000" cy="5352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rgbClr val="000000"/>
              </a:buClr>
              <a:buSzPts val="2070"/>
              <a:buFont typeface="Arial"/>
              <a:buNone/>
            </a:pPr>
            <a:r>
              <a:rPr lang="ja" sz="2400">
                <a:latin typeface="Lato"/>
                <a:ea typeface="Lato"/>
                <a:cs typeface="Lato"/>
                <a:sym typeface="Lato"/>
              </a:rPr>
              <a:t>顧客の現在の顧客分析</a:t>
            </a:r>
            <a:endParaRPr sz="2400"/>
          </a:p>
        </p:txBody>
      </p:sp>
      <p:pic>
        <p:nvPicPr>
          <p:cNvPr id="172" name="Google Shape;172;g371b2c4d255_2_81"/>
          <p:cNvPicPr preferRelativeResize="0"/>
          <p:nvPr/>
        </p:nvPicPr>
        <p:blipFill rotWithShape="1">
          <a:blip r:embed="rId3">
            <a:alphaModFix/>
          </a:blip>
          <a:srcRect b="0" l="0" r="0" t="0"/>
          <a:stretch/>
        </p:blipFill>
        <p:spPr>
          <a:xfrm>
            <a:off x="0" y="1271350"/>
            <a:ext cx="9144001" cy="3872150"/>
          </a:xfrm>
          <a:prstGeom prst="rect">
            <a:avLst/>
          </a:prstGeom>
          <a:noFill/>
          <a:ln>
            <a:noFill/>
          </a:ln>
        </p:spPr>
      </p:pic>
      <p:sp>
        <p:nvSpPr>
          <p:cNvPr id="173" name="Google Shape;173;g371b2c4d255_2_81"/>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7</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98e3b8d10d_4_0"/>
          <p:cNvSpPr txBox="1"/>
          <p:nvPr>
            <p:ph type="title"/>
          </p:nvPr>
        </p:nvSpPr>
        <p:spPr>
          <a:xfrm>
            <a:off x="117725" y="667075"/>
            <a:ext cx="3861000" cy="5352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rgbClr val="000000"/>
              </a:buClr>
              <a:buSzPts val="2070"/>
              <a:buFont typeface="Arial"/>
              <a:buNone/>
            </a:pPr>
            <a:r>
              <a:rPr lang="ja" sz="2400">
                <a:latin typeface="Lato"/>
                <a:ea typeface="Lato"/>
                <a:cs typeface="Lato"/>
                <a:sym typeface="Lato"/>
              </a:rPr>
              <a:t>顧客の現在の顧客分析</a:t>
            </a:r>
            <a:endParaRPr sz="2400"/>
          </a:p>
        </p:txBody>
      </p:sp>
      <p:sp>
        <p:nvSpPr>
          <p:cNvPr id="179" name="Google Shape;179;g398e3b8d10d_4_0"/>
          <p:cNvSpPr txBox="1"/>
          <p:nvPr/>
        </p:nvSpPr>
        <p:spPr>
          <a:xfrm>
            <a:off x="270900" y="2157800"/>
            <a:ext cx="8602200" cy="14115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0"/>
              </a:spcBef>
              <a:spcAft>
                <a:spcPts val="0"/>
              </a:spcAft>
              <a:buClr>
                <a:srgbClr val="000000"/>
              </a:buClr>
              <a:buSzPts val="1600"/>
              <a:buFont typeface="Arial"/>
              <a:buNone/>
            </a:pPr>
            <a:r>
              <a:rPr b="0" i="0" lang="ja" sz="1600" u="none" cap="none" strike="noStrike">
                <a:solidFill>
                  <a:srgbClr val="1A1A1A"/>
                </a:solidFill>
                <a:latin typeface="Lato"/>
                <a:ea typeface="Lato"/>
                <a:cs typeface="Lato"/>
                <a:sym typeface="Lato"/>
              </a:rPr>
              <a:t>現状の課題としては、各アセスメントシートを個々のExcelファイルで記録しており、</a:t>
            </a:r>
            <a:endParaRPr b="0" i="0" sz="1600" u="none" cap="none" strike="noStrike">
              <a:solidFill>
                <a:srgbClr val="1A1A1A"/>
              </a:solidFill>
              <a:latin typeface="Lato"/>
              <a:ea typeface="Lato"/>
              <a:cs typeface="Lato"/>
              <a:sym typeface="Lato"/>
            </a:endParaRPr>
          </a:p>
          <a:p>
            <a:pPr indent="0" lvl="0" marL="0" marR="0" rtl="0" algn="l">
              <a:lnSpc>
                <a:spcPct val="115000"/>
              </a:lnSpc>
              <a:spcBef>
                <a:spcPts val="0"/>
              </a:spcBef>
              <a:spcAft>
                <a:spcPts val="0"/>
              </a:spcAft>
              <a:buClr>
                <a:srgbClr val="000000"/>
              </a:buClr>
              <a:buSzPts val="1600"/>
              <a:buFont typeface="Arial"/>
              <a:buNone/>
            </a:pPr>
            <a:r>
              <a:rPr b="0" i="0" lang="ja" sz="1600" u="none" cap="none" strike="noStrike">
                <a:solidFill>
                  <a:srgbClr val="1A1A1A"/>
                </a:solidFill>
                <a:latin typeface="Lato"/>
                <a:ea typeface="Lato"/>
                <a:cs typeface="Lato"/>
                <a:sym typeface="Lato"/>
              </a:rPr>
              <a:t>担当者間での情報共有や更新履歴の管理が複雑になっている点が挙げられる。</a:t>
            </a:r>
            <a:endParaRPr b="0" i="0" sz="1600" u="none" cap="none" strike="noStrike">
              <a:solidFill>
                <a:srgbClr val="1A1A1A"/>
              </a:solidFill>
              <a:latin typeface="Lato"/>
              <a:ea typeface="Lato"/>
              <a:cs typeface="Lato"/>
              <a:sym typeface="Lato"/>
            </a:endParaRPr>
          </a:p>
          <a:p>
            <a:pPr indent="0" lvl="0" marL="0" marR="0" rtl="0" algn="l">
              <a:lnSpc>
                <a:spcPct val="115000"/>
              </a:lnSpc>
              <a:spcBef>
                <a:spcPts val="0"/>
              </a:spcBef>
              <a:spcAft>
                <a:spcPts val="0"/>
              </a:spcAft>
              <a:buClr>
                <a:srgbClr val="000000"/>
              </a:buClr>
              <a:buSzPts val="700"/>
              <a:buFont typeface="Arial"/>
              <a:buNone/>
            </a:pPr>
            <a:r>
              <a:t/>
            </a:r>
            <a:endParaRPr b="0" i="0" sz="700" u="none" cap="none" strike="noStrike">
              <a:solidFill>
                <a:srgbClr val="1A1A1A"/>
              </a:solidFill>
              <a:latin typeface="Lato"/>
              <a:ea typeface="Lato"/>
              <a:cs typeface="Lato"/>
              <a:sym typeface="Lato"/>
            </a:endParaRPr>
          </a:p>
          <a:p>
            <a:pPr indent="0" lvl="0" marL="0" marR="0" rtl="0" algn="l">
              <a:lnSpc>
                <a:spcPct val="115000"/>
              </a:lnSpc>
              <a:spcBef>
                <a:spcPts val="0"/>
              </a:spcBef>
              <a:spcAft>
                <a:spcPts val="0"/>
              </a:spcAft>
              <a:buClr>
                <a:srgbClr val="000000"/>
              </a:buClr>
              <a:buSzPts val="1600"/>
              <a:buFont typeface="Arial"/>
              <a:buNone/>
            </a:pPr>
            <a:r>
              <a:rPr b="0" i="0" lang="ja" sz="1600" u="none" cap="none" strike="noStrike">
                <a:solidFill>
                  <a:srgbClr val="1A1A1A"/>
                </a:solidFill>
                <a:latin typeface="Lato"/>
                <a:ea typeface="Lato"/>
                <a:cs typeface="Lato"/>
                <a:sym typeface="Lato"/>
              </a:rPr>
              <a:t>また、同一対象者に関する記録が複数のファイルに分散しているため、</a:t>
            </a:r>
            <a:endParaRPr b="0" i="0" sz="1600" u="none" cap="none" strike="noStrike">
              <a:solidFill>
                <a:srgbClr val="1A1A1A"/>
              </a:solidFill>
              <a:latin typeface="Lato"/>
              <a:ea typeface="Lato"/>
              <a:cs typeface="Lato"/>
              <a:sym typeface="Lato"/>
            </a:endParaRPr>
          </a:p>
          <a:p>
            <a:pPr indent="0" lvl="0" marL="0" marR="0" rtl="0" algn="l">
              <a:lnSpc>
                <a:spcPct val="115000"/>
              </a:lnSpc>
              <a:spcBef>
                <a:spcPts val="0"/>
              </a:spcBef>
              <a:spcAft>
                <a:spcPts val="0"/>
              </a:spcAft>
              <a:buClr>
                <a:srgbClr val="000000"/>
              </a:buClr>
              <a:buSzPts val="1600"/>
              <a:buFont typeface="Arial"/>
              <a:buNone/>
            </a:pPr>
            <a:r>
              <a:rPr b="0" i="0" lang="ja" sz="1600" u="none" cap="none" strike="noStrike">
                <a:solidFill>
                  <a:srgbClr val="1A1A1A"/>
                </a:solidFill>
                <a:latin typeface="Lato"/>
                <a:ea typeface="Lato"/>
                <a:cs typeface="Lato"/>
                <a:sym typeface="Lato"/>
              </a:rPr>
              <a:t>支援経過を一目で把握することが難しく、チーム内での支援方針の統一にも手間がかかる。</a:t>
            </a:r>
            <a:endParaRPr b="0" i="0" sz="1600" u="none" cap="none" strike="noStrike">
              <a:solidFill>
                <a:srgbClr val="1A1A1A"/>
              </a:solidFill>
              <a:latin typeface="Lato"/>
              <a:ea typeface="Lato"/>
              <a:cs typeface="Lato"/>
              <a:sym typeface="Lato"/>
            </a:endParaRPr>
          </a:p>
        </p:txBody>
      </p:sp>
      <p:sp>
        <p:nvSpPr>
          <p:cNvPr id="180" name="Google Shape;180;g398e3b8d10d_4_0"/>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8</a:t>
            </a:r>
            <a:endParaRPr b="0" i="0" sz="2100" u="none" cap="none" strike="noStrike">
              <a:solidFill>
                <a:schemeClr val="accent1"/>
              </a:solidFill>
              <a:latin typeface="Lato"/>
              <a:ea typeface="Lato"/>
              <a:cs typeface="Lato"/>
              <a:sym typeface="Lato"/>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g36dcb7c9b5f_0_76"/>
          <p:cNvSpPr txBox="1"/>
          <p:nvPr/>
        </p:nvSpPr>
        <p:spPr>
          <a:xfrm>
            <a:off x="343425" y="356475"/>
            <a:ext cx="8878200" cy="4734300"/>
          </a:xfrm>
          <a:prstGeom prst="rect">
            <a:avLst/>
          </a:prstGeom>
          <a:noFill/>
          <a:ln>
            <a:noFill/>
          </a:ln>
        </p:spPr>
        <p:txBody>
          <a:bodyPr anchorCtr="0" anchor="t" bIns="91425" lIns="91425" spcFirstLastPara="1" rIns="91425" wrap="square" tIns="91425">
            <a:noAutofit/>
          </a:bodyPr>
          <a:lstStyle/>
          <a:p>
            <a:pPr indent="0" lvl="0" marL="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対象者の出現 </a:t>
            </a:r>
            <a:endParaRPr b="1"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・本人、家族からの相談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・かかりつけ医、薬局、認知症サポーター、民生委員等からの相談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対象者の把握</a:t>
            </a:r>
            <a:r>
              <a:rPr b="0" i="0" lang="ja" sz="1107" u="none" cap="none" strike="noStrike">
                <a:solidFill>
                  <a:srgbClr val="1A1A1A"/>
                </a:solidFill>
                <a:latin typeface="Lato"/>
                <a:ea typeface="Lato"/>
                <a:cs typeface="Lato"/>
                <a:sym typeface="Lato"/>
              </a:rPr>
              <a:t>・・・基幹型地域包括支援センター（高齢福祉介護課）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・最初の相談先は地域包括支援センター、民生委員等様々であるが、最終的には上記で把握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対象者の状態把握</a:t>
            </a:r>
            <a:r>
              <a:rPr b="0" i="0" lang="ja" sz="1107" u="none" cap="none" strike="noStrike">
                <a:solidFill>
                  <a:srgbClr val="1A1A1A"/>
                </a:solidFill>
                <a:latin typeface="Lato"/>
                <a:ea typeface="Lato"/>
                <a:cs typeface="Lato"/>
                <a:sym typeface="Lato"/>
              </a:rPr>
              <a:t>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・基幹型地域包括支援センター職員、高齢福祉介護課保健師、地域包括支援センター職員 等２名程度で対象</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     宅を訪問し、状態を把握 </a:t>
            </a:r>
            <a:endParaRPr b="0" i="0" sz="1107" u="none" cap="none" strike="noStrike">
              <a:solidFill>
                <a:srgbClr val="1A1A1A"/>
              </a:solidFill>
              <a:latin typeface="Lato"/>
              <a:ea typeface="Lato"/>
              <a:cs typeface="Lato"/>
              <a:sym typeface="Lato"/>
            </a:endParaRPr>
          </a:p>
          <a:p>
            <a:pPr indent="457200" lvl="0" marL="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・状態を把握しアセスメント（支援チームの活動が必要か、他のサービスに直接結びつけ ることが望ましいか等） </a:t>
            </a:r>
            <a:endParaRPr b="0" i="0" sz="1107" u="none" cap="none" strike="noStrike">
              <a:solidFill>
                <a:srgbClr val="1A1A1A"/>
              </a:solidFill>
              <a:latin typeface="Lato"/>
              <a:ea typeface="Lato"/>
              <a:cs typeface="Lato"/>
              <a:sym typeface="Lato"/>
            </a:endParaRPr>
          </a:p>
          <a:p>
            <a:pPr indent="457200" lvl="0" marL="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支援チームによる検討</a:t>
            </a:r>
            <a:r>
              <a:rPr b="0" i="0" lang="ja" sz="1107" u="none" cap="none" strike="noStrike">
                <a:solidFill>
                  <a:srgbClr val="1A1A1A"/>
                </a:solidFill>
                <a:latin typeface="Lato"/>
                <a:ea typeface="Lato"/>
                <a:cs typeface="Lato"/>
                <a:sym typeface="Lato"/>
              </a:rPr>
              <a:t>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・支援チームによるケースカンファレンス（支援方法方針の決定）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・対象者の状態によっては、支援チームでの検討は省き、直接、支援チームによる訪問の 実施となる。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支援チーム員による訪問 </a:t>
            </a:r>
            <a:endParaRPr b="1"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・対象者への支援開始、支援方針の決定を行う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・対象者の状態により訪問回数は決定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・支援方針によっては他の関係者への支援依頼を行う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支援チーム、関係者による検討 </a:t>
            </a:r>
            <a:endParaRPr b="1"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・支援チーム及び関係者によるケースカンファレンス（支援チームでの支援終了後の決定）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・ケースカンファレンスに基づき、必要な関係者への継続支援の依頼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・支援期間は対象者に適切なサービスが導入できるまでの期間または概ね６か月以内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対象者に適切なサービスが導入される</a:t>
            </a:r>
            <a:endParaRPr b="1" i="0" sz="1107" u="none" cap="none" strike="noStrike">
              <a:solidFill>
                <a:srgbClr val="1A1A1A"/>
              </a:solidFill>
              <a:latin typeface="Lato"/>
              <a:ea typeface="Lato"/>
              <a:cs typeface="Lato"/>
              <a:sym typeface="Lato"/>
            </a:endParaRPr>
          </a:p>
        </p:txBody>
      </p:sp>
      <p:cxnSp>
        <p:nvCxnSpPr>
          <p:cNvPr id="186" name="Google Shape;186;g36dcb7c9b5f_0_76"/>
          <p:cNvCxnSpPr/>
          <p:nvPr/>
        </p:nvCxnSpPr>
        <p:spPr>
          <a:xfrm>
            <a:off x="657150" y="3510225"/>
            <a:ext cx="0" cy="209400"/>
          </a:xfrm>
          <a:prstGeom prst="straightConnector1">
            <a:avLst/>
          </a:prstGeom>
          <a:noFill/>
          <a:ln cap="flat" cmpd="sng" w="9525">
            <a:solidFill>
              <a:schemeClr val="dk2"/>
            </a:solidFill>
            <a:prstDash val="solid"/>
            <a:round/>
            <a:headEnd len="sm" w="sm" type="none"/>
            <a:tailEnd len="med" w="med" type="triangle"/>
          </a:ln>
        </p:spPr>
      </p:cxnSp>
      <p:cxnSp>
        <p:nvCxnSpPr>
          <p:cNvPr id="187" name="Google Shape;187;g36dcb7c9b5f_0_76"/>
          <p:cNvCxnSpPr/>
          <p:nvPr/>
        </p:nvCxnSpPr>
        <p:spPr>
          <a:xfrm>
            <a:off x="657150" y="899200"/>
            <a:ext cx="0" cy="209400"/>
          </a:xfrm>
          <a:prstGeom prst="straightConnector1">
            <a:avLst/>
          </a:prstGeom>
          <a:noFill/>
          <a:ln cap="flat" cmpd="sng" w="9525">
            <a:solidFill>
              <a:srgbClr val="1A1A1A"/>
            </a:solidFill>
            <a:prstDash val="solid"/>
            <a:round/>
            <a:headEnd len="sm" w="sm" type="none"/>
            <a:tailEnd len="med" w="med" type="triangle"/>
          </a:ln>
        </p:spPr>
      </p:cxnSp>
      <p:cxnSp>
        <p:nvCxnSpPr>
          <p:cNvPr id="188" name="Google Shape;188;g36dcb7c9b5f_0_76"/>
          <p:cNvCxnSpPr/>
          <p:nvPr/>
        </p:nvCxnSpPr>
        <p:spPr>
          <a:xfrm>
            <a:off x="657150" y="1446738"/>
            <a:ext cx="0" cy="209400"/>
          </a:xfrm>
          <a:prstGeom prst="straightConnector1">
            <a:avLst/>
          </a:prstGeom>
          <a:noFill/>
          <a:ln cap="flat" cmpd="sng" w="9525">
            <a:solidFill>
              <a:srgbClr val="1A1A1A"/>
            </a:solidFill>
            <a:prstDash val="solid"/>
            <a:round/>
            <a:headEnd len="sm" w="sm" type="none"/>
            <a:tailEnd len="med" w="med" type="triangle"/>
          </a:ln>
        </p:spPr>
      </p:cxnSp>
      <p:cxnSp>
        <p:nvCxnSpPr>
          <p:cNvPr id="189" name="Google Shape;189;g36dcb7c9b5f_0_76"/>
          <p:cNvCxnSpPr/>
          <p:nvPr/>
        </p:nvCxnSpPr>
        <p:spPr>
          <a:xfrm>
            <a:off x="657150" y="4307225"/>
            <a:ext cx="0" cy="209400"/>
          </a:xfrm>
          <a:prstGeom prst="straightConnector1">
            <a:avLst/>
          </a:prstGeom>
          <a:noFill/>
          <a:ln cap="flat" cmpd="sng" w="9525">
            <a:solidFill>
              <a:srgbClr val="1A1A1A"/>
            </a:solidFill>
            <a:prstDash val="solid"/>
            <a:round/>
            <a:headEnd len="sm" w="sm" type="none"/>
            <a:tailEnd len="med" w="med" type="triangle"/>
          </a:ln>
        </p:spPr>
      </p:cxnSp>
      <p:sp>
        <p:nvSpPr>
          <p:cNvPr id="190" name="Google Shape;190;g36dcb7c9b5f_0_76"/>
          <p:cNvSpPr txBox="1"/>
          <p:nvPr/>
        </p:nvSpPr>
        <p:spPr>
          <a:xfrm>
            <a:off x="1668225" y="159875"/>
            <a:ext cx="7096500" cy="354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100"/>
              <a:buFont typeface="Arial"/>
              <a:buNone/>
            </a:pPr>
            <a:r>
              <a:rPr b="0" i="0" lang="ja" sz="1100" u="none" cap="none" strike="noStrike">
                <a:solidFill>
                  <a:srgbClr val="000000"/>
                </a:solidFill>
                <a:latin typeface="Arial"/>
                <a:ea typeface="Arial"/>
                <a:cs typeface="Arial"/>
                <a:sym typeface="Arial"/>
              </a:rPr>
              <a:t>参考元： </a:t>
            </a:r>
            <a:r>
              <a:rPr b="0" i="0" lang="ja" sz="1100" u="sng" cap="none" strike="noStrike">
                <a:solidFill>
                  <a:schemeClr val="hlink"/>
                </a:solidFill>
                <a:latin typeface="Arial"/>
                <a:ea typeface="Arial"/>
                <a:cs typeface="Arial"/>
                <a:sym typeface="Arial"/>
                <a:hlinkClick r:id="rId3"/>
              </a:rPr>
              <a:t>https://www.city.chigasaki.kanagawa.jp/_res/projects/default_project/_page_/001/010/988/120312.pdf</a:t>
            </a:r>
            <a:endParaRPr b="0" i="0" sz="1100" u="none" cap="none" strike="noStrike">
              <a:solidFill>
                <a:srgbClr val="1C3678"/>
              </a:solidFill>
              <a:latin typeface="Arial"/>
              <a:ea typeface="Arial"/>
              <a:cs typeface="Arial"/>
              <a:sym typeface="Arial"/>
            </a:endParaRPr>
          </a:p>
        </p:txBody>
      </p:sp>
      <p:cxnSp>
        <p:nvCxnSpPr>
          <p:cNvPr id="191" name="Google Shape;191;g36dcb7c9b5f_0_76"/>
          <p:cNvCxnSpPr/>
          <p:nvPr/>
        </p:nvCxnSpPr>
        <p:spPr>
          <a:xfrm>
            <a:off x="657150" y="2787875"/>
            <a:ext cx="0" cy="209400"/>
          </a:xfrm>
          <a:prstGeom prst="straightConnector1">
            <a:avLst/>
          </a:prstGeom>
          <a:noFill/>
          <a:ln cap="flat" cmpd="sng" w="9525">
            <a:solidFill>
              <a:schemeClr val="dk2"/>
            </a:solidFill>
            <a:prstDash val="solid"/>
            <a:round/>
            <a:headEnd len="sm" w="sm" type="none"/>
            <a:tailEnd len="med" w="med" type="triangle"/>
          </a:ln>
        </p:spPr>
      </p:cxnSp>
      <p:cxnSp>
        <p:nvCxnSpPr>
          <p:cNvPr id="192" name="Google Shape;192;g36dcb7c9b5f_0_76"/>
          <p:cNvCxnSpPr/>
          <p:nvPr/>
        </p:nvCxnSpPr>
        <p:spPr>
          <a:xfrm>
            <a:off x="657150" y="2078500"/>
            <a:ext cx="0" cy="209400"/>
          </a:xfrm>
          <a:prstGeom prst="straightConnector1">
            <a:avLst/>
          </a:prstGeom>
          <a:noFill/>
          <a:ln cap="flat" cmpd="sng" w="9525">
            <a:solidFill>
              <a:schemeClr val="dk2"/>
            </a:solidFill>
            <a:prstDash val="solid"/>
            <a:round/>
            <a:headEnd len="sm" w="sm" type="none"/>
            <a:tailEnd len="med" w="med" type="triangle"/>
          </a:ln>
        </p:spPr>
      </p:cxnSp>
      <p:sp>
        <p:nvSpPr>
          <p:cNvPr id="193" name="Google Shape;193;g36dcb7c9b5f_0_76"/>
          <p:cNvSpPr txBox="1"/>
          <p:nvPr/>
        </p:nvSpPr>
        <p:spPr>
          <a:xfrm>
            <a:off x="60225" y="116725"/>
            <a:ext cx="1608000" cy="291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ja" sz="1500" u="none" cap="none" strike="noStrike">
                <a:solidFill>
                  <a:srgbClr val="1A1A1A"/>
                </a:solidFill>
                <a:latin typeface="Lato"/>
                <a:ea typeface="Lato"/>
                <a:cs typeface="Lato"/>
                <a:sym typeface="Lato"/>
              </a:rPr>
              <a:t>【支援の流れ】</a:t>
            </a:r>
            <a:endParaRPr b="0" i="0" sz="1500" u="none" cap="none" strike="noStrike">
              <a:solidFill>
                <a:srgbClr val="1A1A1A"/>
              </a:solidFill>
              <a:latin typeface="Lato"/>
              <a:ea typeface="Lato"/>
              <a:cs typeface="Lato"/>
              <a:sym typeface="Lato"/>
            </a:endParaRPr>
          </a:p>
        </p:txBody>
      </p:sp>
      <p:sp>
        <p:nvSpPr>
          <p:cNvPr id="194" name="Google Shape;194;g36dcb7c9b5f_0_76"/>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9</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g38ded9f09c7_2_28"/>
          <p:cNvSpPr txBox="1"/>
          <p:nvPr>
            <p:ph type="title"/>
          </p:nvPr>
        </p:nvSpPr>
        <p:spPr>
          <a:xfrm>
            <a:off x="277500" y="682075"/>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改善後の業務内容</a:t>
            </a:r>
            <a:endParaRPr/>
          </a:p>
        </p:txBody>
      </p:sp>
      <p:sp>
        <p:nvSpPr>
          <p:cNvPr id="200" name="Google Shape;200;g38ded9f09c7_2_28"/>
          <p:cNvSpPr/>
          <p:nvPr/>
        </p:nvSpPr>
        <p:spPr>
          <a:xfrm>
            <a:off x="569325" y="3524725"/>
            <a:ext cx="33900" cy="714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Lato"/>
              <a:ea typeface="Lato"/>
              <a:cs typeface="Lato"/>
              <a:sym typeface="Lato"/>
            </a:endParaRPr>
          </a:p>
        </p:txBody>
      </p:sp>
      <p:sp>
        <p:nvSpPr>
          <p:cNvPr id="201" name="Google Shape;201;g38ded9f09c7_2_28"/>
          <p:cNvSpPr/>
          <p:nvPr/>
        </p:nvSpPr>
        <p:spPr>
          <a:xfrm>
            <a:off x="1024700" y="1610225"/>
            <a:ext cx="52200" cy="1443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Lato"/>
              <a:ea typeface="Lato"/>
              <a:cs typeface="Lato"/>
              <a:sym typeface="Lato"/>
            </a:endParaRPr>
          </a:p>
        </p:txBody>
      </p:sp>
      <p:pic>
        <p:nvPicPr>
          <p:cNvPr id="202" name="Google Shape;202;g38ded9f09c7_2_28"/>
          <p:cNvPicPr preferRelativeResize="0"/>
          <p:nvPr/>
        </p:nvPicPr>
        <p:blipFill rotWithShape="1">
          <a:blip r:embed="rId3">
            <a:alphaModFix/>
          </a:blip>
          <a:srcRect b="0" l="0" r="0" t="0"/>
          <a:stretch/>
        </p:blipFill>
        <p:spPr>
          <a:xfrm>
            <a:off x="0" y="1289675"/>
            <a:ext cx="9144001" cy="3853825"/>
          </a:xfrm>
          <a:prstGeom prst="rect">
            <a:avLst/>
          </a:prstGeom>
          <a:noFill/>
          <a:ln>
            <a:noFill/>
          </a:ln>
        </p:spPr>
      </p:pic>
      <p:sp>
        <p:nvSpPr>
          <p:cNvPr id="203" name="Google Shape;203;g38ded9f09c7_2_28"/>
          <p:cNvSpPr txBox="1"/>
          <p:nvPr/>
        </p:nvSpPr>
        <p:spPr>
          <a:xfrm>
            <a:off x="8633375" y="4632900"/>
            <a:ext cx="5346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10</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g394f1a9a3dc_0_17"/>
          <p:cNvSpPr txBox="1"/>
          <p:nvPr>
            <p:ph type="title"/>
          </p:nvPr>
        </p:nvSpPr>
        <p:spPr>
          <a:xfrm>
            <a:off x="277500" y="682075"/>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改善後の業務内容</a:t>
            </a:r>
            <a:endParaRPr/>
          </a:p>
        </p:txBody>
      </p:sp>
      <p:sp>
        <p:nvSpPr>
          <p:cNvPr id="209" name="Google Shape;209;g394f1a9a3dc_0_17"/>
          <p:cNvSpPr txBox="1"/>
          <p:nvPr/>
        </p:nvSpPr>
        <p:spPr>
          <a:xfrm>
            <a:off x="759000" y="1808675"/>
            <a:ext cx="7626000" cy="2747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・訪問記録表 , 身体状況チェック表 , DASC-21, DBD13などのアセスメント</a:t>
            </a:r>
            <a:endParaRPr b="0" i="0" sz="17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　シートをシステムで記録し、Excelに転記した後ファイルを共有</a:t>
            </a:r>
            <a:endParaRPr b="0" i="0" sz="17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t/>
            </a:r>
            <a:endParaRPr b="0" i="0" sz="3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　→対象者ごとに各アセスメントシートをシステム上で一覧して編集し</a:t>
            </a:r>
            <a:endParaRPr b="0" i="0" sz="17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　　共有することができ、情報の一元管理が容易になる。</a:t>
            </a:r>
            <a:endParaRPr b="0" i="0" sz="23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t/>
            </a:r>
            <a:endParaRPr b="0" i="0" sz="22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・テキストマイニングによる支援方針提案もとに支援方針を決定</a:t>
            </a:r>
            <a:endParaRPr b="0" i="0" sz="17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t/>
            </a:r>
            <a:endParaRPr b="0" i="0" sz="3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　→過去の類似事例を自動的に抽出でき</a:t>
            </a:r>
            <a:endParaRPr b="0" i="0" sz="17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　　職員が支援方針の立案を容易にできるようになる。</a:t>
            </a:r>
            <a:endParaRPr b="0" i="0" sz="1700" u="none" cap="none" strike="noStrike">
              <a:solidFill>
                <a:srgbClr val="000000"/>
              </a:solidFill>
              <a:latin typeface="Arial"/>
              <a:ea typeface="Arial"/>
              <a:cs typeface="Arial"/>
              <a:sym typeface="Arial"/>
            </a:endParaRPr>
          </a:p>
        </p:txBody>
      </p:sp>
      <p:sp>
        <p:nvSpPr>
          <p:cNvPr id="210" name="Google Shape;210;g394f1a9a3dc_0_17"/>
          <p:cNvSpPr/>
          <p:nvPr/>
        </p:nvSpPr>
        <p:spPr>
          <a:xfrm>
            <a:off x="569325" y="3524725"/>
            <a:ext cx="33900" cy="714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Lato"/>
              <a:ea typeface="Lato"/>
              <a:cs typeface="Lato"/>
              <a:sym typeface="Lato"/>
            </a:endParaRPr>
          </a:p>
        </p:txBody>
      </p:sp>
      <p:sp>
        <p:nvSpPr>
          <p:cNvPr id="211" name="Google Shape;211;g394f1a9a3dc_0_17"/>
          <p:cNvSpPr txBox="1"/>
          <p:nvPr/>
        </p:nvSpPr>
        <p:spPr>
          <a:xfrm>
            <a:off x="8626550" y="4632900"/>
            <a:ext cx="5415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11</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g39b037d6f7e_4_4"/>
          <p:cNvSpPr txBox="1"/>
          <p:nvPr>
            <p:ph type="title"/>
          </p:nvPr>
        </p:nvSpPr>
        <p:spPr>
          <a:xfrm>
            <a:off x="729325" y="643700"/>
            <a:ext cx="3774300" cy="5352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990"/>
              <a:buNone/>
            </a:pPr>
            <a:r>
              <a:rPr lang="ja" sz="2140"/>
              <a:t>DASC-21とは</a:t>
            </a:r>
            <a:endParaRPr sz="2140"/>
          </a:p>
        </p:txBody>
      </p:sp>
      <p:sp>
        <p:nvSpPr>
          <p:cNvPr id="217" name="Google Shape;217;g39b037d6f7e_4_4"/>
          <p:cNvSpPr txBox="1"/>
          <p:nvPr>
            <p:ph idx="1" type="body"/>
          </p:nvPr>
        </p:nvSpPr>
        <p:spPr>
          <a:xfrm>
            <a:off x="0" y="1892950"/>
            <a:ext cx="4213800" cy="2438100"/>
          </a:xfrm>
          <a:prstGeom prst="rect">
            <a:avLst/>
          </a:prstGeom>
          <a:noFill/>
          <a:ln>
            <a:noFill/>
          </a:ln>
        </p:spPr>
        <p:txBody>
          <a:bodyPr anchorCtr="0" anchor="t" bIns="91425" lIns="91425" spcFirstLastPara="1" rIns="91425" wrap="square" tIns="91425">
            <a:spAutoFit/>
          </a:bodyPr>
          <a:lstStyle/>
          <a:p>
            <a:pPr indent="-311150" lvl="0" marL="457200" rtl="0" algn="l">
              <a:lnSpc>
                <a:spcPct val="115000"/>
              </a:lnSpc>
              <a:spcBef>
                <a:spcPts val="0"/>
              </a:spcBef>
              <a:spcAft>
                <a:spcPts val="0"/>
              </a:spcAft>
              <a:buClr>
                <a:srgbClr val="1A1A1A"/>
              </a:buClr>
              <a:buSzPts val="1300"/>
              <a:buChar char="●"/>
            </a:pPr>
            <a:r>
              <a:rPr b="1" lang="ja">
                <a:solidFill>
                  <a:srgbClr val="1A1A1A"/>
                </a:solidFill>
              </a:rPr>
              <a:t>認知症の重症度</a:t>
            </a:r>
            <a:r>
              <a:rPr lang="ja">
                <a:solidFill>
                  <a:srgbClr val="1A1A1A"/>
                </a:solidFill>
              </a:rPr>
              <a:t>を</a:t>
            </a:r>
            <a:endParaRPr>
              <a:solidFill>
                <a:srgbClr val="1A1A1A"/>
              </a:solidFill>
            </a:endParaRPr>
          </a:p>
          <a:p>
            <a:pPr indent="0" lvl="0" marL="457200" rtl="0" algn="l">
              <a:lnSpc>
                <a:spcPct val="115000"/>
              </a:lnSpc>
              <a:spcBef>
                <a:spcPts val="0"/>
              </a:spcBef>
              <a:spcAft>
                <a:spcPts val="0"/>
              </a:spcAft>
              <a:buSzPts val="1300"/>
              <a:buNone/>
            </a:pPr>
            <a:r>
              <a:rPr lang="ja">
                <a:solidFill>
                  <a:srgbClr val="1A1A1A"/>
                </a:solidFill>
              </a:rPr>
              <a:t>評価するためのアセスメントシート</a:t>
            </a:r>
            <a:endParaRPr>
              <a:solidFill>
                <a:srgbClr val="1A1A1A"/>
              </a:solidFill>
            </a:endParaRPr>
          </a:p>
          <a:p>
            <a:pPr indent="0" lvl="0" marL="457200" rtl="0" algn="l">
              <a:lnSpc>
                <a:spcPct val="115000"/>
              </a:lnSpc>
              <a:spcBef>
                <a:spcPts val="0"/>
              </a:spcBef>
              <a:spcAft>
                <a:spcPts val="0"/>
              </a:spcAft>
              <a:buSzPts val="1300"/>
              <a:buNone/>
            </a:pPr>
            <a:r>
              <a:t/>
            </a:r>
            <a:endParaRPr>
              <a:solidFill>
                <a:srgbClr val="1A1A1A"/>
              </a:solidFill>
            </a:endParaRPr>
          </a:p>
          <a:p>
            <a:pPr indent="-311150" lvl="0" marL="457200" rtl="0" algn="l">
              <a:lnSpc>
                <a:spcPct val="115000"/>
              </a:lnSpc>
              <a:spcBef>
                <a:spcPts val="0"/>
              </a:spcBef>
              <a:spcAft>
                <a:spcPts val="0"/>
              </a:spcAft>
              <a:buClr>
                <a:srgbClr val="1A1A1A"/>
              </a:buClr>
              <a:buSzPts val="1300"/>
              <a:buChar char="●"/>
            </a:pPr>
            <a:r>
              <a:rPr b="1" lang="ja">
                <a:solidFill>
                  <a:srgbClr val="1A1A1A"/>
                </a:solidFill>
              </a:rPr>
              <a:t>点数の合計</a:t>
            </a:r>
            <a:r>
              <a:rPr lang="ja">
                <a:solidFill>
                  <a:srgbClr val="1A1A1A"/>
                </a:solidFill>
              </a:rPr>
              <a:t>および</a:t>
            </a:r>
            <a:r>
              <a:rPr b="1" lang="ja">
                <a:solidFill>
                  <a:srgbClr val="1A1A1A"/>
                </a:solidFill>
              </a:rPr>
              <a:t>評価項目ごとの点数</a:t>
            </a:r>
            <a:r>
              <a:rPr lang="ja">
                <a:solidFill>
                  <a:srgbClr val="1A1A1A"/>
                </a:solidFill>
              </a:rPr>
              <a:t>で評価</a:t>
            </a:r>
            <a:endParaRPr>
              <a:solidFill>
                <a:srgbClr val="1A1A1A"/>
              </a:solidFill>
            </a:endParaRPr>
          </a:p>
          <a:p>
            <a:pPr indent="0" lvl="0" marL="457200" rtl="0" algn="l">
              <a:lnSpc>
                <a:spcPct val="115000"/>
              </a:lnSpc>
              <a:spcBef>
                <a:spcPts val="0"/>
              </a:spcBef>
              <a:spcAft>
                <a:spcPts val="0"/>
              </a:spcAft>
              <a:buSzPts val="1300"/>
              <a:buNone/>
            </a:pPr>
            <a:r>
              <a:t/>
            </a:r>
            <a:endParaRPr>
              <a:solidFill>
                <a:srgbClr val="1A1A1A"/>
              </a:solidFill>
            </a:endParaRPr>
          </a:p>
          <a:p>
            <a:pPr indent="-311150" lvl="0" marL="457200" rtl="0" algn="l">
              <a:lnSpc>
                <a:spcPct val="115000"/>
              </a:lnSpc>
              <a:spcBef>
                <a:spcPts val="0"/>
              </a:spcBef>
              <a:spcAft>
                <a:spcPts val="0"/>
              </a:spcAft>
              <a:buClr>
                <a:srgbClr val="1A1A1A"/>
              </a:buClr>
              <a:buSzPts val="1300"/>
              <a:buChar char="●"/>
            </a:pPr>
            <a:r>
              <a:rPr lang="ja">
                <a:solidFill>
                  <a:srgbClr val="1A1A1A"/>
                </a:solidFill>
              </a:rPr>
              <a:t>使用するシート：</a:t>
            </a:r>
            <a:endParaRPr>
              <a:solidFill>
                <a:srgbClr val="1A1A1A"/>
              </a:solidFill>
            </a:endParaRPr>
          </a:p>
          <a:p>
            <a:pPr indent="0" lvl="0" marL="457200" rtl="0" algn="l">
              <a:lnSpc>
                <a:spcPct val="115000"/>
              </a:lnSpc>
              <a:spcBef>
                <a:spcPts val="0"/>
              </a:spcBef>
              <a:spcAft>
                <a:spcPts val="0"/>
              </a:spcAft>
              <a:buSzPts val="1300"/>
              <a:buNone/>
            </a:pPr>
            <a:r>
              <a:rPr lang="ja" u="sng">
                <a:solidFill>
                  <a:schemeClr val="hlink"/>
                </a:solidFill>
                <a:hlinkClick r:id="rId3"/>
              </a:rPr>
              <a:t>https://dasc.jp/wp-content/uploads/2014/05/b22f358c9eaab1027fe1769620109c71.pdf</a:t>
            </a:r>
            <a:endParaRPr>
              <a:solidFill>
                <a:srgbClr val="1A1A1A"/>
              </a:solidFill>
            </a:endParaRPr>
          </a:p>
          <a:p>
            <a:pPr indent="0" lvl="0" marL="0" rtl="0" algn="l">
              <a:lnSpc>
                <a:spcPct val="115000"/>
              </a:lnSpc>
              <a:spcBef>
                <a:spcPts val="0"/>
              </a:spcBef>
              <a:spcAft>
                <a:spcPts val="0"/>
              </a:spcAft>
              <a:buSzPts val="1300"/>
              <a:buNone/>
            </a:pPr>
            <a:r>
              <a:t/>
            </a:r>
            <a:endParaRPr sz="1200">
              <a:solidFill>
                <a:srgbClr val="333333"/>
              </a:solidFill>
              <a:highlight>
                <a:srgbClr val="FFFFFF"/>
              </a:highlight>
              <a:latin typeface="Arial"/>
              <a:ea typeface="Arial"/>
              <a:cs typeface="Arial"/>
              <a:sym typeface="Arial"/>
            </a:endParaRPr>
          </a:p>
          <a:p>
            <a:pPr indent="0" lvl="0" marL="0" rtl="0" algn="r">
              <a:lnSpc>
                <a:spcPct val="115000"/>
              </a:lnSpc>
              <a:spcBef>
                <a:spcPts val="0"/>
              </a:spcBef>
              <a:spcAft>
                <a:spcPts val="0"/>
              </a:spcAft>
              <a:buSzPts val="1300"/>
              <a:buNone/>
            </a:pPr>
            <a:r>
              <a:rPr lang="ja">
                <a:solidFill>
                  <a:schemeClr val="dk2"/>
                </a:solidFill>
              </a:rPr>
              <a:t>参考元：</a:t>
            </a:r>
            <a:r>
              <a:rPr lang="ja" u="sng">
                <a:solidFill>
                  <a:schemeClr val="accent5"/>
                </a:solidFill>
                <a:hlinkClick r:id="rId4">
                  <a:extLst>
                    <a:ext uri="{A12FA001-AC4F-418D-AE19-62706E023703}">
                      <ahyp:hlinkClr val="tx"/>
                    </a:ext>
                  </a:extLst>
                </a:hlinkClick>
              </a:rPr>
              <a:t>https://dasc.jp/about</a:t>
            </a:r>
            <a:endParaRPr sz="1200">
              <a:solidFill>
                <a:srgbClr val="333333"/>
              </a:solidFill>
              <a:highlight>
                <a:srgbClr val="FFFFFF"/>
              </a:highlight>
              <a:latin typeface="Arial"/>
              <a:ea typeface="Arial"/>
              <a:cs typeface="Arial"/>
              <a:sym typeface="Arial"/>
            </a:endParaRPr>
          </a:p>
        </p:txBody>
      </p:sp>
      <p:sp>
        <p:nvSpPr>
          <p:cNvPr id="218" name="Google Shape;218;g39b037d6f7e_4_4"/>
          <p:cNvSpPr txBox="1"/>
          <p:nvPr>
            <p:ph idx="2" type="body"/>
          </p:nvPr>
        </p:nvSpPr>
        <p:spPr>
          <a:xfrm>
            <a:off x="4503635" y="1892950"/>
            <a:ext cx="3964800" cy="2716800"/>
          </a:xfrm>
          <a:prstGeom prst="rect">
            <a:avLst/>
          </a:prstGeom>
          <a:noFill/>
          <a:ln>
            <a:noFill/>
          </a:ln>
        </p:spPr>
        <p:txBody>
          <a:bodyPr anchorCtr="0" anchor="t" bIns="91425" lIns="91425" spcFirstLastPara="1" rIns="91425" wrap="square" tIns="91425">
            <a:noAutofit/>
          </a:bodyPr>
          <a:lstStyle/>
          <a:p>
            <a:pPr indent="-311150" lvl="0" marL="457200" rtl="0" algn="l">
              <a:lnSpc>
                <a:spcPct val="115000"/>
              </a:lnSpc>
              <a:spcBef>
                <a:spcPts val="0"/>
              </a:spcBef>
              <a:spcAft>
                <a:spcPts val="0"/>
              </a:spcAft>
              <a:buClr>
                <a:schemeClr val="dk2"/>
              </a:buClr>
              <a:buSzPts val="1300"/>
              <a:buFont typeface="Arial"/>
              <a:buChar char="●"/>
            </a:pPr>
            <a:r>
              <a:rPr b="1" lang="ja">
                <a:solidFill>
                  <a:schemeClr val="dk2"/>
                </a:solidFill>
                <a:highlight>
                  <a:schemeClr val="lt1"/>
                </a:highlight>
                <a:latin typeface="Arial"/>
                <a:ea typeface="Arial"/>
                <a:cs typeface="Arial"/>
                <a:sym typeface="Arial"/>
              </a:rPr>
              <a:t>認知症の周辺症状（行動・心理症状）</a:t>
            </a:r>
            <a:r>
              <a:rPr lang="ja">
                <a:solidFill>
                  <a:schemeClr val="dk2"/>
                </a:solidFill>
                <a:highlight>
                  <a:schemeClr val="lt1"/>
                </a:highlight>
                <a:latin typeface="Arial"/>
                <a:ea typeface="Arial"/>
                <a:cs typeface="Arial"/>
                <a:sym typeface="Arial"/>
              </a:rPr>
              <a:t>を</a:t>
            </a:r>
            <a:endParaRPr>
              <a:solidFill>
                <a:schemeClr val="dk2"/>
              </a:solidFill>
              <a:highlight>
                <a:schemeClr val="lt1"/>
              </a:highlight>
              <a:latin typeface="Arial"/>
              <a:ea typeface="Arial"/>
              <a:cs typeface="Arial"/>
              <a:sym typeface="Arial"/>
            </a:endParaRPr>
          </a:p>
          <a:p>
            <a:pPr indent="0" lvl="0" marL="457200" rtl="0" algn="l">
              <a:lnSpc>
                <a:spcPct val="115000"/>
              </a:lnSpc>
              <a:spcBef>
                <a:spcPts val="0"/>
              </a:spcBef>
              <a:spcAft>
                <a:spcPts val="0"/>
              </a:spcAft>
              <a:buSzPts val="1300"/>
              <a:buNone/>
            </a:pPr>
            <a:r>
              <a:rPr lang="ja">
                <a:solidFill>
                  <a:schemeClr val="dk2"/>
                </a:solidFill>
                <a:highlight>
                  <a:schemeClr val="lt1"/>
                </a:highlight>
                <a:latin typeface="Arial"/>
                <a:ea typeface="Arial"/>
                <a:cs typeface="Arial"/>
                <a:sym typeface="Arial"/>
              </a:rPr>
              <a:t>簡潔に評価するためのアセスメントシート</a:t>
            </a:r>
            <a:endParaRPr sz="1400">
              <a:solidFill>
                <a:schemeClr val="dk2"/>
              </a:solidFill>
            </a:endParaRPr>
          </a:p>
          <a:p>
            <a:pPr indent="0" lvl="0" marL="0" rtl="0" algn="l">
              <a:lnSpc>
                <a:spcPct val="115000"/>
              </a:lnSpc>
              <a:spcBef>
                <a:spcPts val="0"/>
              </a:spcBef>
              <a:spcAft>
                <a:spcPts val="0"/>
              </a:spcAft>
              <a:buSzPts val="1300"/>
              <a:buNone/>
            </a:pPr>
            <a:r>
              <a:t/>
            </a:r>
            <a:endParaRPr>
              <a:solidFill>
                <a:srgbClr val="1A1A1A"/>
              </a:solidFill>
            </a:endParaRPr>
          </a:p>
          <a:p>
            <a:pPr indent="-311150" lvl="0" marL="457200" rtl="0" algn="l">
              <a:lnSpc>
                <a:spcPct val="115000"/>
              </a:lnSpc>
              <a:spcBef>
                <a:spcPts val="0"/>
              </a:spcBef>
              <a:spcAft>
                <a:spcPts val="0"/>
              </a:spcAft>
              <a:buClr>
                <a:schemeClr val="dk2"/>
              </a:buClr>
              <a:buSzPts val="1300"/>
              <a:buChar char="●"/>
            </a:pPr>
            <a:r>
              <a:rPr lang="ja">
                <a:solidFill>
                  <a:schemeClr val="dk2"/>
                </a:solidFill>
                <a:highlight>
                  <a:srgbClr val="FFFFFF"/>
                </a:highlight>
                <a:latin typeface="Arial"/>
                <a:ea typeface="Arial"/>
                <a:cs typeface="Arial"/>
                <a:sym typeface="Arial"/>
              </a:rPr>
              <a:t>それぞれの項目を、0〜4点の範囲で評価</a:t>
            </a:r>
            <a:endParaRPr>
              <a:solidFill>
                <a:schemeClr val="dk2"/>
              </a:solidFill>
              <a:highlight>
                <a:srgbClr val="FFFFFF"/>
              </a:highlight>
              <a:latin typeface="Arial"/>
              <a:ea typeface="Arial"/>
              <a:cs typeface="Arial"/>
              <a:sym typeface="Arial"/>
            </a:endParaRPr>
          </a:p>
          <a:p>
            <a:pPr indent="0" lvl="0" marL="0" rtl="0" algn="l">
              <a:lnSpc>
                <a:spcPct val="115000"/>
              </a:lnSpc>
              <a:spcBef>
                <a:spcPts val="0"/>
              </a:spcBef>
              <a:spcAft>
                <a:spcPts val="0"/>
              </a:spcAft>
              <a:buSzPts val="1300"/>
              <a:buNone/>
            </a:pPr>
            <a:r>
              <a:t/>
            </a:r>
            <a:endParaRPr>
              <a:solidFill>
                <a:schemeClr val="dk2"/>
              </a:solidFill>
              <a:highlight>
                <a:srgbClr val="FFFFFF"/>
              </a:highlight>
              <a:latin typeface="Arial"/>
              <a:ea typeface="Arial"/>
              <a:cs typeface="Arial"/>
              <a:sym typeface="Arial"/>
            </a:endParaRPr>
          </a:p>
          <a:p>
            <a:pPr indent="-311150" lvl="0" marL="457200" rtl="0" algn="l">
              <a:lnSpc>
                <a:spcPct val="115000"/>
              </a:lnSpc>
              <a:spcBef>
                <a:spcPts val="0"/>
              </a:spcBef>
              <a:spcAft>
                <a:spcPts val="0"/>
              </a:spcAft>
              <a:buClr>
                <a:schemeClr val="dk2"/>
              </a:buClr>
              <a:buSzPts val="1300"/>
              <a:buFont typeface="Arial"/>
              <a:buChar char="●"/>
            </a:pPr>
            <a:r>
              <a:rPr lang="ja">
                <a:solidFill>
                  <a:schemeClr val="dk2"/>
                </a:solidFill>
                <a:highlight>
                  <a:srgbClr val="FFFFFF"/>
                </a:highlight>
                <a:latin typeface="Arial"/>
                <a:ea typeface="Arial"/>
                <a:cs typeface="Arial"/>
                <a:sym typeface="Arial"/>
              </a:rPr>
              <a:t>使用するシート：</a:t>
            </a:r>
            <a:endParaRPr>
              <a:solidFill>
                <a:schemeClr val="dk2"/>
              </a:solidFill>
              <a:highlight>
                <a:srgbClr val="FFFFFF"/>
              </a:highlight>
              <a:latin typeface="Arial"/>
              <a:ea typeface="Arial"/>
              <a:cs typeface="Arial"/>
              <a:sym typeface="Arial"/>
            </a:endParaRPr>
          </a:p>
          <a:p>
            <a:pPr indent="0" lvl="0" marL="457200" rtl="0" algn="l">
              <a:lnSpc>
                <a:spcPct val="115000"/>
              </a:lnSpc>
              <a:spcBef>
                <a:spcPts val="0"/>
              </a:spcBef>
              <a:spcAft>
                <a:spcPts val="0"/>
              </a:spcAft>
              <a:buSzPts val="1300"/>
              <a:buNone/>
            </a:pPr>
            <a:r>
              <a:rPr lang="ja" u="sng">
                <a:solidFill>
                  <a:schemeClr val="hlink"/>
                </a:solidFill>
                <a:highlight>
                  <a:srgbClr val="FFFFFF"/>
                </a:highlight>
                <a:latin typeface="Arial"/>
                <a:ea typeface="Arial"/>
                <a:cs typeface="Arial"/>
                <a:sym typeface="Arial"/>
                <a:hlinkClick r:id="rId5"/>
              </a:rPr>
              <a:t>https://www.mhlw.go.jp/content/12301000/001242315.docx</a:t>
            </a:r>
            <a:endParaRPr>
              <a:solidFill>
                <a:schemeClr val="dk2"/>
              </a:solidFill>
              <a:highlight>
                <a:srgbClr val="FFFFFF"/>
              </a:highlight>
              <a:latin typeface="Arial"/>
              <a:ea typeface="Arial"/>
              <a:cs typeface="Arial"/>
              <a:sym typeface="Arial"/>
            </a:endParaRPr>
          </a:p>
          <a:p>
            <a:pPr indent="0" lvl="0" marL="0" rtl="0" algn="l">
              <a:lnSpc>
                <a:spcPct val="115000"/>
              </a:lnSpc>
              <a:spcBef>
                <a:spcPts val="0"/>
              </a:spcBef>
              <a:spcAft>
                <a:spcPts val="0"/>
              </a:spcAft>
              <a:buSzPts val="1300"/>
              <a:buNone/>
            </a:pPr>
            <a:r>
              <a:t/>
            </a:r>
            <a:endParaRPr>
              <a:solidFill>
                <a:schemeClr val="dk2"/>
              </a:solidFill>
              <a:highlight>
                <a:srgbClr val="FFFFFF"/>
              </a:highlight>
              <a:latin typeface="Arial"/>
              <a:ea typeface="Arial"/>
              <a:cs typeface="Arial"/>
              <a:sym typeface="Arial"/>
            </a:endParaRPr>
          </a:p>
          <a:p>
            <a:pPr indent="0" lvl="0" marL="0" rtl="0" algn="r">
              <a:lnSpc>
                <a:spcPct val="115000"/>
              </a:lnSpc>
              <a:spcBef>
                <a:spcPts val="0"/>
              </a:spcBef>
              <a:spcAft>
                <a:spcPts val="0"/>
              </a:spcAft>
              <a:buSzPts val="1300"/>
              <a:buNone/>
            </a:pPr>
            <a:r>
              <a:rPr lang="ja">
                <a:solidFill>
                  <a:schemeClr val="dk2"/>
                </a:solidFill>
              </a:rPr>
              <a:t>参考元：</a:t>
            </a:r>
            <a:r>
              <a:rPr lang="ja" u="sng">
                <a:solidFill>
                  <a:schemeClr val="accent5"/>
                </a:solidFill>
                <a:hlinkClick r:id="rId6">
                  <a:extLst>
                    <a:ext uri="{A12FA001-AC4F-418D-AE19-62706E023703}">
                      <ahyp:hlinkClr val="tx"/>
                    </a:ext>
                  </a:extLst>
                </a:hlinkClick>
              </a:rPr>
              <a:t>https://rehab.cloud/mag/15660</a:t>
            </a:r>
            <a:endParaRPr>
              <a:solidFill>
                <a:schemeClr val="dk2"/>
              </a:solidFill>
              <a:highlight>
                <a:srgbClr val="FFFFFF"/>
              </a:highlight>
              <a:latin typeface="Arial"/>
              <a:ea typeface="Arial"/>
              <a:cs typeface="Arial"/>
              <a:sym typeface="Arial"/>
            </a:endParaRPr>
          </a:p>
        </p:txBody>
      </p:sp>
      <p:sp>
        <p:nvSpPr>
          <p:cNvPr id="219" name="Google Shape;219;g39b037d6f7e_4_4"/>
          <p:cNvSpPr txBox="1"/>
          <p:nvPr>
            <p:ph idx="3" type="title"/>
          </p:nvPr>
        </p:nvSpPr>
        <p:spPr>
          <a:xfrm>
            <a:off x="4643600" y="643700"/>
            <a:ext cx="3774300" cy="5352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990"/>
              <a:buNone/>
            </a:pPr>
            <a:r>
              <a:rPr lang="ja" sz="2140"/>
              <a:t>DBD13とは</a:t>
            </a:r>
            <a:endParaRPr sz="2140"/>
          </a:p>
        </p:txBody>
      </p:sp>
      <p:sp>
        <p:nvSpPr>
          <p:cNvPr id="220" name="Google Shape;220;g39b037d6f7e_4_4"/>
          <p:cNvSpPr txBox="1"/>
          <p:nvPr/>
        </p:nvSpPr>
        <p:spPr>
          <a:xfrm>
            <a:off x="8602500" y="4632900"/>
            <a:ext cx="5415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12</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g385e11747a1_3_35"/>
          <p:cNvSpPr txBox="1"/>
          <p:nvPr>
            <p:ph type="title"/>
          </p:nvPr>
        </p:nvSpPr>
        <p:spPr>
          <a:xfrm>
            <a:off x="500850" y="709050"/>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機能一覧</a:t>
            </a:r>
            <a:endParaRPr/>
          </a:p>
        </p:txBody>
      </p:sp>
      <p:sp>
        <p:nvSpPr>
          <p:cNvPr id="226" name="Google Shape;226;g385e11747a1_3_35"/>
          <p:cNvSpPr txBox="1"/>
          <p:nvPr>
            <p:ph idx="1" type="body"/>
          </p:nvPr>
        </p:nvSpPr>
        <p:spPr>
          <a:xfrm>
            <a:off x="0" y="1552800"/>
            <a:ext cx="4453800" cy="3080100"/>
          </a:xfrm>
          <a:prstGeom prst="rect">
            <a:avLst/>
          </a:prstGeom>
          <a:noFill/>
          <a:ln>
            <a:noFill/>
          </a:ln>
        </p:spPr>
        <p:txBody>
          <a:bodyPr anchorCtr="0" anchor="t" bIns="91425" lIns="91425" spcFirstLastPara="1" rIns="91425" wrap="square" tIns="91425">
            <a:spAutoFit/>
          </a:bodyPr>
          <a:lstStyle/>
          <a:p>
            <a:pPr indent="-298450" lvl="0" marL="457200" rtl="0" algn="l">
              <a:lnSpc>
                <a:spcPct val="115000"/>
              </a:lnSpc>
              <a:spcBef>
                <a:spcPts val="0"/>
              </a:spcBef>
              <a:spcAft>
                <a:spcPts val="0"/>
              </a:spcAft>
              <a:buClr>
                <a:srgbClr val="000000"/>
              </a:buClr>
              <a:buSzPts val="1100"/>
              <a:buFont typeface="Arial"/>
              <a:buChar char="●"/>
            </a:pPr>
            <a:r>
              <a:rPr b="1" lang="ja" sz="1100">
                <a:solidFill>
                  <a:srgbClr val="000000"/>
                </a:solidFill>
                <a:latin typeface="Arial"/>
                <a:ea typeface="Arial"/>
                <a:cs typeface="Arial"/>
                <a:sym typeface="Arial"/>
              </a:rPr>
              <a:t>対象者ページ作成</a:t>
            </a:r>
            <a:endParaRPr b="1" sz="1100">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sz="1100">
                <a:solidFill>
                  <a:srgbClr val="000000"/>
                </a:solidFill>
                <a:latin typeface="Arial"/>
                <a:ea typeface="Arial"/>
                <a:cs typeface="Arial"/>
                <a:sym typeface="Arial"/>
              </a:rPr>
              <a:t>対象者の情報を入力し対象者詳細ページを作成する。</a:t>
            </a:r>
            <a:endParaRPr sz="1100">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t/>
            </a:r>
            <a:endParaRPr sz="1100">
              <a:solidFill>
                <a:srgbClr val="000000"/>
              </a:solidFill>
              <a:latin typeface="Arial"/>
              <a:ea typeface="Arial"/>
              <a:cs typeface="Arial"/>
              <a:sym typeface="Arial"/>
            </a:endParaRPr>
          </a:p>
          <a:p>
            <a:pPr indent="-298450" lvl="0" marL="457200" rtl="0" algn="l">
              <a:lnSpc>
                <a:spcPct val="115000"/>
              </a:lnSpc>
              <a:spcBef>
                <a:spcPts val="0"/>
              </a:spcBef>
              <a:spcAft>
                <a:spcPts val="0"/>
              </a:spcAft>
              <a:buClr>
                <a:srgbClr val="000000"/>
              </a:buClr>
              <a:buSzPts val="1100"/>
              <a:buChar char="●"/>
            </a:pPr>
            <a:r>
              <a:rPr b="1" lang="ja" sz="1100">
                <a:solidFill>
                  <a:srgbClr val="000000"/>
                </a:solidFill>
              </a:rPr>
              <a:t>認知症状態評価</a:t>
            </a:r>
            <a:endParaRPr b="1" sz="1100">
              <a:solidFill>
                <a:srgbClr val="000000"/>
              </a:solidFill>
            </a:endParaRPr>
          </a:p>
          <a:p>
            <a:pPr indent="457200" lvl="0" marL="0" rtl="0" algn="l">
              <a:lnSpc>
                <a:spcPct val="115000"/>
              </a:lnSpc>
              <a:spcBef>
                <a:spcPts val="0"/>
              </a:spcBef>
              <a:spcAft>
                <a:spcPts val="0"/>
              </a:spcAft>
              <a:buSzPts val="1300"/>
              <a:buNone/>
            </a:pPr>
            <a:r>
              <a:rPr lang="ja" sz="1100">
                <a:solidFill>
                  <a:srgbClr val="000000"/>
                </a:solidFill>
              </a:rPr>
              <a:t>DASC-21・DBD13に回答し、</a:t>
            </a:r>
            <a:endParaRPr sz="1100">
              <a:solidFill>
                <a:srgbClr val="000000"/>
              </a:solidFill>
            </a:endParaRPr>
          </a:p>
          <a:p>
            <a:pPr indent="457200" lvl="0" marL="0" rtl="0" algn="l">
              <a:lnSpc>
                <a:spcPct val="115000"/>
              </a:lnSpc>
              <a:spcBef>
                <a:spcPts val="0"/>
              </a:spcBef>
              <a:spcAft>
                <a:spcPts val="0"/>
              </a:spcAft>
              <a:buSzPts val="1300"/>
              <a:buNone/>
            </a:pPr>
            <a:r>
              <a:rPr lang="ja" sz="1100">
                <a:solidFill>
                  <a:srgbClr val="000000"/>
                </a:solidFill>
              </a:rPr>
              <a:t>対象者の認知症の状態を評価する。</a:t>
            </a:r>
            <a:endParaRPr sz="1100">
              <a:solidFill>
                <a:srgbClr val="000000"/>
              </a:solidFill>
            </a:endParaRPr>
          </a:p>
          <a:p>
            <a:pPr indent="0" lvl="0" marL="457200" rtl="0" algn="l">
              <a:lnSpc>
                <a:spcPct val="115000"/>
              </a:lnSpc>
              <a:spcBef>
                <a:spcPts val="0"/>
              </a:spcBef>
              <a:spcAft>
                <a:spcPts val="0"/>
              </a:spcAft>
              <a:buSzPts val="1300"/>
              <a:buNone/>
            </a:pPr>
            <a:r>
              <a:t/>
            </a:r>
            <a:endParaRPr sz="1100">
              <a:solidFill>
                <a:srgbClr val="000000"/>
              </a:solidFill>
            </a:endParaRPr>
          </a:p>
          <a:p>
            <a:pPr indent="-298450" lvl="0" marL="457200" rtl="0" algn="l">
              <a:lnSpc>
                <a:spcPct val="115000"/>
              </a:lnSpc>
              <a:spcBef>
                <a:spcPts val="0"/>
              </a:spcBef>
              <a:spcAft>
                <a:spcPts val="0"/>
              </a:spcAft>
              <a:buClr>
                <a:srgbClr val="000000"/>
              </a:buClr>
              <a:buSzPts val="1100"/>
              <a:buChar char="●"/>
            </a:pPr>
            <a:r>
              <a:rPr b="1" lang="ja" sz="1100">
                <a:solidFill>
                  <a:srgbClr val="000000"/>
                </a:solidFill>
              </a:rPr>
              <a:t>支援方針検討</a:t>
            </a:r>
            <a:endParaRPr b="1" sz="1100">
              <a:solidFill>
                <a:srgbClr val="000000"/>
              </a:solidFill>
            </a:endParaRPr>
          </a:p>
          <a:p>
            <a:pPr indent="0" lvl="0" marL="457200" rtl="0" algn="l">
              <a:lnSpc>
                <a:spcPct val="115000"/>
              </a:lnSpc>
              <a:spcBef>
                <a:spcPts val="0"/>
              </a:spcBef>
              <a:spcAft>
                <a:spcPts val="0"/>
              </a:spcAft>
              <a:buSzPts val="1300"/>
              <a:buNone/>
            </a:pPr>
            <a:r>
              <a:rPr lang="ja" sz="1100">
                <a:solidFill>
                  <a:srgbClr val="000000"/>
                </a:solidFill>
              </a:rPr>
              <a:t>テキストマイニングを用いて</a:t>
            </a:r>
            <a:r>
              <a:rPr lang="ja" sz="1100">
                <a:solidFill>
                  <a:schemeClr val="dk2"/>
                </a:solidFill>
              </a:rPr>
              <a:t>類似ケース検索や</a:t>
            </a:r>
            <a:endParaRPr sz="1100">
              <a:solidFill>
                <a:schemeClr val="dk2"/>
              </a:solidFill>
            </a:endParaRPr>
          </a:p>
          <a:p>
            <a:pPr indent="0" lvl="0" marL="457200" rtl="0" algn="l">
              <a:lnSpc>
                <a:spcPct val="115000"/>
              </a:lnSpc>
              <a:spcBef>
                <a:spcPts val="0"/>
              </a:spcBef>
              <a:spcAft>
                <a:spcPts val="0"/>
              </a:spcAft>
              <a:buSzPts val="1300"/>
              <a:buNone/>
            </a:pPr>
            <a:r>
              <a:rPr lang="ja" sz="1100">
                <a:solidFill>
                  <a:schemeClr val="dk2"/>
                </a:solidFill>
              </a:rPr>
              <a:t>支援方針のアドバイス行う。</a:t>
            </a:r>
            <a:endParaRPr sz="1100">
              <a:solidFill>
                <a:schemeClr val="dk2"/>
              </a:solidFill>
            </a:endParaRPr>
          </a:p>
          <a:p>
            <a:pPr indent="0" lvl="0" marL="457200" rtl="0" algn="l">
              <a:lnSpc>
                <a:spcPct val="115000"/>
              </a:lnSpc>
              <a:spcBef>
                <a:spcPts val="0"/>
              </a:spcBef>
              <a:spcAft>
                <a:spcPts val="0"/>
              </a:spcAft>
              <a:buSzPts val="1300"/>
              <a:buNone/>
            </a:pPr>
            <a:r>
              <a:t/>
            </a:r>
            <a:endParaRPr sz="1100">
              <a:solidFill>
                <a:schemeClr val="dk2"/>
              </a:solidFill>
            </a:endParaRPr>
          </a:p>
          <a:p>
            <a:pPr indent="-298450" lvl="0" marL="457200" rtl="0" algn="l">
              <a:lnSpc>
                <a:spcPct val="115000"/>
              </a:lnSpc>
              <a:spcBef>
                <a:spcPts val="0"/>
              </a:spcBef>
              <a:spcAft>
                <a:spcPts val="0"/>
              </a:spcAft>
              <a:buClr>
                <a:schemeClr val="dk2"/>
              </a:buClr>
              <a:buSzPts val="1100"/>
              <a:buChar char="●"/>
            </a:pPr>
            <a:r>
              <a:rPr b="1" lang="ja" sz="1100">
                <a:solidFill>
                  <a:schemeClr val="dk2"/>
                </a:solidFill>
              </a:rPr>
              <a:t>帳簿Excel作成</a:t>
            </a:r>
            <a:endParaRPr b="1" sz="1100">
              <a:solidFill>
                <a:schemeClr val="dk2"/>
              </a:solidFill>
            </a:endParaRPr>
          </a:p>
          <a:p>
            <a:pPr indent="0" lvl="0" marL="457200" rtl="0" algn="l">
              <a:lnSpc>
                <a:spcPct val="115000"/>
              </a:lnSpc>
              <a:spcBef>
                <a:spcPts val="0"/>
              </a:spcBef>
              <a:spcAft>
                <a:spcPts val="0"/>
              </a:spcAft>
              <a:buSzPts val="1300"/>
              <a:buNone/>
            </a:pPr>
            <a:r>
              <a:rPr lang="ja" sz="1100">
                <a:solidFill>
                  <a:srgbClr val="000000"/>
                </a:solidFill>
                <a:latin typeface="Arial"/>
                <a:ea typeface="Arial"/>
                <a:cs typeface="Arial"/>
                <a:sym typeface="Arial"/>
              </a:rPr>
              <a:t>システムに入力した帳簿類をExcelファイルに</a:t>
            </a:r>
            <a:endParaRPr sz="1100">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sz="1100">
                <a:solidFill>
                  <a:srgbClr val="000000"/>
                </a:solidFill>
                <a:latin typeface="Arial"/>
                <a:ea typeface="Arial"/>
                <a:cs typeface="Arial"/>
                <a:sym typeface="Arial"/>
              </a:rPr>
              <a:t>変換する。</a:t>
            </a:r>
            <a:endParaRPr sz="1100">
              <a:solidFill>
                <a:schemeClr val="dk2"/>
              </a:solidFill>
            </a:endParaRPr>
          </a:p>
          <a:p>
            <a:pPr indent="0" lvl="0" marL="0" rtl="0" algn="l">
              <a:lnSpc>
                <a:spcPct val="115000"/>
              </a:lnSpc>
              <a:spcBef>
                <a:spcPts val="0"/>
              </a:spcBef>
              <a:spcAft>
                <a:spcPts val="0"/>
              </a:spcAft>
              <a:buSzPts val="1300"/>
              <a:buNone/>
            </a:pPr>
            <a:r>
              <a:t/>
            </a:r>
            <a:endParaRPr sz="1100">
              <a:solidFill>
                <a:srgbClr val="000000"/>
              </a:solidFill>
              <a:latin typeface="Arial"/>
              <a:ea typeface="Arial"/>
              <a:cs typeface="Arial"/>
              <a:sym typeface="Arial"/>
            </a:endParaRPr>
          </a:p>
        </p:txBody>
      </p:sp>
      <p:sp>
        <p:nvSpPr>
          <p:cNvPr id="227" name="Google Shape;227;g385e11747a1_3_35"/>
          <p:cNvSpPr txBox="1"/>
          <p:nvPr>
            <p:ph idx="3" type="title"/>
          </p:nvPr>
        </p:nvSpPr>
        <p:spPr>
          <a:xfrm>
            <a:off x="3985125" y="709050"/>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システム構成図</a:t>
            </a:r>
            <a:endParaRPr/>
          </a:p>
        </p:txBody>
      </p:sp>
      <p:pic>
        <p:nvPicPr>
          <p:cNvPr id="228" name="Google Shape;228;g385e11747a1_3_35"/>
          <p:cNvPicPr preferRelativeResize="0"/>
          <p:nvPr/>
        </p:nvPicPr>
        <p:blipFill rotWithShape="1">
          <a:blip r:embed="rId3">
            <a:alphaModFix/>
          </a:blip>
          <a:srcRect b="0" l="0" r="0" t="0"/>
          <a:stretch/>
        </p:blipFill>
        <p:spPr>
          <a:xfrm>
            <a:off x="4453875" y="2621407"/>
            <a:ext cx="4665598" cy="2353842"/>
          </a:xfrm>
          <a:prstGeom prst="rect">
            <a:avLst/>
          </a:prstGeom>
          <a:noFill/>
          <a:ln>
            <a:noFill/>
          </a:ln>
        </p:spPr>
      </p:pic>
      <p:sp>
        <p:nvSpPr>
          <p:cNvPr id="229" name="Google Shape;229;g385e11747a1_3_35"/>
          <p:cNvSpPr txBox="1"/>
          <p:nvPr/>
        </p:nvSpPr>
        <p:spPr>
          <a:xfrm>
            <a:off x="5911050" y="2545332"/>
            <a:ext cx="1377300" cy="338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 HTML , JavaScript)</a:t>
            </a:r>
            <a:endParaRPr b="1" i="0" sz="1000" u="none" cap="none" strike="noStrike">
              <a:solidFill>
                <a:schemeClr val="accent1"/>
              </a:solidFill>
              <a:latin typeface="Lato"/>
              <a:ea typeface="Lato"/>
              <a:cs typeface="Lato"/>
              <a:sym typeface="Lato"/>
            </a:endParaRPr>
          </a:p>
        </p:txBody>
      </p:sp>
      <p:sp>
        <p:nvSpPr>
          <p:cNvPr id="230" name="Google Shape;230;g385e11747a1_3_35"/>
          <p:cNvSpPr txBox="1"/>
          <p:nvPr/>
        </p:nvSpPr>
        <p:spPr>
          <a:xfrm>
            <a:off x="6211650" y="4795132"/>
            <a:ext cx="776100" cy="338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(MySQL)</a:t>
            </a:r>
            <a:endParaRPr b="1" i="0" sz="1000" u="none" cap="none" strike="noStrike">
              <a:solidFill>
                <a:schemeClr val="accent1"/>
              </a:solidFill>
              <a:latin typeface="Lato"/>
              <a:ea typeface="Lato"/>
              <a:cs typeface="Lato"/>
              <a:sym typeface="Lato"/>
            </a:endParaRPr>
          </a:p>
        </p:txBody>
      </p:sp>
      <p:pic>
        <p:nvPicPr>
          <p:cNvPr id="231" name="Google Shape;231;g385e11747a1_3_35"/>
          <p:cNvPicPr preferRelativeResize="0"/>
          <p:nvPr/>
        </p:nvPicPr>
        <p:blipFill rotWithShape="1">
          <a:blip r:embed="rId4">
            <a:alphaModFix/>
          </a:blip>
          <a:srcRect b="0" l="0" r="0" t="0"/>
          <a:stretch/>
        </p:blipFill>
        <p:spPr>
          <a:xfrm>
            <a:off x="6209125" y="1205897"/>
            <a:ext cx="695200" cy="582303"/>
          </a:xfrm>
          <a:prstGeom prst="rect">
            <a:avLst/>
          </a:prstGeom>
          <a:noFill/>
          <a:ln>
            <a:noFill/>
          </a:ln>
        </p:spPr>
      </p:pic>
      <p:pic>
        <p:nvPicPr>
          <p:cNvPr id="232" name="Google Shape;232;g385e11747a1_3_35"/>
          <p:cNvPicPr preferRelativeResize="0"/>
          <p:nvPr/>
        </p:nvPicPr>
        <p:blipFill rotWithShape="1">
          <a:blip r:embed="rId5">
            <a:alphaModFix/>
          </a:blip>
          <a:srcRect b="0" l="0" r="0" t="0"/>
          <a:stretch/>
        </p:blipFill>
        <p:spPr>
          <a:xfrm>
            <a:off x="6392775" y="2141075"/>
            <a:ext cx="327900" cy="443620"/>
          </a:xfrm>
          <a:prstGeom prst="rect">
            <a:avLst/>
          </a:prstGeom>
          <a:noFill/>
          <a:ln>
            <a:noFill/>
          </a:ln>
        </p:spPr>
      </p:pic>
      <p:sp>
        <p:nvSpPr>
          <p:cNvPr id="233" name="Google Shape;233;g385e11747a1_3_35"/>
          <p:cNvSpPr txBox="1"/>
          <p:nvPr/>
        </p:nvSpPr>
        <p:spPr>
          <a:xfrm>
            <a:off x="5651250" y="1751225"/>
            <a:ext cx="18969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基幹型地域包括支援センター</a:t>
            </a:r>
            <a:endParaRPr b="1" i="0" sz="1000" u="none" cap="none" strike="noStrike">
              <a:solidFill>
                <a:schemeClr val="dk2"/>
              </a:solidFill>
              <a:latin typeface="Lato"/>
              <a:ea typeface="Lato"/>
              <a:cs typeface="Lato"/>
              <a:sym typeface="Lato"/>
            </a:endParaRPr>
          </a:p>
          <a:p>
            <a:pPr indent="0" lvl="0" marL="0" marR="0" rtl="0" algn="ctr">
              <a:lnSpc>
                <a:spcPct val="100000"/>
              </a:lnSpc>
              <a:spcBef>
                <a:spcPts val="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（自治体）</a:t>
            </a:r>
            <a:endParaRPr b="1" i="0" sz="1000" u="none" cap="none" strike="noStrike">
              <a:solidFill>
                <a:schemeClr val="dk2"/>
              </a:solidFill>
              <a:latin typeface="Lato"/>
              <a:ea typeface="Lato"/>
              <a:cs typeface="Lato"/>
              <a:sym typeface="Lato"/>
            </a:endParaRPr>
          </a:p>
        </p:txBody>
      </p:sp>
      <p:sp>
        <p:nvSpPr>
          <p:cNvPr id="234" name="Google Shape;234;g385e11747a1_3_35"/>
          <p:cNvSpPr txBox="1"/>
          <p:nvPr/>
        </p:nvSpPr>
        <p:spPr>
          <a:xfrm>
            <a:off x="8626550" y="4632900"/>
            <a:ext cx="5415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13</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g3aab28b5710_1_5"/>
          <p:cNvSpPr txBox="1"/>
          <p:nvPr>
            <p:ph type="title"/>
          </p:nvPr>
        </p:nvSpPr>
        <p:spPr>
          <a:xfrm>
            <a:off x="683100" y="615850"/>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利用者基本情報</a:t>
            </a:r>
            <a:endParaRPr/>
          </a:p>
        </p:txBody>
      </p:sp>
      <p:sp>
        <p:nvSpPr>
          <p:cNvPr id="240" name="Google Shape;240;g3aab28b5710_1_5"/>
          <p:cNvSpPr txBox="1"/>
          <p:nvPr>
            <p:ph idx="1" type="body"/>
          </p:nvPr>
        </p:nvSpPr>
        <p:spPr>
          <a:xfrm>
            <a:off x="729325" y="1305175"/>
            <a:ext cx="3774300" cy="2355600"/>
          </a:xfrm>
          <a:prstGeom prst="rect">
            <a:avLst/>
          </a:prstGeom>
          <a:noFill/>
          <a:ln>
            <a:noFill/>
          </a:ln>
        </p:spPr>
        <p:txBody>
          <a:bodyPr anchorCtr="0" anchor="t" bIns="91425" lIns="91425" spcFirstLastPara="1" rIns="91425" wrap="square" tIns="91425">
            <a:normAutofit lnSpcReduction="10000"/>
          </a:bodyPr>
          <a:lstStyle/>
          <a:p>
            <a:pPr indent="0" lvl="0" marL="0" rtl="0" algn="l">
              <a:lnSpc>
                <a:spcPct val="115000"/>
              </a:lnSpc>
              <a:spcBef>
                <a:spcPts val="0"/>
              </a:spcBef>
              <a:spcAft>
                <a:spcPts val="0"/>
              </a:spcAft>
              <a:buSzPts val="1300"/>
              <a:buNone/>
            </a:pPr>
            <a:r>
              <a:rPr lang="ja"/>
              <a:t>[作成担当者]</a:t>
            </a:r>
            <a:endParaRPr/>
          </a:p>
          <a:p>
            <a:pPr indent="0" lvl="0" marL="0" rtl="0" algn="l">
              <a:lnSpc>
                <a:spcPct val="115000"/>
              </a:lnSpc>
              <a:spcBef>
                <a:spcPts val="0"/>
              </a:spcBef>
              <a:spcAft>
                <a:spcPts val="0"/>
              </a:spcAft>
              <a:buSzPts val="1300"/>
              <a:buNone/>
            </a:pPr>
            <a:r>
              <a:rPr lang="ja"/>
              <a:t>[相談日]</a:t>
            </a:r>
            <a:endParaRPr/>
          </a:p>
          <a:p>
            <a:pPr indent="0" lvl="0" marL="0" rtl="0" algn="l">
              <a:lnSpc>
                <a:spcPct val="115000"/>
              </a:lnSpc>
              <a:spcBef>
                <a:spcPts val="0"/>
              </a:spcBef>
              <a:spcAft>
                <a:spcPts val="0"/>
              </a:spcAft>
              <a:buSzPts val="1300"/>
              <a:buNone/>
            </a:pPr>
            <a:r>
              <a:rPr lang="ja"/>
              <a:t>[本人の現状]</a:t>
            </a:r>
            <a:endParaRPr/>
          </a:p>
          <a:p>
            <a:pPr indent="0" lvl="0" marL="0" rtl="0" algn="l">
              <a:lnSpc>
                <a:spcPct val="115000"/>
              </a:lnSpc>
              <a:spcBef>
                <a:spcPts val="0"/>
              </a:spcBef>
              <a:spcAft>
                <a:spcPts val="0"/>
              </a:spcAft>
              <a:buSzPts val="1300"/>
              <a:buNone/>
            </a:pPr>
            <a:r>
              <a:rPr lang="ja"/>
              <a:t>[本人氏名]</a:t>
            </a:r>
            <a:endParaRPr/>
          </a:p>
          <a:p>
            <a:pPr indent="0" lvl="0" marL="0" rtl="0" algn="l">
              <a:lnSpc>
                <a:spcPct val="115000"/>
              </a:lnSpc>
              <a:spcBef>
                <a:spcPts val="0"/>
              </a:spcBef>
              <a:spcAft>
                <a:spcPts val="0"/>
              </a:spcAft>
              <a:buSzPts val="1300"/>
              <a:buNone/>
            </a:pPr>
            <a:r>
              <a:rPr lang="ja"/>
              <a:t>[性別]</a:t>
            </a:r>
            <a:endParaRPr/>
          </a:p>
          <a:p>
            <a:pPr indent="0" lvl="0" marL="0" rtl="0" algn="l">
              <a:lnSpc>
                <a:spcPct val="115000"/>
              </a:lnSpc>
              <a:spcBef>
                <a:spcPts val="0"/>
              </a:spcBef>
              <a:spcAft>
                <a:spcPts val="0"/>
              </a:spcAft>
              <a:buSzPts val="1300"/>
              <a:buNone/>
            </a:pPr>
            <a:r>
              <a:rPr lang="ja"/>
              <a:t>[住居環境]</a:t>
            </a:r>
            <a:endParaRPr/>
          </a:p>
          <a:p>
            <a:pPr indent="0" lvl="0" marL="0" rtl="0" algn="l">
              <a:lnSpc>
                <a:spcPct val="115000"/>
              </a:lnSpc>
              <a:spcBef>
                <a:spcPts val="0"/>
              </a:spcBef>
              <a:spcAft>
                <a:spcPts val="0"/>
              </a:spcAft>
              <a:buSzPts val="1300"/>
              <a:buNone/>
            </a:pPr>
            <a:r>
              <a:rPr lang="ja"/>
              <a:t>[経済状況]</a:t>
            </a:r>
            <a:endParaRPr/>
          </a:p>
          <a:p>
            <a:pPr indent="0" lvl="0" marL="0" rtl="0" algn="l">
              <a:lnSpc>
                <a:spcPct val="115000"/>
              </a:lnSpc>
              <a:spcBef>
                <a:spcPts val="0"/>
              </a:spcBef>
              <a:spcAft>
                <a:spcPts val="0"/>
              </a:spcAft>
              <a:buSzPts val="1300"/>
              <a:buNone/>
            </a:pPr>
            <a:r>
              <a:rPr lang="ja"/>
              <a:t>[家族構成]</a:t>
            </a:r>
            <a:endParaRPr/>
          </a:p>
          <a:p>
            <a:pPr indent="0" lvl="0" marL="0" rtl="0" algn="l">
              <a:lnSpc>
                <a:spcPct val="115000"/>
              </a:lnSpc>
              <a:spcBef>
                <a:spcPts val="0"/>
              </a:spcBef>
              <a:spcAft>
                <a:spcPts val="0"/>
              </a:spcAft>
              <a:buSzPts val="1300"/>
              <a:buNone/>
            </a:pPr>
            <a:r>
              <a:rPr lang="ja"/>
              <a:t>[本人との続柄]</a:t>
            </a:r>
            <a:endParaRPr/>
          </a:p>
          <a:p>
            <a:pPr indent="0" lvl="0" marL="0" rtl="0" algn="l">
              <a:lnSpc>
                <a:spcPct val="115000"/>
              </a:lnSpc>
              <a:spcBef>
                <a:spcPts val="0"/>
              </a:spcBef>
              <a:spcAft>
                <a:spcPts val="0"/>
              </a:spcAft>
              <a:buSzPts val="1300"/>
              <a:buNone/>
            </a:pPr>
            <a:r>
              <a:rPr lang="ja"/>
              <a:t>など</a:t>
            </a:r>
            <a:endParaRPr/>
          </a:p>
        </p:txBody>
      </p:sp>
      <p:sp>
        <p:nvSpPr>
          <p:cNvPr id="241" name="Google Shape;241;g3aab28b5710_1_5"/>
          <p:cNvSpPr txBox="1"/>
          <p:nvPr>
            <p:ph idx="2" type="body"/>
          </p:nvPr>
        </p:nvSpPr>
        <p:spPr>
          <a:xfrm>
            <a:off x="4643600" y="1305175"/>
            <a:ext cx="3774300" cy="2262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300"/>
              <a:buNone/>
            </a:pPr>
            <a:r>
              <a:rPr lang="ja"/>
              <a:t>[訪問日時]</a:t>
            </a:r>
            <a:endParaRPr/>
          </a:p>
          <a:p>
            <a:pPr indent="0" lvl="0" marL="0" rtl="0" algn="l">
              <a:lnSpc>
                <a:spcPct val="115000"/>
              </a:lnSpc>
              <a:spcBef>
                <a:spcPts val="0"/>
              </a:spcBef>
              <a:spcAft>
                <a:spcPts val="0"/>
              </a:spcAft>
              <a:buSzPts val="1300"/>
              <a:buNone/>
            </a:pPr>
            <a:r>
              <a:rPr lang="ja"/>
              <a:t>[訪問者氏名]</a:t>
            </a:r>
            <a:endParaRPr/>
          </a:p>
          <a:p>
            <a:pPr indent="0" lvl="0" marL="0" rtl="0" algn="l">
              <a:lnSpc>
                <a:spcPct val="115000"/>
              </a:lnSpc>
              <a:spcBef>
                <a:spcPts val="0"/>
              </a:spcBef>
              <a:spcAft>
                <a:spcPts val="0"/>
              </a:spcAft>
              <a:buSzPts val="1300"/>
              <a:buNone/>
            </a:pPr>
            <a:r>
              <a:rPr lang="ja"/>
              <a:t>[訪問目的]</a:t>
            </a:r>
            <a:endParaRPr/>
          </a:p>
          <a:p>
            <a:pPr indent="0" lvl="0" marL="0" rtl="0" algn="l">
              <a:lnSpc>
                <a:spcPct val="115000"/>
              </a:lnSpc>
              <a:spcBef>
                <a:spcPts val="0"/>
              </a:spcBef>
              <a:spcAft>
                <a:spcPts val="0"/>
              </a:spcAft>
              <a:buSzPts val="1300"/>
              <a:buNone/>
            </a:pPr>
            <a:r>
              <a:rPr lang="ja"/>
              <a:t>[訪問に対する本人の反応・理解]</a:t>
            </a:r>
            <a:endParaRPr/>
          </a:p>
          <a:p>
            <a:pPr indent="0" lvl="0" marL="0" rtl="0" algn="l">
              <a:lnSpc>
                <a:spcPct val="115000"/>
              </a:lnSpc>
              <a:spcBef>
                <a:spcPts val="0"/>
              </a:spcBef>
              <a:spcAft>
                <a:spcPts val="0"/>
              </a:spcAft>
              <a:buSzPts val="1300"/>
              <a:buNone/>
            </a:pPr>
            <a:r>
              <a:rPr lang="ja"/>
              <a:t>[認知機能]</a:t>
            </a:r>
            <a:endParaRPr/>
          </a:p>
          <a:p>
            <a:pPr indent="0" lvl="0" marL="0" rtl="0" algn="l">
              <a:lnSpc>
                <a:spcPct val="115000"/>
              </a:lnSpc>
              <a:spcBef>
                <a:spcPts val="0"/>
              </a:spcBef>
              <a:spcAft>
                <a:spcPts val="0"/>
              </a:spcAft>
              <a:buSzPts val="1300"/>
              <a:buNone/>
            </a:pPr>
            <a:r>
              <a:rPr lang="ja"/>
              <a:t>[精神症状・行動症状]</a:t>
            </a:r>
            <a:endParaRPr/>
          </a:p>
          <a:p>
            <a:pPr indent="0" lvl="0" marL="0" rtl="0" algn="l">
              <a:lnSpc>
                <a:spcPct val="115000"/>
              </a:lnSpc>
              <a:spcBef>
                <a:spcPts val="0"/>
              </a:spcBef>
              <a:spcAft>
                <a:spcPts val="0"/>
              </a:spcAft>
              <a:buSzPts val="1300"/>
              <a:buNone/>
            </a:pPr>
            <a:r>
              <a:rPr lang="ja"/>
              <a:t>[身体状況]</a:t>
            </a:r>
            <a:endParaRPr/>
          </a:p>
          <a:p>
            <a:pPr indent="0" lvl="0" marL="0" rtl="0" algn="l">
              <a:lnSpc>
                <a:spcPct val="115000"/>
              </a:lnSpc>
              <a:spcBef>
                <a:spcPts val="0"/>
              </a:spcBef>
              <a:spcAft>
                <a:spcPts val="0"/>
              </a:spcAft>
              <a:buSzPts val="1300"/>
              <a:buNone/>
            </a:pPr>
            <a:r>
              <a:rPr lang="ja"/>
              <a:t>[運動機能・立ち上がり・歩行状況]</a:t>
            </a:r>
            <a:endParaRPr/>
          </a:p>
          <a:p>
            <a:pPr indent="0" lvl="0" marL="0" rtl="0" algn="l">
              <a:lnSpc>
                <a:spcPct val="115000"/>
              </a:lnSpc>
              <a:spcBef>
                <a:spcPts val="0"/>
              </a:spcBef>
              <a:spcAft>
                <a:spcPts val="0"/>
              </a:spcAft>
              <a:buSzPts val="1300"/>
              <a:buNone/>
            </a:pPr>
            <a:r>
              <a:rPr lang="ja"/>
              <a:t>など</a:t>
            </a:r>
            <a:endParaRPr/>
          </a:p>
        </p:txBody>
      </p:sp>
      <p:sp>
        <p:nvSpPr>
          <p:cNvPr id="242" name="Google Shape;242;g3aab28b5710_1_5"/>
          <p:cNvSpPr txBox="1"/>
          <p:nvPr>
            <p:ph idx="3" type="title"/>
          </p:nvPr>
        </p:nvSpPr>
        <p:spPr>
          <a:xfrm>
            <a:off x="4643600" y="615850"/>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訪問記録表</a:t>
            </a:r>
            <a:endParaRPr/>
          </a:p>
        </p:txBody>
      </p:sp>
      <p:sp>
        <p:nvSpPr>
          <p:cNvPr id="243" name="Google Shape;243;g3aab28b5710_1_5"/>
          <p:cNvSpPr txBox="1"/>
          <p:nvPr/>
        </p:nvSpPr>
        <p:spPr>
          <a:xfrm>
            <a:off x="478825" y="3568025"/>
            <a:ext cx="3575700" cy="1428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accent1"/>
                </a:solidFill>
                <a:latin typeface="Lato"/>
                <a:ea typeface="Lato"/>
                <a:cs typeface="Lato"/>
                <a:sym typeface="Lato"/>
              </a:rPr>
              <a:t>利用者基本情報では、対象者の家族が最初に相談に来た際に記入する初回相談票を想定しています。</a:t>
            </a:r>
            <a:endParaRPr b="0" i="0" sz="1300" u="none" cap="none" strike="noStrike">
              <a:solidFill>
                <a:schemeClr val="accent1"/>
              </a:solidFill>
              <a:latin typeface="Lato"/>
              <a:ea typeface="Lato"/>
              <a:cs typeface="Lato"/>
              <a:sym typeface="Lato"/>
            </a:endParaRPr>
          </a:p>
        </p:txBody>
      </p:sp>
      <p:sp>
        <p:nvSpPr>
          <p:cNvPr id="244" name="Google Shape;244;g3aab28b5710_1_5"/>
          <p:cNvSpPr txBox="1"/>
          <p:nvPr/>
        </p:nvSpPr>
        <p:spPr>
          <a:xfrm>
            <a:off x="4457400" y="3568025"/>
            <a:ext cx="3575700" cy="1428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accent1"/>
                </a:solidFill>
                <a:latin typeface="Lato"/>
                <a:ea typeface="Lato"/>
                <a:cs typeface="Lato"/>
                <a:sym typeface="Lato"/>
              </a:rPr>
              <a:t>訪問記録表では、認知症初期集中支援チームの職員が対象者の自宅を訪問した時際の監察結果や聞き取り内容・支援状況を入力します</a:t>
            </a:r>
            <a:endParaRPr b="0" i="0" sz="1300" u="none" cap="none" strike="noStrike">
              <a:solidFill>
                <a:schemeClr val="accent1"/>
              </a:solidFill>
              <a:latin typeface="Lato"/>
              <a:ea typeface="Lato"/>
              <a:cs typeface="Lato"/>
              <a:sym typeface="Lato"/>
            </a:endParaRPr>
          </a:p>
        </p:txBody>
      </p:sp>
      <p:sp>
        <p:nvSpPr>
          <p:cNvPr id="245" name="Google Shape;245;g3aab28b5710_1_5"/>
          <p:cNvSpPr txBox="1"/>
          <p:nvPr>
            <p:ph idx="12" type="sldNum"/>
          </p:nvPr>
        </p:nvSpPr>
        <p:spPr>
          <a:xfrm>
            <a:off x="8595302" y="474990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g3aa6b16614f_0_16"/>
          <p:cNvSpPr txBox="1"/>
          <p:nvPr>
            <p:ph type="title"/>
          </p:nvPr>
        </p:nvSpPr>
        <p:spPr>
          <a:xfrm>
            <a:off x="544100" y="600425"/>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Clr>
                <a:srgbClr val="000000"/>
              </a:buClr>
              <a:buSzPct val="111111"/>
              <a:buFont typeface="Arial"/>
              <a:buNone/>
            </a:pPr>
            <a:r>
              <a:rPr lang="ja"/>
              <a:t>DASC-21の入力データ</a:t>
            </a:r>
            <a:endParaRPr/>
          </a:p>
          <a:p>
            <a:pPr indent="0" lvl="0" marL="0" rtl="0" algn="l">
              <a:lnSpc>
                <a:spcPct val="100000"/>
              </a:lnSpc>
              <a:spcBef>
                <a:spcPts val="0"/>
              </a:spcBef>
              <a:spcAft>
                <a:spcPts val="0"/>
              </a:spcAft>
              <a:buSzPct val="111111"/>
              <a:buNone/>
            </a:pPr>
            <a:r>
              <a:t/>
            </a:r>
            <a:endParaRPr/>
          </a:p>
        </p:txBody>
      </p:sp>
      <p:sp>
        <p:nvSpPr>
          <p:cNvPr id="251" name="Google Shape;251;g3aa6b16614f_0_16"/>
          <p:cNvSpPr txBox="1"/>
          <p:nvPr>
            <p:ph idx="1" type="body"/>
          </p:nvPr>
        </p:nvSpPr>
        <p:spPr>
          <a:xfrm>
            <a:off x="544100" y="1345175"/>
            <a:ext cx="3774300" cy="1319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300"/>
              <a:buNone/>
            </a:pPr>
            <a:r>
              <a:rPr lang="ja"/>
              <a:t>[記入日]</a:t>
            </a:r>
            <a:endParaRPr/>
          </a:p>
          <a:p>
            <a:pPr indent="0" lvl="0" marL="0" rtl="0" algn="l">
              <a:lnSpc>
                <a:spcPct val="115000"/>
              </a:lnSpc>
              <a:spcBef>
                <a:spcPts val="0"/>
              </a:spcBef>
              <a:spcAft>
                <a:spcPts val="0"/>
              </a:spcAft>
              <a:buSzPts val="1300"/>
              <a:buNone/>
            </a:pPr>
            <a:r>
              <a:rPr lang="ja"/>
              <a:t>[ご本人の氏名]</a:t>
            </a:r>
            <a:endParaRPr/>
          </a:p>
          <a:p>
            <a:pPr indent="0" lvl="0" marL="0" rtl="0" algn="l">
              <a:lnSpc>
                <a:spcPct val="115000"/>
              </a:lnSpc>
              <a:spcBef>
                <a:spcPts val="0"/>
              </a:spcBef>
              <a:spcAft>
                <a:spcPts val="0"/>
              </a:spcAft>
              <a:buSzPts val="1300"/>
              <a:buNone/>
            </a:pPr>
            <a:r>
              <a:rPr lang="ja"/>
              <a:t>[生年月日]</a:t>
            </a:r>
            <a:endParaRPr/>
          </a:p>
          <a:p>
            <a:pPr indent="0" lvl="0" marL="0" rtl="0" algn="l">
              <a:lnSpc>
                <a:spcPct val="115000"/>
              </a:lnSpc>
              <a:spcBef>
                <a:spcPts val="0"/>
              </a:spcBef>
              <a:spcAft>
                <a:spcPts val="0"/>
              </a:spcAft>
              <a:buSzPts val="1300"/>
              <a:buNone/>
            </a:pPr>
            <a:r>
              <a:rPr lang="ja"/>
              <a:t>[ご本人以外の情報提供者の氏名]</a:t>
            </a:r>
            <a:endParaRPr/>
          </a:p>
          <a:p>
            <a:pPr indent="0" lvl="0" marL="0" rtl="0" algn="l">
              <a:lnSpc>
                <a:spcPct val="115000"/>
              </a:lnSpc>
              <a:spcBef>
                <a:spcPts val="0"/>
              </a:spcBef>
              <a:spcAft>
                <a:spcPts val="0"/>
              </a:spcAft>
              <a:buSzPts val="1300"/>
              <a:buNone/>
            </a:pPr>
            <a:r>
              <a:rPr lang="ja"/>
              <a:t>[評価者氏名]</a:t>
            </a:r>
            <a:endParaRPr/>
          </a:p>
        </p:txBody>
      </p:sp>
      <p:sp>
        <p:nvSpPr>
          <p:cNvPr id="252" name="Google Shape;252;g3aa6b16614f_0_16"/>
          <p:cNvSpPr txBox="1"/>
          <p:nvPr>
            <p:ph idx="2" type="body"/>
          </p:nvPr>
        </p:nvSpPr>
        <p:spPr>
          <a:xfrm>
            <a:off x="4635875" y="1345175"/>
            <a:ext cx="3774300" cy="14118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300"/>
              <a:buNone/>
            </a:pPr>
            <a:r>
              <a:rPr lang="ja"/>
              <a:t>[氏名]</a:t>
            </a:r>
            <a:endParaRPr/>
          </a:p>
          <a:p>
            <a:pPr indent="0" lvl="0" marL="0" rtl="0" algn="l">
              <a:lnSpc>
                <a:spcPct val="115000"/>
              </a:lnSpc>
              <a:spcBef>
                <a:spcPts val="0"/>
              </a:spcBef>
              <a:spcAft>
                <a:spcPts val="0"/>
              </a:spcAft>
              <a:buSzPts val="1300"/>
              <a:buNone/>
            </a:pPr>
            <a:r>
              <a:rPr lang="ja"/>
              <a:t>[生年月日]</a:t>
            </a:r>
            <a:endParaRPr/>
          </a:p>
          <a:p>
            <a:pPr indent="0" lvl="0" marL="0" rtl="0" algn="l">
              <a:lnSpc>
                <a:spcPct val="115000"/>
              </a:lnSpc>
              <a:spcBef>
                <a:spcPts val="0"/>
              </a:spcBef>
              <a:spcAft>
                <a:spcPts val="0"/>
              </a:spcAft>
              <a:buSzPts val="1300"/>
              <a:buNone/>
            </a:pPr>
            <a:r>
              <a:rPr lang="ja"/>
              <a:t>[回答者氏名]</a:t>
            </a:r>
            <a:endParaRPr/>
          </a:p>
          <a:p>
            <a:pPr indent="0" lvl="0" marL="0" rtl="0" algn="l">
              <a:lnSpc>
                <a:spcPct val="115000"/>
              </a:lnSpc>
              <a:spcBef>
                <a:spcPts val="0"/>
              </a:spcBef>
              <a:spcAft>
                <a:spcPts val="0"/>
              </a:spcAft>
              <a:buSzPts val="1300"/>
              <a:buNone/>
            </a:pPr>
            <a:r>
              <a:rPr lang="ja"/>
              <a:t>[評価者氏名]</a:t>
            </a:r>
            <a:endParaRPr/>
          </a:p>
          <a:p>
            <a:pPr indent="0" lvl="0" marL="0" rtl="0" algn="l">
              <a:lnSpc>
                <a:spcPct val="115000"/>
              </a:lnSpc>
              <a:spcBef>
                <a:spcPts val="0"/>
              </a:spcBef>
              <a:spcAft>
                <a:spcPts val="0"/>
              </a:spcAft>
              <a:buSzPts val="1300"/>
              <a:buNone/>
            </a:pPr>
            <a:r>
              <a:rPr lang="ja"/>
              <a:t>[記入日]</a:t>
            </a:r>
            <a:endParaRPr/>
          </a:p>
        </p:txBody>
      </p:sp>
      <p:sp>
        <p:nvSpPr>
          <p:cNvPr id="253" name="Google Shape;253;g3aa6b16614f_0_16"/>
          <p:cNvSpPr txBox="1"/>
          <p:nvPr>
            <p:ph idx="3" type="title"/>
          </p:nvPr>
        </p:nvSpPr>
        <p:spPr>
          <a:xfrm>
            <a:off x="4572000" y="600425"/>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Clr>
                <a:srgbClr val="000000"/>
              </a:buClr>
              <a:buSzPct val="111111"/>
              <a:buFont typeface="Arial"/>
              <a:buNone/>
            </a:pPr>
            <a:r>
              <a:rPr lang="ja"/>
              <a:t>DBD13の入力データ</a:t>
            </a:r>
            <a:endParaRPr/>
          </a:p>
          <a:p>
            <a:pPr indent="0" lvl="0" marL="0" rtl="0" algn="l">
              <a:lnSpc>
                <a:spcPct val="100000"/>
              </a:lnSpc>
              <a:spcBef>
                <a:spcPts val="0"/>
              </a:spcBef>
              <a:spcAft>
                <a:spcPts val="0"/>
              </a:spcAft>
              <a:buSzPct val="111111"/>
              <a:buNone/>
            </a:pPr>
            <a:r>
              <a:t/>
            </a:r>
            <a:endParaRPr/>
          </a:p>
        </p:txBody>
      </p:sp>
      <p:sp>
        <p:nvSpPr>
          <p:cNvPr id="254" name="Google Shape;254;g3aa6b16614f_0_16"/>
          <p:cNvSpPr txBox="1"/>
          <p:nvPr/>
        </p:nvSpPr>
        <p:spPr>
          <a:xfrm>
            <a:off x="471100" y="2757100"/>
            <a:ext cx="3560400" cy="1961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accent1"/>
                </a:solidFill>
                <a:latin typeface="Lato"/>
                <a:ea typeface="Lato"/>
                <a:cs typeface="Lato"/>
                <a:sym typeface="Lato"/>
              </a:rPr>
              <a:t>DASC-21では、「物忘れの程度」や「同じことを繰り返す」などの項目を、0〜4の5段階からラジオボタンで選んで評価できるようにしています。また、補足を書くための備考欄や、入力内容に基づく合計点の自動計算機能にも対応しています。</a:t>
            </a:r>
            <a:endParaRPr b="0" i="0" sz="1300" u="none" cap="none" strike="noStrike">
              <a:solidFill>
                <a:schemeClr val="accent1"/>
              </a:solidFill>
              <a:latin typeface="Lato"/>
              <a:ea typeface="Lato"/>
              <a:cs typeface="Lato"/>
              <a:sym typeface="Lato"/>
            </a:endParaRPr>
          </a:p>
        </p:txBody>
      </p:sp>
      <p:sp>
        <p:nvSpPr>
          <p:cNvPr id="255" name="Google Shape;255;g3aa6b16614f_0_16"/>
          <p:cNvSpPr txBox="1"/>
          <p:nvPr/>
        </p:nvSpPr>
        <p:spPr>
          <a:xfrm>
            <a:off x="4318400" y="2757100"/>
            <a:ext cx="3560400" cy="1961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accent1"/>
                </a:solidFill>
                <a:latin typeface="Lato"/>
                <a:ea typeface="Lato"/>
                <a:cs typeface="Lato"/>
                <a:sym typeface="Lato"/>
              </a:rPr>
              <a:t>DBD13では、認知症の方に見られる「もの盗られ妄想」「大声を出す・叫ぶ」のような行動・心理症状を項目を0〜4の5段階からラジオボタンで選んで評価できるようにしています。</a:t>
            </a:r>
            <a:endParaRPr b="0" i="0" sz="1300" u="none" cap="none" strike="noStrike">
              <a:solidFill>
                <a:schemeClr val="accent1"/>
              </a:solidFill>
              <a:latin typeface="Lato"/>
              <a:ea typeface="Lato"/>
              <a:cs typeface="Lato"/>
              <a:sym typeface="Lato"/>
            </a:endParaRPr>
          </a:p>
        </p:txBody>
      </p:sp>
      <p:sp>
        <p:nvSpPr>
          <p:cNvPr id="256" name="Google Shape;256;g3aa6b16614f_0_16"/>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g385f7ff001b_2_0"/>
          <p:cNvSpPr txBox="1"/>
          <p:nvPr>
            <p:ph type="title"/>
          </p:nvPr>
        </p:nvSpPr>
        <p:spPr>
          <a:xfrm>
            <a:off x="546725" y="697425"/>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技術要素：テキストマイニング</a:t>
            </a:r>
            <a:endParaRPr/>
          </a:p>
        </p:txBody>
      </p:sp>
      <p:sp>
        <p:nvSpPr>
          <p:cNvPr id="262" name="Google Shape;262;g385f7ff001b_2_0"/>
          <p:cNvSpPr txBox="1"/>
          <p:nvPr>
            <p:ph idx="1" type="body"/>
          </p:nvPr>
        </p:nvSpPr>
        <p:spPr>
          <a:xfrm>
            <a:off x="432150" y="2288575"/>
            <a:ext cx="8279700" cy="1598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1600">
                <a:solidFill>
                  <a:schemeClr val="dk2"/>
                </a:solidFill>
              </a:rPr>
              <a:t>テキストマイニングを活用して過去の支援事例から類似ケースを検索し、支援方針の補助を行うことで地域包括支援センターの業務を効率化するシステムを構築する。</a:t>
            </a:r>
            <a:endParaRPr sz="1600">
              <a:solidFill>
                <a:schemeClr val="dk2"/>
              </a:solidFill>
            </a:endParaRPr>
          </a:p>
          <a:p>
            <a:pPr indent="0" lvl="0" marL="0" rtl="0" algn="l">
              <a:lnSpc>
                <a:spcPct val="115000"/>
              </a:lnSpc>
              <a:spcBef>
                <a:spcPts val="0"/>
              </a:spcBef>
              <a:spcAft>
                <a:spcPts val="0"/>
              </a:spcAft>
              <a:buSzPts val="1300"/>
              <a:buNone/>
            </a:pPr>
            <a:r>
              <a:rPr lang="ja" sz="1600">
                <a:solidFill>
                  <a:schemeClr val="dk2"/>
                </a:solidFill>
              </a:rPr>
              <a:t>　　　　　　　　　　　　　　　　　　↓</a:t>
            </a:r>
            <a:endParaRPr sz="1600">
              <a:solidFill>
                <a:schemeClr val="dk2"/>
              </a:solidFill>
            </a:endParaRPr>
          </a:p>
          <a:p>
            <a:pPr indent="0" lvl="0" marL="0" rtl="0" algn="l">
              <a:lnSpc>
                <a:spcPct val="115000"/>
              </a:lnSpc>
              <a:spcBef>
                <a:spcPts val="0"/>
              </a:spcBef>
              <a:spcAft>
                <a:spcPts val="0"/>
              </a:spcAft>
              <a:buSzPts val="1300"/>
              <a:buNone/>
            </a:pPr>
            <a:r>
              <a:rPr b="1" lang="ja" sz="1600">
                <a:solidFill>
                  <a:srgbClr val="000000"/>
                </a:solidFill>
                <a:latin typeface="Arial"/>
                <a:ea typeface="Arial"/>
                <a:cs typeface="Arial"/>
                <a:sym typeface="Arial"/>
              </a:rPr>
              <a:t>             類似ケースの参照、支援方針の立案</a:t>
            </a:r>
            <a:r>
              <a:rPr lang="ja" sz="1600">
                <a:solidFill>
                  <a:srgbClr val="000000"/>
                </a:solidFill>
                <a:latin typeface="Arial"/>
                <a:ea typeface="Arial"/>
                <a:cs typeface="Arial"/>
                <a:sym typeface="Arial"/>
              </a:rPr>
              <a:t>といった業務が効率化・支援され、</a:t>
            </a:r>
            <a:endParaRPr sz="1600">
              <a:solidFill>
                <a:srgbClr val="000000"/>
              </a:solidFill>
              <a:latin typeface="Arial"/>
              <a:ea typeface="Arial"/>
              <a:cs typeface="Arial"/>
              <a:sym typeface="Arial"/>
            </a:endParaRPr>
          </a:p>
          <a:p>
            <a:pPr indent="0" lvl="0" marL="0" rtl="0" algn="l">
              <a:lnSpc>
                <a:spcPct val="115000"/>
              </a:lnSpc>
              <a:spcBef>
                <a:spcPts val="0"/>
              </a:spcBef>
              <a:spcAft>
                <a:spcPts val="0"/>
              </a:spcAft>
              <a:buSzPts val="1300"/>
              <a:buNone/>
            </a:pPr>
            <a:r>
              <a:rPr lang="ja" sz="1600">
                <a:solidFill>
                  <a:srgbClr val="000000"/>
                </a:solidFill>
                <a:latin typeface="Arial"/>
                <a:ea typeface="Arial"/>
                <a:cs typeface="Arial"/>
                <a:sym typeface="Arial"/>
              </a:rPr>
              <a:t>             地域包括支援センターの業務の迅速性を高めることができる。</a:t>
            </a:r>
            <a:endParaRPr sz="1600">
              <a:solidFill>
                <a:schemeClr val="dk2"/>
              </a:solidFill>
            </a:endParaRPr>
          </a:p>
        </p:txBody>
      </p:sp>
      <p:sp>
        <p:nvSpPr>
          <p:cNvPr id="263" name="Google Shape;263;g385f7ff001b_2_0"/>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g3aab28b5710_1_47"/>
          <p:cNvSpPr txBox="1"/>
          <p:nvPr>
            <p:ph type="title"/>
          </p:nvPr>
        </p:nvSpPr>
        <p:spPr>
          <a:xfrm>
            <a:off x="727650" y="584950"/>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入力内容の具体例</a:t>
            </a:r>
            <a:endParaRPr/>
          </a:p>
        </p:txBody>
      </p:sp>
      <p:sp>
        <p:nvSpPr>
          <p:cNvPr id="269" name="Google Shape;269;g3aab28b5710_1_47"/>
          <p:cNvSpPr txBox="1"/>
          <p:nvPr>
            <p:ph idx="12" type="sldNum"/>
          </p:nvPr>
        </p:nvSpPr>
        <p:spPr>
          <a:xfrm>
            <a:off x="8595302" y="474990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pic>
        <p:nvPicPr>
          <p:cNvPr id="270" name="Google Shape;270;g3aab28b5710_1_47" title="スクリーンショット 2025-11-29 004158.png"/>
          <p:cNvPicPr preferRelativeResize="0"/>
          <p:nvPr/>
        </p:nvPicPr>
        <p:blipFill rotWithShape="1">
          <a:blip r:embed="rId3">
            <a:alphaModFix/>
          </a:blip>
          <a:srcRect b="0" l="0" r="0" t="0"/>
          <a:stretch/>
        </p:blipFill>
        <p:spPr>
          <a:xfrm>
            <a:off x="727650" y="1235700"/>
            <a:ext cx="8039348" cy="37842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g3aab28b5710_1_56"/>
          <p:cNvSpPr txBox="1"/>
          <p:nvPr>
            <p:ph idx="1" type="body"/>
          </p:nvPr>
        </p:nvSpPr>
        <p:spPr>
          <a:xfrm>
            <a:off x="727650" y="1699450"/>
            <a:ext cx="7688700" cy="3050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300"/>
              <a:buNone/>
            </a:pPr>
            <a:r>
              <a:rPr b="1" lang="ja"/>
              <a:t>項目数</a:t>
            </a:r>
            <a:endParaRPr b="1"/>
          </a:p>
          <a:p>
            <a:pPr indent="0" lvl="0" marL="0" rtl="0" algn="l">
              <a:lnSpc>
                <a:spcPct val="115000"/>
              </a:lnSpc>
              <a:spcBef>
                <a:spcPts val="0"/>
              </a:spcBef>
              <a:spcAft>
                <a:spcPts val="0"/>
              </a:spcAft>
              <a:buSzPts val="1300"/>
              <a:buNone/>
            </a:pPr>
            <a:r>
              <a:rPr lang="ja"/>
              <a:t>利用者基本情報を27項目、訪問記録表を29項目、身体状況チェック表を29項目、DASC-21を21項目、</a:t>
            </a:r>
            <a:endParaRPr/>
          </a:p>
          <a:p>
            <a:pPr indent="0" lvl="0" marL="0" rtl="0" algn="l">
              <a:lnSpc>
                <a:spcPct val="115000"/>
              </a:lnSpc>
              <a:spcBef>
                <a:spcPts val="0"/>
              </a:spcBef>
              <a:spcAft>
                <a:spcPts val="0"/>
              </a:spcAft>
              <a:buSzPts val="1300"/>
              <a:buNone/>
            </a:pPr>
            <a:r>
              <a:rPr lang="ja"/>
              <a:t>DBD13を13項目　</a:t>
            </a:r>
            <a:endParaRPr/>
          </a:p>
          <a:p>
            <a:pPr indent="0" lvl="0" marL="0" rtl="0" algn="l">
              <a:lnSpc>
                <a:spcPct val="115000"/>
              </a:lnSpc>
              <a:spcBef>
                <a:spcPts val="0"/>
              </a:spcBef>
              <a:spcAft>
                <a:spcPts val="0"/>
              </a:spcAft>
              <a:buSzPts val="1300"/>
              <a:buNone/>
            </a:pPr>
            <a:r>
              <a:rPr lang="ja"/>
              <a:t>合計　119項目</a:t>
            </a:r>
            <a:endParaRPr/>
          </a:p>
          <a:p>
            <a:pPr indent="0" lvl="0" marL="0" rtl="0" algn="l">
              <a:lnSpc>
                <a:spcPct val="115000"/>
              </a:lnSpc>
              <a:spcBef>
                <a:spcPts val="0"/>
              </a:spcBef>
              <a:spcAft>
                <a:spcPts val="0"/>
              </a:spcAft>
              <a:buSzPts val="1300"/>
              <a:buNone/>
            </a:pPr>
            <a:r>
              <a:rPr b="1" lang="ja"/>
              <a:t>文量</a:t>
            </a:r>
            <a:endParaRPr b="1" sz="1100">
              <a:solidFill>
                <a:srgbClr val="000000"/>
              </a:solidFill>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利用者基本情報　　：100〜200文字　    自由記述中心</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訪問記録表　　　　：100〜200文字　　自由記述中心</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身体状況チェック表：100〜200文字　　自由記述中心</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DASC-21　　　　   ：1~5文字　　　　  ラジオボタン＋備考</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DBD13　　　　　   ：1~5文字　　　　  ラジオボタン</a:t>
            </a:r>
            <a:endParaRPr b="1"/>
          </a:p>
        </p:txBody>
      </p:sp>
      <p:sp>
        <p:nvSpPr>
          <p:cNvPr id="276" name="Google Shape;276;g3aab28b5710_1_56"/>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a:t>‹#›</a:t>
            </a:fld>
            <a:endParaRPr/>
          </a:p>
        </p:txBody>
      </p:sp>
      <p:sp>
        <p:nvSpPr>
          <p:cNvPr id="277" name="Google Shape;277;g3aab28b5710_1_56"/>
          <p:cNvSpPr txBox="1"/>
          <p:nvPr>
            <p:ph type="title"/>
          </p:nvPr>
        </p:nvSpPr>
        <p:spPr>
          <a:xfrm>
            <a:off x="727650" y="584950"/>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入力内容の具体例</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g398e3b8d10d_3_23"/>
          <p:cNvSpPr txBox="1"/>
          <p:nvPr>
            <p:ph type="title"/>
          </p:nvPr>
        </p:nvSpPr>
        <p:spPr>
          <a:xfrm>
            <a:off x="778650" y="703400"/>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認知症状態評価の入出力</a:t>
            </a:r>
            <a:endParaRPr/>
          </a:p>
        </p:txBody>
      </p:sp>
      <p:sp>
        <p:nvSpPr>
          <p:cNvPr id="283" name="Google Shape;283;g398e3b8d10d_3_23"/>
          <p:cNvSpPr txBox="1"/>
          <p:nvPr>
            <p:ph idx="1" type="body"/>
          </p:nvPr>
        </p:nvSpPr>
        <p:spPr>
          <a:xfrm>
            <a:off x="992050" y="2400300"/>
            <a:ext cx="2497800" cy="1514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2000">
                <a:solidFill>
                  <a:schemeClr val="dk2"/>
                </a:solidFill>
              </a:rPr>
              <a:t>・入力データ</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［質問の回答］</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［質問ごとの点数］</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［備考］</a:t>
            </a:r>
            <a:endParaRPr sz="2000">
              <a:solidFill>
                <a:schemeClr val="dk2"/>
              </a:solidFill>
            </a:endParaRPr>
          </a:p>
        </p:txBody>
      </p:sp>
      <p:sp>
        <p:nvSpPr>
          <p:cNvPr id="284" name="Google Shape;284;g398e3b8d10d_3_23"/>
          <p:cNvSpPr txBox="1"/>
          <p:nvPr>
            <p:ph idx="1" type="body"/>
          </p:nvPr>
        </p:nvSpPr>
        <p:spPr>
          <a:xfrm>
            <a:off x="4839825" y="2352600"/>
            <a:ext cx="2904000" cy="1609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2000">
                <a:solidFill>
                  <a:schemeClr val="dk2"/>
                </a:solidFill>
              </a:rPr>
              <a:t>・出力データ</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［DASC-21の合計点］</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［DBD13の合計点］</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［重症度区分］</a:t>
            </a:r>
            <a:endParaRPr sz="2000">
              <a:solidFill>
                <a:schemeClr val="dk2"/>
              </a:solidFill>
            </a:endParaRPr>
          </a:p>
          <a:p>
            <a:pPr indent="0" lvl="0" marL="0" rtl="0" algn="l">
              <a:lnSpc>
                <a:spcPct val="115000"/>
              </a:lnSpc>
              <a:spcBef>
                <a:spcPts val="0"/>
              </a:spcBef>
              <a:spcAft>
                <a:spcPts val="0"/>
              </a:spcAft>
              <a:buSzPts val="1300"/>
              <a:buNone/>
            </a:pPr>
            <a:r>
              <a:t/>
            </a:r>
            <a:endParaRPr sz="1500">
              <a:solidFill>
                <a:schemeClr val="dk2"/>
              </a:solidFill>
            </a:endParaRPr>
          </a:p>
        </p:txBody>
      </p:sp>
      <p:sp>
        <p:nvSpPr>
          <p:cNvPr id="285" name="Google Shape;285;g398e3b8d10d_3_23"/>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g398e3b8d10d_1_34"/>
          <p:cNvSpPr txBox="1"/>
          <p:nvPr>
            <p:ph type="title"/>
          </p:nvPr>
        </p:nvSpPr>
        <p:spPr>
          <a:xfrm>
            <a:off x="546725" y="697425"/>
            <a:ext cx="42075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テキストマイニングの入出力</a:t>
            </a:r>
            <a:endParaRPr/>
          </a:p>
        </p:txBody>
      </p:sp>
      <p:sp>
        <p:nvSpPr>
          <p:cNvPr id="291" name="Google Shape;291;g398e3b8d10d_1_34"/>
          <p:cNvSpPr txBox="1"/>
          <p:nvPr>
            <p:ph idx="1" type="body"/>
          </p:nvPr>
        </p:nvSpPr>
        <p:spPr>
          <a:xfrm>
            <a:off x="0" y="1360500"/>
            <a:ext cx="4389900" cy="2865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1500">
                <a:solidFill>
                  <a:schemeClr val="dk2"/>
                </a:solidFill>
              </a:rPr>
              <a:t>・入力データ</a:t>
            </a:r>
            <a:endParaRPr sz="15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［訪問に対する本人の反応・理解］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［認知機能］ ※認知症日常生活自立度</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［精神症状・行動症状］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［身体状況］※障害高齢者の日常生活自立度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　　　　　　※別添：身体状況チェック票参照 </a:t>
            </a:r>
            <a:endParaRPr sz="1400">
              <a:solidFill>
                <a:schemeClr val="dk2"/>
              </a:solidFill>
            </a:endParaRPr>
          </a:p>
          <a:p>
            <a:pPr indent="0" lvl="0" marL="0" rtl="0" algn="l">
              <a:lnSpc>
                <a:spcPct val="115000"/>
              </a:lnSpc>
              <a:spcBef>
                <a:spcPts val="0"/>
              </a:spcBef>
              <a:spcAft>
                <a:spcPts val="0"/>
              </a:spcAft>
              <a:buClr>
                <a:srgbClr val="000000"/>
              </a:buClr>
              <a:buSzPts val="1300"/>
              <a:buFont typeface="Arial"/>
              <a:buNone/>
            </a:pPr>
            <a:r>
              <a:rPr lang="ja" sz="1400">
                <a:solidFill>
                  <a:schemeClr val="dk2"/>
                </a:solidFill>
              </a:rPr>
              <a:t>［生活状況］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［アセスメントシート］ DASC-21 , DBD13 の点数</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［本人の意向・希望］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［介護者の意向・希望］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［判断・支援内容］</a:t>
            </a:r>
            <a:endParaRPr sz="1500">
              <a:solidFill>
                <a:schemeClr val="dk2"/>
              </a:solidFill>
            </a:endParaRPr>
          </a:p>
        </p:txBody>
      </p:sp>
      <p:sp>
        <p:nvSpPr>
          <p:cNvPr id="292" name="Google Shape;292;g398e3b8d10d_1_34"/>
          <p:cNvSpPr txBox="1"/>
          <p:nvPr/>
        </p:nvSpPr>
        <p:spPr>
          <a:xfrm>
            <a:off x="4640325" y="3059550"/>
            <a:ext cx="4207500" cy="3849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300"/>
              <a:buFont typeface="Arial"/>
              <a:buNone/>
            </a:pPr>
            <a:r>
              <a:rPr b="0" i="0" lang="ja" sz="1300" u="none" cap="none" strike="noStrike">
                <a:solidFill>
                  <a:schemeClr val="dk2"/>
                </a:solidFill>
                <a:latin typeface="Lato"/>
                <a:ea typeface="Lato"/>
                <a:cs typeface="Lato"/>
                <a:sym typeface="Lato"/>
              </a:rPr>
              <a:t>収集対象：</a:t>
            </a:r>
            <a:r>
              <a:rPr b="0" i="0" lang="ja" sz="1300" u="sng" cap="none" strike="noStrike">
                <a:solidFill>
                  <a:schemeClr val="hlink"/>
                </a:solidFill>
                <a:latin typeface="Lato"/>
                <a:ea typeface="Lato"/>
                <a:cs typeface="Lato"/>
                <a:sym typeface="Lato"/>
                <a:hlinkClick r:id="rId3"/>
              </a:rPr>
              <a:t>認知症初期集中支援 訪問記録</a:t>
            </a:r>
            <a:r>
              <a:rPr b="0" i="0" lang="ja" sz="1300" u="sng" cap="none" strike="noStrike">
                <a:solidFill>
                  <a:srgbClr val="1C3678"/>
                </a:solidFill>
                <a:latin typeface="Lato"/>
                <a:ea typeface="Lato"/>
                <a:cs typeface="Lato"/>
                <a:sym typeface="Lato"/>
              </a:rPr>
              <a:t>表</a:t>
            </a:r>
            <a:r>
              <a:rPr b="0" i="0" lang="ja" sz="1300" u="none" cap="none" strike="noStrike">
                <a:solidFill>
                  <a:schemeClr val="dk2"/>
                </a:solidFill>
                <a:latin typeface="Lato"/>
                <a:ea typeface="Lato"/>
                <a:cs typeface="Lato"/>
                <a:sym typeface="Lato"/>
              </a:rPr>
              <a:t> (p.7記載)</a:t>
            </a:r>
            <a:endParaRPr b="0" i="0" sz="1500" u="none" cap="none" strike="noStrike">
              <a:solidFill>
                <a:schemeClr val="dk2"/>
              </a:solidFill>
              <a:latin typeface="Lato"/>
              <a:ea typeface="Lato"/>
              <a:cs typeface="Lato"/>
              <a:sym typeface="Lato"/>
            </a:endParaRPr>
          </a:p>
        </p:txBody>
      </p:sp>
      <p:sp>
        <p:nvSpPr>
          <p:cNvPr id="293" name="Google Shape;293;g398e3b8d10d_1_34"/>
          <p:cNvSpPr txBox="1"/>
          <p:nvPr>
            <p:ph idx="1" type="body"/>
          </p:nvPr>
        </p:nvSpPr>
        <p:spPr>
          <a:xfrm>
            <a:off x="4640325" y="1360488"/>
            <a:ext cx="4389900" cy="1328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1500">
                <a:solidFill>
                  <a:schemeClr val="dk2"/>
                </a:solidFill>
              </a:rPr>
              <a:t>・出力データ</a:t>
            </a:r>
            <a:endParaRPr sz="1500">
              <a:solidFill>
                <a:schemeClr val="dk2"/>
              </a:solidFill>
            </a:endParaRPr>
          </a:p>
          <a:p>
            <a:pPr indent="0" lvl="0" marL="0" rtl="0" algn="l">
              <a:lnSpc>
                <a:spcPct val="115000"/>
              </a:lnSpc>
              <a:spcBef>
                <a:spcPts val="0"/>
              </a:spcBef>
              <a:spcAft>
                <a:spcPts val="0"/>
              </a:spcAft>
              <a:buSzPts val="1300"/>
              <a:buNone/>
            </a:pPr>
            <a:r>
              <a:t/>
            </a:r>
            <a:endParaRPr sz="1500">
              <a:solidFill>
                <a:schemeClr val="dk2"/>
              </a:solidFill>
            </a:endParaRPr>
          </a:p>
          <a:p>
            <a:pPr indent="0" lvl="0" marL="0" rtl="0" algn="l">
              <a:lnSpc>
                <a:spcPct val="115000"/>
              </a:lnSpc>
              <a:spcBef>
                <a:spcPts val="0"/>
              </a:spcBef>
              <a:spcAft>
                <a:spcPts val="0"/>
              </a:spcAft>
              <a:buSzPts val="1300"/>
              <a:buNone/>
            </a:pPr>
            <a:r>
              <a:rPr lang="ja" sz="1500">
                <a:solidFill>
                  <a:schemeClr val="dk2"/>
                </a:solidFill>
              </a:rPr>
              <a:t>過去の類似している対象者の訪問記録表から</a:t>
            </a:r>
            <a:endParaRPr sz="15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［判断・支援内容］の項目を出力し提示。</a:t>
            </a:r>
            <a:endParaRPr sz="1500">
              <a:solidFill>
                <a:schemeClr val="dk2"/>
              </a:solidFill>
            </a:endParaRPr>
          </a:p>
        </p:txBody>
      </p:sp>
      <p:sp>
        <p:nvSpPr>
          <p:cNvPr id="294" name="Google Shape;294;g398e3b8d10d_1_34"/>
          <p:cNvSpPr txBox="1"/>
          <p:nvPr/>
        </p:nvSpPr>
        <p:spPr>
          <a:xfrm>
            <a:off x="9743275" y="-1467525"/>
            <a:ext cx="1577700" cy="1071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chemeClr val="accent1"/>
              </a:solidFill>
              <a:latin typeface="Lato"/>
              <a:ea typeface="Lato"/>
              <a:cs typeface="Lato"/>
              <a:sym typeface="Lato"/>
            </a:endParaRPr>
          </a:p>
        </p:txBody>
      </p:sp>
      <p:sp>
        <p:nvSpPr>
          <p:cNvPr id="295" name="Google Shape;295;g398e3b8d10d_1_34"/>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
        <p:nvSpPr>
          <p:cNvPr id="296" name="Google Shape;296;g398e3b8d10d_1_34"/>
          <p:cNvSpPr txBox="1"/>
          <p:nvPr/>
        </p:nvSpPr>
        <p:spPr>
          <a:xfrm>
            <a:off x="0" y="4088550"/>
            <a:ext cx="6518100" cy="4155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300"/>
              <a:buFont typeface="Arial"/>
              <a:buNone/>
            </a:pPr>
            <a:r>
              <a:rPr b="0" i="0" lang="ja" sz="1500" u="none" cap="none" strike="noStrike">
                <a:solidFill>
                  <a:schemeClr val="dk2"/>
                </a:solidFill>
                <a:latin typeface="Lato"/>
                <a:ea typeface="Lato"/>
                <a:cs typeface="Lato"/>
                <a:sym typeface="Lato"/>
              </a:rPr>
              <a:t>   </a:t>
            </a:r>
            <a:r>
              <a:rPr b="0" i="0" lang="ja" sz="1400" u="none" cap="none" strike="noStrike">
                <a:solidFill>
                  <a:schemeClr val="dk2"/>
                </a:solidFill>
                <a:latin typeface="Lato"/>
                <a:ea typeface="Lato"/>
                <a:cs typeface="Lato"/>
                <a:sym typeface="Lato"/>
              </a:rPr>
              <a:t>これらの項目からキーワードを抽出し、過去の類似している支援を抜粋する。</a:t>
            </a:r>
            <a:endParaRPr b="0" i="0" sz="1200" u="none" cap="none" strike="noStrike">
              <a:solidFill>
                <a:schemeClr val="accent1"/>
              </a:solidFill>
              <a:latin typeface="Lato"/>
              <a:ea typeface="Lato"/>
              <a:cs typeface="Lato"/>
              <a:sym typeface="Lato"/>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g398e3b8d10d_1_60"/>
          <p:cNvSpPr txBox="1"/>
          <p:nvPr>
            <p:ph type="title"/>
          </p:nvPr>
        </p:nvSpPr>
        <p:spPr>
          <a:xfrm>
            <a:off x="546725" y="697425"/>
            <a:ext cx="43899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テキストマイニングの入出力例</a:t>
            </a:r>
            <a:endParaRPr/>
          </a:p>
        </p:txBody>
      </p:sp>
      <p:sp>
        <p:nvSpPr>
          <p:cNvPr id="302" name="Google Shape;302;g398e3b8d10d_1_60"/>
          <p:cNvSpPr txBox="1"/>
          <p:nvPr>
            <p:ph idx="1" type="body"/>
          </p:nvPr>
        </p:nvSpPr>
        <p:spPr>
          <a:xfrm>
            <a:off x="8750" y="1232625"/>
            <a:ext cx="4936500" cy="3884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1500">
                <a:solidFill>
                  <a:schemeClr val="dk2"/>
                </a:solidFill>
              </a:rPr>
              <a:t>・入力データ</a:t>
            </a:r>
            <a:endParaRPr sz="15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［訪問に対する本人の反応・理解］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［認知機能］</a:t>
            </a:r>
            <a:endParaRPr sz="1400">
              <a:solidFill>
                <a:schemeClr val="dk2"/>
              </a:solidFill>
            </a:endParaRPr>
          </a:p>
          <a:p>
            <a:pPr indent="0" lvl="0" marL="0" rtl="0" algn="l">
              <a:lnSpc>
                <a:spcPct val="100000"/>
              </a:lnSpc>
              <a:spcBef>
                <a:spcPts val="0"/>
              </a:spcBef>
              <a:spcAft>
                <a:spcPts val="0"/>
              </a:spcAft>
              <a:buSzPts val="1300"/>
              <a:buNone/>
            </a:pPr>
            <a:r>
              <a:rPr lang="ja" sz="1400">
                <a:solidFill>
                  <a:srgbClr val="000000"/>
                </a:solidFill>
                <a:highlight>
                  <a:srgbClr val="EFEFEF"/>
                </a:highlight>
                <a:latin typeface="Arial"/>
                <a:ea typeface="Arial"/>
                <a:cs typeface="Arial"/>
                <a:sym typeface="Arial"/>
              </a:rPr>
              <a:t>近時記憶・問題解決・一部のIADLに支障あり。</a:t>
            </a:r>
            <a:endParaRPr sz="1400">
              <a:solidFill>
                <a:srgbClr val="000000"/>
              </a:solidFill>
              <a:highlight>
                <a:srgbClr val="EFEFEF"/>
              </a:highlight>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highlight>
                  <a:srgbClr val="EFEFEF"/>
                </a:highlight>
                <a:latin typeface="Arial"/>
                <a:ea typeface="Arial"/>
                <a:cs typeface="Arial"/>
                <a:sym typeface="Arial"/>
              </a:rPr>
              <a:t>MCI（軽度認知障害）レベル</a:t>
            </a:r>
            <a:r>
              <a:rPr lang="ja" sz="1400">
                <a:solidFill>
                  <a:srgbClr val="000000"/>
                </a:solidFill>
                <a:latin typeface="Arial"/>
                <a:ea typeface="Arial"/>
                <a:cs typeface="Arial"/>
                <a:sym typeface="Arial"/>
              </a:rPr>
              <a:t>。</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［精神症状・行動症状］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［身体状況］</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［生活状況］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［アセスメントシート］</a:t>
            </a:r>
            <a:endParaRPr sz="1400">
              <a:solidFill>
                <a:schemeClr val="dk2"/>
              </a:solidFill>
            </a:endParaRPr>
          </a:p>
          <a:p>
            <a:pPr indent="0" lvl="0" marL="0" rtl="0" algn="l">
              <a:lnSpc>
                <a:spcPct val="100000"/>
              </a:lnSpc>
              <a:spcBef>
                <a:spcPts val="0"/>
              </a:spcBef>
              <a:spcAft>
                <a:spcPts val="0"/>
              </a:spcAft>
              <a:buSzPts val="1300"/>
              <a:buNone/>
            </a:pPr>
            <a:r>
              <a:rPr lang="ja" sz="1400">
                <a:solidFill>
                  <a:srgbClr val="000000"/>
                </a:solidFill>
                <a:highlight>
                  <a:schemeClr val="lt1"/>
                </a:highlight>
                <a:latin typeface="Arial"/>
                <a:ea typeface="Arial"/>
                <a:cs typeface="Arial"/>
                <a:sym typeface="Arial"/>
              </a:rPr>
              <a:t>DASC-21：</a:t>
            </a:r>
            <a:r>
              <a:rPr lang="ja" sz="1400">
                <a:solidFill>
                  <a:srgbClr val="000000"/>
                </a:solidFill>
                <a:highlight>
                  <a:srgbClr val="EFEFEF"/>
                </a:highlight>
                <a:latin typeface="Arial"/>
                <a:ea typeface="Arial"/>
                <a:cs typeface="Arial"/>
                <a:sym typeface="Arial"/>
              </a:rPr>
              <a:t>32点</a:t>
            </a:r>
            <a:r>
              <a:rPr lang="ja" sz="1400">
                <a:solidFill>
                  <a:srgbClr val="000000"/>
                </a:solidFill>
                <a:highlight>
                  <a:schemeClr val="lt1"/>
                </a:highlight>
                <a:latin typeface="Arial"/>
                <a:ea typeface="Arial"/>
                <a:cs typeface="Arial"/>
                <a:sym typeface="Arial"/>
              </a:rPr>
              <a:t>。DBD13は</a:t>
            </a:r>
            <a:r>
              <a:rPr lang="ja" sz="1400">
                <a:solidFill>
                  <a:srgbClr val="000000"/>
                </a:solidFill>
                <a:highlight>
                  <a:srgbClr val="EFEFEF"/>
                </a:highlight>
                <a:latin typeface="Arial"/>
                <a:ea typeface="Arial"/>
                <a:cs typeface="Arial"/>
                <a:sym typeface="Arial"/>
              </a:rPr>
              <a:t>実施なし</a:t>
            </a:r>
            <a:r>
              <a:rPr lang="ja" sz="1400">
                <a:solidFill>
                  <a:srgbClr val="000000"/>
                </a:solidFill>
                <a:highlight>
                  <a:schemeClr val="lt1"/>
                </a:highlight>
                <a:latin typeface="Arial"/>
                <a:ea typeface="Arial"/>
                <a:cs typeface="Arial"/>
                <a:sym typeface="Arial"/>
              </a:rPr>
              <a:t>。</a:t>
            </a:r>
            <a:endParaRPr sz="1400">
              <a:solidFill>
                <a:schemeClr val="dk2"/>
              </a:solidFill>
              <a:highlight>
                <a:schemeClr val="lt1"/>
              </a:highlight>
            </a:endParaRPr>
          </a:p>
          <a:p>
            <a:pPr indent="0" lvl="0" marL="0" rtl="0" algn="l">
              <a:lnSpc>
                <a:spcPct val="115000"/>
              </a:lnSpc>
              <a:spcBef>
                <a:spcPts val="0"/>
              </a:spcBef>
              <a:spcAft>
                <a:spcPts val="0"/>
              </a:spcAft>
              <a:buSzPts val="1300"/>
              <a:buNone/>
            </a:pPr>
            <a:r>
              <a:rPr lang="ja" sz="1400">
                <a:solidFill>
                  <a:schemeClr val="dk2"/>
                </a:solidFill>
              </a:rPr>
              <a:t>［本人の意向・希望］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［介護者の意向・希望］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［判断・支援内容］</a:t>
            </a:r>
            <a:endParaRPr sz="1400">
              <a:solidFill>
                <a:schemeClr val="dk2"/>
              </a:solidFill>
            </a:endParaRPr>
          </a:p>
          <a:p>
            <a:pPr indent="0" lvl="0" marL="0" rtl="0" algn="l">
              <a:lnSpc>
                <a:spcPct val="100000"/>
              </a:lnSpc>
              <a:spcBef>
                <a:spcPts val="0"/>
              </a:spcBef>
              <a:spcAft>
                <a:spcPts val="0"/>
              </a:spcAft>
              <a:buSzPts val="1300"/>
              <a:buNone/>
            </a:pPr>
            <a:r>
              <a:rPr lang="ja" sz="1400">
                <a:solidFill>
                  <a:srgbClr val="000000"/>
                </a:solidFill>
                <a:highlight>
                  <a:srgbClr val="EFEFEF"/>
                </a:highlight>
                <a:latin typeface="Arial"/>
                <a:ea typeface="Arial"/>
                <a:cs typeface="Arial"/>
                <a:sym typeface="Arial"/>
              </a:rPr>
              <a:t>服薬管理整理（医師・家族連携）</a:t>
            </a:r>
            <a:r>
              <a:rPr lang="ja" sz="1400">
                <a:solidFill>
                  <a:srgbClr val="000000"/>
                </a:solidFill>
                <a:latin typeface="Arial"/>
                <a:ea typeface="Arial"/>
                <a:cs typeface="Arial"/>
                <a:sym typeface="Arial"/>
              </a:rPr>
              <a:t>。</a:t>
            </a:r>
            <a:r>
              <a:rPr lang="ja" sz="1400">
                <a:solidFill>
                  <a:srgbClr val="000000"/>
                </a:solidFill>
                <a:highlight>
                  <a:srgbClr val="EFEFEF"/>
                </a:highlight>
                <a:latin typeface="Arial"/>
                <a:ea typeface="Arial"/>
                <a:cs typeface="Arial"/>
                <a:sym typeface="Arial"/>
              </a:rPr>
              <a:t>住宅改修・手すり設置で転倒リスク軽減</a:t>
            </a:r>
            <a:r>
              <a:rPr lang="ja" sz="1400">
                <a:solidFill>
                  <a:srgbClr val="000000"/>
                </a:solidFill>
                <a:latin typeface="Arial"/>
                <a:ea typeface="Arial"/>
                <a:cs typeface="Arial"/>
                <a:sym typeface="Arial"/>
              </a:rPr>
              <a:t>。</a:t>
            </a:r>
            <a:r>
              <a:rPr lang="ja" sz="1400">
                <a:solidFill>
                  <a:srgbClr val="000000"/>
                </a:solidFill>
                <a:highlight>
                  <a:srgbClr val="EFEFEF"/>
                </a:highlight>
                <a:latin typeface="Arial"/>
                <a:ea typeface="Arial"/>
                <a:cs typeface="Arial"/>
                <a:sym typeface="Arial"/>
              </a:rPr>
              <a:t>MCI診断後、配食サービス・カフェ参加を支援</a:t>
            </a:r>
            <a:r>
              <a:rPr lang="ja" sz="1400">
                <a:solidFill>
                  <a:srgbClr val="000000"/>
                </a:solidFill>
                <a:latin typeface="Arial"/>
                <a:ea typeface="Arial"/>
                <a:cs typeface="Arial"/>
                <a:sym typeface="Arial"/>
              </a:rPr>
              <a:t>。</a:t>
            </a:r>
            <a:r>
              <a:rPr lang="ja" sz="1400">
                <a:solidFill>
                  <a:srgbClr val="000000"/>
                </a:solidFill>
                <a:highlight>
                  <a:srgbClr val="EFEFEF"/>
                </a:highlight>
                <a:latin typeface="Arial"/>
                <a:ea typeface="Arial"/>
                <a:cs typeface="Arial"/>
                <a:sym typeface="Arial"/>
              </a:rPr>
              <a:t>家族・地域の継続的見守り体制を構築</a:t>
            </a:r>
            <a:r>
              <a:rPr lang="ja" sz="1400">
                <a:solidFill>
                  <a:srgbClr val="000000"/>
                </a:solidFill>
                <a:latin typeface="Arial"/>
                <a:ea typeface="Arial"/>
                <a:cs typeface="Arial"/>
                <a:sym typeface="Arial"/>
              </a:rPr>
              <a:t>。</a:t>
            </a:r>
            <a:endParaRPr sz="1400">
              <a:solidFill>
                <a:schemeClr val="dk2"/>
              </a:solidFill>
            </a:endParaRPr>
          </a:p>
        </p:txBody>
      </p:sp>
      <p:sp>
        <p:nvSpPr>
          <p:cNvPr id="303" name="Google Shape;303;g398e3b8d10d_1_60"/>
          <p:cNvSpPr txBox="1"/>
          <p:nvPr>
            <p:ph idx="1" type="body"/>
          </p:nvPr>
        </p:nvSpPr>
        <p:spPr>
          <a:xfrm>
            <a:off x="4629900" y="2072975"/>
            <a:ext cx="4514100" cy="1528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1500">
                <a:solidFill>
                  <a:schemeClr val="dk2"/>
                </a:solidFill>
              </a:rPr>
              <a:t>・出力データ</a:t>
            </a:r>
            <a:endParaRPr sz="15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［判断・支援内容］</a:t>
            </a:r>
            <a:r>
              <a:rPr b="1" lang="ja" sz="1400">
                <a:solidFill>
                  <a:schemeClr val="dk2"/>
                </a:solidFill>
              </a:rPr>
              <a:t>※</a:t>
            </a:r>
            <a:r>
              <a:rPr lang="ja" sz="1400">
                <a:solidFill>
                  <a:schemeClr val="dk2"/>
                </a:solidFill>
              </a:rPr>
              <a:t>過去の類似支援者</a:t>
            </a:r>
            <a:endParaRPr sz="1400">
              <a:solidFill>
                <a:schemeClr val="dk2"/>
              </a:solidFil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定期受診再開、薬物療法による表情改善。</a:t>
            </a:r>
            <a:r>
              <a:rPr lang="ja" sz="1400">
                <a:solidFill>
                  <a:srgbClr val="000000"/>
                </a:solidFill>
                <a:highlight>
                  <a:srgbClr val="EFEFEF"/>
                </a:highlight>
                <a:latin typeface="Arial"/>
                <a:ea typeface="Arial"/>
                <a:cs typeface="Arial"/>
                <a:sym typeface="Arial"/>
              </a:rPr>
              <a:t>服薬管理整理（医師・家族連携）</a:t>
            </a:r>
            <a:r>
              <a:rPr lang="ja" sz="1400">
                <a:solidFill>
                  <a:srgbClr val="000000"/>
                </a:solidFill>
                <a:latin typeface="Arial"/>
                <a:ea typeface="Arial"/>
                <a:cs typeface="Arial"/>
                <a:sym typeface="Arial"/>
              </a:rPr>
              <a:t>。</a:t>
            </a:r>
            <a:r>
              <a:rPr lang="ja" sz="1400">
                <a:solidFill>
                  <a:srgbClr val="000000"/>
                </a:solidFill>
                <a:highlight>
                  <a:srgbClr val="EFEFEF"/>
                </a:highlight>
                <a:latin typeface="Arial"/>
                <a:ea typeface="Arial"/>
                <a:cs typeface="Arial"/>
                <a:sym typeface="Arial"/>
              </a:rPr>
              <a:t>住宅改修・手すり設置で転倒リスク軽減。</a:t>
            </a:r>
            <a:r>
              <a:rPr lang="ja" sz="1400">
                <a:solidFill>
                  <a:srgbClr val="000000"/>
                </a:solidFill>
                <a:latin typeface="Arial"/>
                <a:ea typeface="Arial"/>
                <a:cs typeface="Arial"/>
                <a:sym typeface="Arial"/>
              </a:rPr>
              <a:t>夫への介護指導、通所サービス導入。</a:t>
            </a:r>
            <a:endParaRPr sz="1400">
              <a:solidFill>
                <a:schemeClr val="dk2"/>
              </a:solidFill>
            </a:endParaRPr>
          </a:p>
        </p:txBody>
      </p:sp>
      <p:sp>
        <p:nvSpPr>
          <p:cNvPr id="304" name="Google Shape;304;g398e3b8d10d_1_60"/>
          <p:cNvSpPr txBox="1"/>
          <p:nvPr/>
        </p:nvSpPr>
        <p:spPr>
          <a:xfrm>
            <a:off x="12808600" y="-1336250"/>
            <a:ext cx="1577700" cy="1071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chemeClr val="accent1"/>
              </a:solidFill>
              <a:latin typeface="Lato"/>
              <a:ea typeface="Lato"/>
              <a:cs typeface="Lato"/>
              <a:sym typeface="Lato"/>
            </a:endParaRPr>
          </a:p>
        </p:txBody>
      </p:sp>
      <p:graphicFrame>
        <p:nvGraphicFramePr>
          <p:cNvPr id="305" name="Google Shape;305;g398e3b8d10d_1_60"/>
          <p:cNvGraphicFramePr/>
          <p:nvPr/>
        </p:nvGraphicFramePr>
        <p:xfrm>
          <a:off x="12956600" y="-5350700"/>
          <a:ext cx="3000000" cy="3000000"/>
        </p:xfrm>
        <a:graphic>
          <a:graphicData uri="http://schemas.openxmlformats.org/drawingml/2006/table">
            <a:tbl>
              <a:tblPr>
                <a:noFill/>
                <a:tableStyleId>{A163BFAA-ECF3-49D9-88D8-4B5A5BBD3548}</a:tableStyleId>
              </a:tblPr>
              <a:tblGrid>
                <a:gridCol w="2047875"/>
                <a:gridCol w="7038975"/>
              </a:tblGrid>
              <a:tr h="247650">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項目</a:t>
                      </a:r>
                      <a:endParaRPr b="1" sz="1100" u="none" cap="none" strike="noStrike"/>
                    </a:p>
                  </a:txBody>
                  <a:tcPr marT="91425" marB="91425" marR="91425" marL="91425"/>
                </a:tc>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内容</a:t>
                      </a:r>
                      <a:endParaRPr b="1" sz="11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訪問に対する本人の反応・理解</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包括職員による地域高齢者訪問として介入、受け入れ良好。「困っていない」と話すが、支援には協力的。</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認知機能（認知症日常生活自立度）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DASC-21：32点。近時記憶・問題解決・一部のIADLに支障あり。MCI（軽度認知障害）レベル。</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精神症状・行動症状</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明確なBPSDは見られないが、同じ話の繰り返しや軽い記憶混乱あり。</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身体状況（障害高齢者の日常生活自立度）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関節疾患・視力低下・転倒歴あり。通院時はタクシー利用。清潔保持・金銭管理は自立。</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生活状況</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室内はやや散乱気味。外出機会が減少し、日中はテレビ中心の生活。草花の観賞などの趣味は減少。</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アセスメントシート（DASC-21 / DBD13）</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DASC-21：32点。DBD13は実施なし。</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本人の意向・希望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「困っていない。何でも自分でできる」と発言。自立志向が強い。</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介護者の意向・希望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長女より「最近同じ話が増えて心配」「服薬や転倒が不安」との相談。</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判断・支援内容</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服薬管理整理（医師・家族連携）、住宅改修・手すり設置で転倒リスク軽減。MCI診断後、配食サービス・カフェ参加を支援。家族・地域の継続的見守り体制を構築。</a:t>
                      </a:r>
                      <a:endParaRPr sz="1400" u="none" cap="none" strike="noStrike"/>
                    </a:p>
                  </a:txBody>
                  <a:tcPr marT="91425" marB="91425" marR="91425" marL="91425"/>
                </a:tc>
              </a:tr>
            </a:tbl>
          </a:graphicData>
        </a:graphic>
      </p:graphicFrame>
      <p:graphicFrame>
        <p:nvGraphicFramePr>
          <p:cNvPr id="306" name="Google Shape;306;g398e3b8d10d_1_60"/>
          <p:cNvGraphicFramePr/>
          <p:nvPr/>
        </p:nvGraphicFramePr>
        <p:xfrm>
          <a:off x="12956600" y="65050"/>
          <a:ext cx="3000000" cy="3000000"/>
        </p:xfrm>
        <a:graphic>
          <a:graphicData uri="http://schemas.openxmlformats.org/drawingml/2006/table">
            <a:tbl>
              <a:tblPr>
                <a:noFill/>
                <a:tableStyleId>{A163BFAA-ECF3-49D9-88D8-4B5A5BBD3548}</a:tableStyleId>
              </a:tblPr>
              <a:tblGrid>
                <a:gridCol w="2143125"/>
                <a:gridCol w="6943725"/>
              </a:tblGrid>
              <a:tr h="247650">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項目</a:t>
                      </a:r>
                      <a:endParaRPr b="1" sz="1100" u="none" cap="none" strike="noStrike"/>
                    </a:p>
                  </a:txBody>
                  <a:tcPr marT="91425" marB="91425" marR="91425" marL="91425"/>
                </a:tc>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内容</a:t>
                      </a:r>
                      <a:endParaRPr b="1" sz="11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訪問に対する本人の反応・理解</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ケアマネと同伴訪問。表情乏しく、他者との交流に不安あり。信頼関係構築から開始。</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認知機能（認知症日常生活自立度）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DASC-21：62点。中等度の認知症。近時記憶・見当識・IADLに支障あり。</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精神症状・行動症状</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DBD13：21点（アパシー、常同行動あり）。社会的交流への不安強い。</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身体状況（障害高齢者の日常生活自立度）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整形疾患あり。ADL低下。夫の介助で生活維持。</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生活状況</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夫婦二人暮らし。妻が介護を必要とし、夫も持病あり通院不安定。通所・サービス導入に消極的。</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アセスメントシート（DASC-21 / DBD13）</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DASC-21：62点、DBD13：21点、J-ZBI8：16点。</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本人の意向・希望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他者との関わりに不安あり。夫と離れたくない。過去の写真や絵には関心を示す。</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介護者の意向・希望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夫が主介護者。通所利用・負担軽減を希望。</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判断・支援内容</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定期受診再開、薬物療法による表情改善。夫への介護指導、通所サービス導入。夫婦での外出再開により生活意欲が向上。地域支援と包括介入を継続。</a:t>
                      </a:r>
                      <a:endParaRPr sz="1400" u="none" cap="none" strike="noStrike"/>
                    </a:p>
                  </a:txBody>
                  <a:tcPr marT="91425" marB="91425" marR="91425" marL="91425"/>
                </a:tc>
              </a:tr>
            </a:tbl>
          </a:graphicData>
        </a:graphic>
      </p:graphicFrame>
      <p:graphicFrame>
        <p:nvGraphicFramePr>
          <p:cNvPr id="307" name="Google Shape;307;g398e3b8d10d_1_60"/>
          <p:cNvGraphicFramePr/>
          <p:nvPr/>
        </p:nvGraphicFramePr>
        <p:xfrm>
          <a:off x="12956600" y="5274775"/>
          <a:ext cx="3000000" cy="3000000"/>
        </p:xfrm>
        <a:graphic>
          <a:graphicData uri="http://schemas.openxmlformats.org/drawingml/2006/table">
            <a:tbl>
              <a:tblPr>
                <a:noFill/>
                <a:tableStyleId>{A163BFAA-ECF3-49D9-88D8-4B5A5BBD3548}</a:tableStyleId>
              </a:tblPr>
              <a:tblGrid>
                <a:gridCol w="1895475"/>
                <a:gridCol w="7191375"/>
              </a:tblGrid>
              <a:tr h="247650">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項目</a:t>
                      </a:r>
                      <a:endParaRPr b="1" sz="1100" u="none" cap="none" strike="noStrike"/>
                    </a:p>
                  </a:txBody>
                  <a:tcPr marT="91425" marB="91425" marR="91425" marL="91425"/>
                </a:tc>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内容</a:t>
                      </a:r>
                      <a:endParaRPr b="1" sz="11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訪問に対する本人の反応・理解</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民生委員と同伴訪問。会話は楽しそうだが、妄想的発言がみられる。訪問受け入れは良好。</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認知機能（認知症日常生活自立度）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DASC-21：38点。軽度～中等度の低下（近時記憶・問題解決・一部IADLに支障）。</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精神症状・行動症状</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物盗られ妄想あり。特定の隣人に対する訴えを繰り返す。</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身体状況（障害高齢者の日常生活自立度）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独居。高血圧あり（190/94mmHg）。ADLはおおむね自立。通院歴なし→支援後通院開始で安定。</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生活状況</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室内は整理整頓されており、自立生活を維持。食事・保清は自立。将棋を趣味とするが活動機会は少ない。</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アセスメントシート（DASC-21 / DBD13）</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DASC-21：38点。DBD13は未実施。</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本人の意向・希望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独立志向が強く、「自分でできる」との意識。趣味継続を希望。</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介護者の意向・希望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娘（市外）と民生委員が協力し見守り体制を希望。</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判断・支援内容</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医療受診同行で治療開始。物品管理方法の工夫により混乱軽減。隣人との理解を促進しトラブル防止。見守り・支援体制を構築。今後は金銭管理低下に対し権利擁護支援を検討。</a:t>
                      </a:r>
                      <a:endParaRPr sz="1400" u="none" cap="none" strike="noStrike"/>
                    </a:p>
                  </a:txBody>
                  <a:tcPr marT="91425" marB="91425" marR="91425" marL="91425"/>
                </a:tc>
              </a:tr>
            </a:tbl>
          </a:graphicData>
        </a:graphic>
      </p:graphicFrame>
      <p:sp>
        <p:nvSpPr>
          <p:cNvPr id="308" name="Google Shape;308;g398e3b8d10d_1_60"/>
          <p:cNvSpPr txBox="1"/>
          <p:nvPr/>
        </p:nvSpPr>
        <p:spPr>
          <a:xfrm>
            <a:off x="4692000" y="3601475"/>
            <a:ext cx="4389900" cy="384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dk2"/>
                </a:solidFill>
                <a:latin typeface="Lato"/>
                <a:ea typeface="Lato"/>
                <a:cs typeface="Lato"/>
                <a:sym typeface="Lato"/>
              </a:rPr>
              <a:t>類似度を表示し、マークされている部分を抜粋して提示</a:t>
            </a:r>
            <a:endParaRPr b="0" i="0" sz="1300" u="none" cap="none" strike="noStrike">
              <a:solidFill>
                <a:schemeClr val="dk2"/>
              </a:solidFill>
              <a:latin typeface="Lato"/>
              <a:ea typeface="Lato"/>
              <a:cs typeface="Lato"/>
              <a:sym typeface="Lato"/>
            </a:endParaRPr>
          </a:p>
        </p:txBody>
      </p:sp>
      <p:sp>
        <p:nvSpPr>
          <p:cNvPr id="309" name="Google Shape;309;g398e3b8d10d_1_60"/>
          <p:cNvSpPr txBox="1"/>
          <p:nvPr/>
        </p:nvSpPr>
        <p:spPr>
          <a:xfrm>
            <a:off x="5429550" y="847725"/>
            <a:ext cx="2914800" cy="384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dk2"/>
                </a:solidFill>
                <a:latin typeface="Lato"/>
                <a:ea typeface="Lato"/>
                <a:cs typeface="Lato"/>
                <a:sym typeface="Lato"/>
              </a:rPr>
              <a:t>※過去の</a:t>
            </a:r>
            <a:r>
              <a:rPr b="0" i="0" lang="ja" sz="1300" u="sng" cap="none" strike="noStrike">
                <a:solidFill>
                  <a:schemeClr val="hlink"/>
                </a:solidFill>
                <a:latin typeface="Lato"/>
                <a:ea typeface="Lato"/>
                <a:cs typeface="Lato"/>
                <a:sym typeface="Lato"/>
                <a:hlinkClick r:id="rId3"/>
              </a:rPr>
              <a:t>事例</a:t>
            </a:r>
            <a:r>
              <a:rPr b="0" i="0" lang="ja" sz="1300" u="none" cap="none" strike="noStrike">
                <a:solidFill>
                  <a:schemeClr val="dk2"/>
                </a:solidFill>
                <a:latin typeface="Lato"/>
                <a:ea typeface="Lato"/>
                <a:cs typeface="Lato"/>
                <a:sym typeface="Lato"/>
              </a:rPr>
              <a:t>より例を考察 (p.24-26)</a:t>
            </a:r>
            <a:endParaRPr b="0" i="0" sz="1300" u="none" cap="none" strike="noStrike">
              <a:solidFill>
                <a:schemeClr val="dk2"/>
              </a:solidFill>
              <a:latin typeface="Lato"/>
              <a:ea typeface="Lato"/>
              <a:cs typeface="Lato"/>
              <a:sym typeface="Lato"/>
            </a:endParaRPr>
          </a:p>
        </p:txBody>
      </p:sp>
      <p:sp>
        <p:nvSpPr>
          <p:cNvPr id="310" name="Google Shape;310;g398e3b8d10d_1_60"/>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g3a8f931dcef_2_9"/>
          <p:cNvSpPr txBox="1"/>
          <p:nvPr/>
        </p:nvSpPr>
        <p:spPr>
          <a:xfrm>
            <a:off x="1874700" y="1955150"/>
            <a:ext cx="5394600" cy="3139800"/>
          </a:xfrm>
          <a:prstGeom prst="rect">
            <a:avLst/>
          </a:prstGeom>
          <a:noFill/>
          <a:ln>
            <a:noFill/>
          </a:ln>
        </p:spPr>
        <p:txBody>
          <a:bodyPr anchorCtr="0" anchor="t" bIns="91425" lIns="91425" spcFirstLastPara="1" rIns="91425" wrap="square" tIns="91425">
            <a:normAutofit fontScale="47500" lnSpcReduction="20000"/>
          </a:bodyPr>
          <a:lstStyle/>
          <a:p>
            <a:pPr indent="0" lvl="0" marL="0" marR="0" rtl="0" algn="l">
              <a:lnSpc>
                <a:spcPct val="115000"/>
              </a:lnSpc>
              <a:spcBef>
                <a:spcPts val="1200"/>
              </a:spcBef>
              <a:spcAft>
                <a:spcPts val="0"/>
              </a:spcAft>
              <a:buClr>
                <a:srgbClr val="000000"/>
              </a:buClr>
              <a:buSzPct val="100000"/>
              <a:buFont typeface="Arial"/>
              <a:buNone/>
              <a:defRPr sz="1200"/>
            </a:pPr>
            <a:r>
              <a:t>【実装済み】</a:t>
            </a:r>
            <a:br/>
            <a:r>
              <a:t>テキスト処理：scikit-learn TF-IDF（文字n-gram 2〜4）</a:t>
            </a:r>
            <a:br/>
            <a:r>
              <a:t>類似度計算：sklearn.metrics.pairwise.cosine_similarity</a:t>
            </a:r>
            <a:br/>
            <a:r>
              <a:t>PDF解析：pdfplumber</a:t>
            </a:r>
            <a:br/>
            <a:r>
              <a:t>データ管理：MySQL + PyMySQL</a:t>
            </a:r>
            <a:br/>
            <a:r>
              <a:t>Webフレームワーク：Flask</a:t>
            </a:r>
            <a:br/>
            <a:r>
              <a:t>Excel出力：openpyxl</a:t>
            </a:r>
            <a:br/>
            <a:r>
              <a:t>データ処理：pandas, NumPy</a:t>
            </a:r>
            <a:br/>
            <a:br/>
            <a:r>
              <a:t>【将来の拡張候補】</a:t>
            </a:r>
            <a:br/>
            <a:r>
              <a:t>形態素解析：SudachiPy or MeCab</a:t>
            </a:r>
            <a:br/>
            <a:r>
              <a:t>埋め込み：sentence-transformers</a:t>
            </a:r>
            <a:br/>
            <a:r>
              <a:t>ベクトル検索：faiss or pgvector</a:t>
            </a:r>
            <a:endParaRPr b="0" i="0" sz="4300" u="none" cap="none" strike="noStrike">
              <a:solidFill>
                <a:srgbClr val="000000"/>
              </a:solidFill>
              <a:latin typeface="Lato"/>
              <a:ea typeface="Lato"/>
              <a:cs typeface="Lato"/>
              <a:sym typeface="Lato"/>
            </a:endParaRPr>
          </a:p>
        </p:txBody>
      </p:sp>
      <p:sp>
        <p:nvSpPr>
          <p:cNvPr id="316" name="Google Shape;316;g3a8f931dcef_2_9"/>
          <p:cNvSpPr txBox="1"/>
          <p:nvPr/>
        </p:nvSpPr>
        <p:spPr>
          <a:xfrm>
            <a:off x="742400" y="549625"/>
            <a:ext cx="3531600" cy="5784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200"/>
              </a:spcBef>
              <a:spcAft>
                <a:spcPts val="1200"/>
              </a:spcAft>
              <a:buClr>
                <a:srgbClr val="000000"/>
              </a:buClr>
              <a:buSzPts val="2500"/>
              <a:buFont typeface="Arial"/>
              <a:buNone/>
            </a:pPr>
            <a:r>
              <a:rPr b="1" i="0" lang="ja" sz="2500" u="none" cap="none" strike="noStrike">
                <a:solidFill>
                  <a:srgbClr val="000000"/>
                </a:solidFill>
                <a:latin typeface="Arial"/>
                <a:ea typeface="Arial"/>
                <a:cs typeface="Arial"/>
                <a:sym typeface="Arial"/>
              </a:rPr>
              <a:t>使用するライブラリ</a:t>
            </a:r>
            <a:endParaRPr b="0" i="0" sz="100" u="none" cap="none" strike="noStrike">
              <a:solidFill>
                <a:schemeClr val="accent1"/>
              </a:solidFill>
              <a:latin typeface="Lato"/>
              <a:ea typeface="Lato"/>
              <a:cs typeface="Lato"/>
              <a:sym typeface="Lato"/>
            </a:endParaRPr>
          </a:p>
        </p:txBody>
      </p:sp>
      <p:sp>
        <p:nvSpPr>
          <p:cNvPr id="317" name="Google Shape;317;g3a8f931dcef_2_9"/>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g3a93dd1a128_0_0"/>
          <p:cNvSpPr txBox="1"/>
          <p:nvPr>
            <p:ph type="title"/>
          </p:nvPr>
        </p:nvSpPr>
        <p:spPr>
          <a:xfrm>
            <a:off x="729450" y="641875"/>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過去の事例</a:t>
            </a:r>
            <a:endParaRPr/>
          </a:p>
          <a:p>
            <a:pPr indent="0" lvl="0" marL="0" rtl="0" algn="l">
              <a:lnSpc>
                <a:spcPct val="100000"/>
              </a:lnSpc>
              <a:spcBef>
                <a:spcPts val="0"/>
              </a:spcBef>
              <a:spcAft>
                <a:spcPts val="0"/>
              </a:spcAft>
              <a:buSzPct val="111111"/>
              <a:buNone/>
            </a:pPr>
            <a:r>
              <a:t/>
            </a:r>
            <a:endParaRPr/>
          </a:p>
        </p:txBody>
      </p:sp>
      <p:sp>
        <p:nvSpPr>
          <p:cNvPr id="323" name="Google Shape;323;g3a93dd1a128_0_0"/>
          <p:cNvSpPr txBox="1"/>
          <p:nvPr/>
        </p:nvSpPr>
        <p:spPr>
          <a:xfrm>
            <a:off x="1092750" y="3847325"/>
            <a:ext cx="6958500" cy="651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defRPr sz="1400"/>
            </a:pPr>
            <a:r>
              <a:t>4つの事例集から67件のケースを抽出し、</a:t>
            </a:r>
            <a:br/>
            <a:r>
              <a:t>困難キーワード・支援キーワード・事例内容をJSON形式に構造化して</a:t>
            </a:r>
            <a:br/>
            <a:r>
              <a:t>本システムのテキストマイニングで使用しています。</a:t>
            </a:r>
            <a:endParaRPr b="0" i="0" sz="1600" u="none" cap="none" strike="noStrike">
              <a:solidFill>
                <a:schemeClr val="accent1"/>
              </a:solidFill>
              <a:latin typeface="Lato"/>
              <a:ea typeface="Lato"/>
              <a:cs typeface="Lato"/>
              <a:sym typeface="Lato"/>
            </a:endParaRPr>
          </a:p>
        </p:txBody>
      </p:sp>
      <p:sp>
        <p:nvSpPr>
          <p:cNvPr id="324" name="Google Shape;324;g3a93dd1a128_0_0"/>
          <p:cNvSpPr txBox="1"/>
          <p:nvPr/>
        </p:nvSpPr>
        <p:spPr>
          <a:xfrm>
            <a:off x="1386300" y="1890450"/>
            <a:ext cx="6371400" cy="1243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900"/>
              <a:buFont typeface="Arial"/>
              <a:buNone/>
              <a:defRPr sz="1200"/>
            </a:pPr>
            <a:r>
              <a:t>1. 大阪大学困難事例集</a:t>
            </a:r>
            <a:br/>
            <a:r>
              <a:t>2. さいたま市事例集</a:t>
            </a:r>
            <a:br/>
            <a:r>
              <a:t>3. 国立長寿医療研究センター事例集</a:t>
            </a:r>
            <a:br/>
            <a:r>
              <a:t>4. 神奈川県認知症初期集中支援チーム事例集</a:t>
            </a:r>
            <a:endParaRPr b="1" i="0" sz="1900" u="none" cap="none" strike="noStrike">
              <a:solidFill>
                <a:srgbClr val="000000"/>
              </a:solidFill>
              <a:latin typeface="Arial"/>
              <a:ea typeface="Arial"/>
              <a:cs typeface="Arial"/>
              <a:sym typeface="Arial"/>
            </a:endParaRPr>
          </a:p>
        </p:txBody>
      </p:sp>
      <p:sp>
        <p:nvSpPr>
          <p:cNvPr id="325" name="Google Shape;325;g3a93dd1a128_0_0"/>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29" name="Shape 329"/>
        <p:cNvGrpSpPr/>
        <p:nvPr/>
      </p:nvGrpSpPr>
      <p:grpSpPr>
        <a:xfrm>
          <a:off x="0" y="0"/>
          <a:ext cx="0" cy="0"/>
          <a:chOff x="0" y="0"/>
          <a:chExt cx="0" cy="0"/>
        </a:xfrm>
      </p:grpSpPr>
      <p:sp>
        <p:nvSpPr>
          <p:cNvPr id="330" name="Google Shape;330;g36f8e1de706_4_100"/>
          <p:cNvSpPr txBox="1"/>
          <p:nvPr>
            <p:ph idx="1" type="body"/>
          </p:nvPr>
        </p:nvSpPr>
        <p:spPr>
          <a:xfrm>
            <a:off x="488425" y="1529075"/>
            <a:ext cx="7688700" cy="3527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Clr>
                <a:srgbClr val="1A1A1A"/>
              </a:buClr>
              <a:buSzPts val="1800"/>
              <a:buChar char="●"/>
            </a:pPr>
            <a:r>
              <a:rPr lang="ja" sz="1800">
                <a:solidFill>
                  <a:srgbClr val="1A1A1A"/>
                </a:solidFill>
              </a:rPr>
              <a:t>HTML</a:t>
            </a:r>
            <a:endParaRPr sz="1800">
              <a:solidFill>
                <a:srgbClr val="1A1A1A"/>
              </a:solidFill>
            </a:endParaRPr>
          </a:p>
          <a:p>
            <a:pPr indent="-342900" lvl="0" marL="457200" rtl="0" algn="l">
              <a:lnSpc>
                <a:spcPct val="115000"/>
              </a:lnSpc>
              <a:spcBef>
                <a:spcPts val="0"/>
              </a:spcBef>
              <a:spcAft>
                <a:spcPts val="0"/>
              </a:spcAft>
              <a:buClr>
                <a:srgbClr val="1A1A1A"/>
              </a:buClr>
              <a:buSzPts val="1800"/>
              <a:buChar char="●"/>
            </a:pPr>
            <a:r>
              <a:rPr lang="ja" sz="1800">
                <a:solidFill>
                  <a:srgbClr val="1A1A1A"/>
                </a:solidFill>
              </a:rPr>
              <a:t>CSS</a:t>
            </a:r>
            <a:endParaRPr sz="1800">
              <a:solidFill>
                <a:srgbClr val="1A1A1A"/>
              </a:solidFill>
            </a:endParaRPr>
          </a:p>
          <a:p>
            <a:pPr indent="-342900" lvl="0" marL="457200" rtl="0" algn="l">
              <a:lnSpc>
                <a:spcPct val="115000"/>
              </a:lnSpc>
              <a:spcBef>
                <a:spcPts val="0"/>
              </a:spcBef>
              <a:spcAft>
                <a:spcPts val="0"/>
              </a:spcAft>
              <a:buClr>
                <a:srgbClr val="1A1A1A"/>
              </a:buClr>
              <a:buSzPts val="1800"/>
              <a:buChar char="●"/>
            </a:pPr>
            <a:r>
              <a:rPr lang="ja" sz="1800">
                <a:solidFill>
                  <a:srgbClr val="1A1A1A"/>
                </a:solidFill>
              </a:rPr>
              <a:t>Javascript</a:t>
            </a:r>
            <a:endParaRPr sz="1800">
              <a:solidFill>
                <a:srgbClr val="1A1A1A"/>
              </a:solidFill>
            </a:endParaRPr>
          </a:p>
          <a:p>
            <a:pPr indent="-342900" lvl="0" marL="457200" rtl="0" algn="l">
              <a:lnSpc>
                <a:spcPct val="115000"/>
              </a:lnSpc>
              <a:spcBef>
                <a:spcPts val="0"/>
              </a:spcBef>
              <a:spcAft>
                <a:spcPts val="0"/>
              </a:spcAft>
              <a:buClr>
                <a:srgbClr val="000000"/>
              </a:buClr>
              <a:buSzPts val="1800"/>
              <a:buChar char="●"/>
            </a:pPr>
            <a:r>
              <a:rPr lang="ja" sz="1800">
                <a:solidFill>
                  <a:srgbClr val="000000"/>
                </a:solidFill>
              </a:rPr>
              <a:t>Python</a:t>
            </a:r>
            <a:endParaRPr sz="1800">
              <a:solidFill>
                <a:srgbClr val="000000"/>
              </a:solidFill>
            </a:endParaRPr>
          </a:p>
          <a:p>
            <a:pPr indent="-342900" lvl="0" marL="457200" rtl="0" algn="l">
              <a:lnSpc>
                <a:spcPct val="115000"/>
              </a:lnSpc>
              <a:spcBef>
                <a:spcPts val="0"/>
              </a:spcBef>
              <a:spcAft>
                <a:spcPts val="0"/>
              </a:spcAft>
              <a:buClr>
                <a:srgbClr val="000000"/>
              </a:buClr>
              <a:buSzPts val="1800"/>
              <a:buChar char="●"/>
            </a:pPr>
            <a:r>
              <a:rPr lang="ja" sz="1800">
                <a:solidFill>
                  <a:srgbClr val="000000"/>
                </a:solidFill>
              </a:rPr>
              <a:t>(openpyxl)</a:t>
            </a:r>
            <a:endParaRPr>
              <a:solidFill>
                <a:srgbClr val="000000"/>
              </a:solidFill>
            </a:endParaRPr>
          </a:p>
          <a:p>
            <a:pPr indent="-342900" lvl="0" marL="457200" rtl="0" algn="l">
              <a:lnSpc>
                <a:spcPct val="115000"/>
              </a:lnSpc>
              <a:spcBef>
                <a:spcPts val="0"/>
              </a:spcBef>
              <a:spcAft>
                <a:spcPts val="0"/>
              </a:spcAft>
              <a:buClr>
                <a:srgbClr val="000000"/>
              </a:buClr>
              <a:buSzPts val="1800"/>
              <a:buChar char="●"/>
            </a:pPr>
            <a:r>
              <a:rPr lang="ja" sz="1800">
                <a:solidFill>
                  <a:srgbClr val="000000"/>
                </a:solidFill>
              </a:rPr>
              <a:t>Flask</a:t>
            </a:r>
            <a:endParaRPr sz="1800">
              <a:solidFill>
                <a:srgbClr val="000000"/>
              </a:solidFill>
            </a:endParaRPr>
          </a:p>
          <a:p>
            <a:pPr indent="-342900" lvl="0" marL="457200" rtl="0" algn="l">
              <a:lnSpc>
                <a:spcPct val="115000"/>
              </a:lnSpc>
              <a:spcBef>
                <a:spcPts val="0"/>
              </a:spcBef>
              <a:spcAft>
                <a:spcPts val="0"/>
              </a:spcAft>
              <a:buClr>
                <a:srgbClr val="000000"/>
              </a:buClr>
              <a:buSzPts val="1800"/>
              <a:buChar char="●"/>
            </a:pPr>
            <a:r>
              <a:rPr lang="ja" sz="1800">
                <a:solidFill>
                  <a:srgbClr val="000000"/>
                </a:solidFill>
              </a:rPr>
              <a:t>MySQL</a:t>
            </a:r>
            <a:endParaRPr sz="300">
              <a:solidFill>
                <a:srgbClr val="000000"/>
              </a:solidFill>
            </a:endParaRPr>
          </a:p>
          <a:p>
            <a:pPr indent="-342900" lvl="0" marL="457200" rtl="0" algn="l">
              <a:lnSpc>
                <a:spcPct val="115000"/>
              </a:lnSpc>
              <a:spcBef>
                <a:spcPts val="0"/>
              </a:spcBef>
              <a:spcAft>
                <a:spcPts val="0"/>
              </a:spcAft>
              <a:buClr>
                <a:srgbClr val="000000"/>
              </a:buClr>
              <a:buSzPts val="1800"/>
              <a:buChar char="●"/>
            </a:pPr>
            <a:r>
              <a:rPr lang="ja" sz="1800">
                <a:solidFill>
                  <a:srgbClr val="000000"/>
                </a:solidFill>
              </a:rPr>
              <a:t>テキストマイニング</a:t>
            </a:r>
            <a:endParaRPr sz="1800">
              <a:solidFill>
                <a:srgbClr val="000000"/>
              </a:solidFill>
            </a:endParaRPr>
          </a:p>
          <a:p>
            <a:pPr indent="0" lvl="0" marL="457200" rtl="0" algn="l">
              <a:lnSpc>
                <a:spcPct val="115000"/>
              </a:lnSpc>
              <a:spcBef>
                <a:spcPts val="0"/>
              </a:spcBef>
              <a:spcAft>
                <a:spcPts val="0"/>
              </a:spcAft>
              <a:buSzPts val="1300"/>
              <a:buNone/>
            </a:pPr>
            <a:r>
              <a:t/>
            </a:r>
            <a:endParaRPr sz="1800">
              <a:solidFill>
                <a:srgbClr val="000000"/>
              </a:solidFill>
            </a:endParaRPr>
          </a:p>
        </p:txBody>
      </p:sp>
      <p:sp>
        <p:nvSpPr>
          <p:cNvPr id="331" name="Google Shape;331;g36f8e1de706_4_100"/>
          <p:cNvSpPr txBox="1"/>
          <p:nvPr/>
        </p:nvSpPr>
        <p:spPr>
          <a:xfrm>
            <a:off x="488425" y="720700"/>
            <a:ext cx="3303300" cy="635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400"/>
              <a:buFont typeface="Arial"/>
              <a:buNone/>
            </a:pPr>
            <a:r>
              <a:rPr b="1" i="0" lang="ja" sz="2400" u="none" cap="none" strike="noStrike">
                <a:solidFill>
                  <a:schemeClr val="dk2"/>
                </a:solidFill>
                <a:latin typeface="Lato"/>
                <a:ea typeface="Lato"/>
                <a:cs typeface="Lato"/>
                <a:sym typeface="Lato"/>
              </a:rPr>
              <a:t>技術習得</a:t>
            </a:r>
            <a:endParaRPr b="1" i="0" sz="2400" u="none" cap="none" strike="noStrike">
              <a:solidFill>
                <a:schemeClr val="dk2"/>
              </a:solidFill>
              <a:latin typeface="Lato"/>
              <a:ea typeface="Lato"/>
              <a:cs typeface="Lato"/>
              <a:sym typeface="Lato"/>
            </a:endParaRPr>
          </a:p>
        </p:txBody>
      </p:sp>
      <p:sp>
        <p:nvSpPr>
          <p:cNvPr id="332" name="Google Shape;332;g36f8e1de706_4_100"/>
          <p:cNvSpPr txBox="1"/>
          <p:nvPr>
            <p:ph idx="12" type="sldNum"/>
          </p:nvPr>
        </p:nvSpPr>
        <p:spPr>
          <a:xfrm>
            <a:off x="8519227" y="474990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